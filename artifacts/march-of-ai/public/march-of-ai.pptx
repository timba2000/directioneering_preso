
<file path=[Content_Types].xml><?xml version="1.0" encoding="utf-8"?>
<Types xmlns="http://schemas.openxmlformats.org/package/2006/content-types">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7" r:id="rId16"/>
    <p:sldId id="268" r:id="rId17"/>
    <p:sldId id="271" r:id="rId20"/>
    <p:sldId id="270" r:id="rId19"/>
    <p:sldId id="269" r:id="rId18"/>
    <p:sldId id="272" r:id="rId21"/>
    <p:sldId id="273" r:id="rId22"/>
    <p:sldId id="274" r:id="rId23"/>
    <p:sldId id="275" r:id="rId24"/>
    <p:sldId id="277" r:id="rId2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4.xml"/><Relationship Id="rId19" Type="http://schemas.openxmlformats.org/officeDocument/2006/relationships/slide" Target="slides/slide13.xml"/><Relationship Id="rId20" Type="http://schemas.openxmlformats.org/officeDocument/2006/relationships/slide" Target="slides/slide12.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Open simply. Don't oversell.</a:t>
            </a:r>
          </a:p>
          <a:p/>
          <a:p>
            <a:r>
              <a:t>"Thanks for having me. I'm Tim Barnes, AI and Automation Expert at WeDoAI. The next 30 minutes is a calibration tool, not a tour. We're not going to walk through what's new in AI this month. You can get that anywhere. What you can't get easily is a frame for telling signal from noise in the proposals landing on your desk."</a:t>
            </a:r>
          </a:p>
          <a:p/>
          <a:p>
            <a:r>
              <a:t>"Three lenses, five questions, one readiness gap. That's the whole structure."</a:t>
            </a:r>
          </a:p>
          <a:p/>
          <a:p>
            <a:r>
              <a:t>Move on. Don't linger on the title.</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Quick show-and-tell. Don't dwell.</a:t>
            </a:r>
          </a:p>
          <a:p/>
          <a:p>
            <a:r>
              <a:t>"I built this deck in 2.5 hours. On my phone. Five AI agents doing the work in parallel. Brainstormed, structured, researched, designed, shipped to wedoai.com.au."</a:t>
            </a:r>
          </a:p>
          <a:p/>
          <a:p>
            <a:r>
              <a:t>Pause briefly to let it land.</a:t>
            </a:r>
          </a:p>
          <a:p/>
          <a:p>
            <a:r>
              <a:t>"Now here's the point. That was easy because there was one person, one decision-maker, no approvals, no policy, no integration with anything. The gap between what I just did and what your organisation can do isn't capability. It's everything else. And that gap is what this talk is about."</a:t>
            </a:r>
          </a:p>
          <a:p/>
          <a:p>
            <a:r>
              <a:t>Transition straight into Section 1. Don't let the audience sit in admiration of the AI capability. The point of this slide is the BRIDGE, not the demo.</a:t>
            </a: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Quick framer.</a:t>
            </a:r>
          </a:p>
          <a:p/>
          <a:p>
            <a:r>
              <a:t>"Every week, vendors and your team and your board and probably your kids are pitching you on AI. The challenge isn't knowing AI exists anymore. The challenge is calibration. So that's where we start."</a:t>
            </a:r>
          </a:p>
          <a:p/>
          <a:p>
            <a:r>
              <a:t>Move on quickly.</a:t>
            </a:r>
          </a:p>
        </p:txBody>
      </p:sp>
      <p:sp>
        <p:nvSpPr>
          <p:cNvPr id="127" name="Google Shape;12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Build the stakes.</a:t>
            </a:r>
          </a:p>
          <a:p/>
          <a:p>
            <a:r>
              <a:t>"You're not short on AI. You are short on signal."</a:t>
            </a:r>
          </a:p>
          <a:p/>
          <a:p>
            <a:r>
              <a:t>Walk through the three numbers slowly. Let each land.</a:t>
            </a:r>
          </a:p>
          <a:p/>
          <a:p>
            <a:r>
              <a:t>95% of GenAI pilots fail to scale. MIT, last year.</a:t>
            </a:r>
          </a:p>
          <a:p/>
          <a:p>
            <a:r>
              <a:t>42% of companies abandoned most AI initiatives last year. Up from 17% the year before. The failure rate is accelerating.</a:t>
            </a:r>
          </a:p>
          <a:p/>
          <a:p>
            <a:r>
              <a:t>5% of companies achieve rapid revenue acceleration. That's the gap between the few winners and everyone else.</a:t>
            </a:r>
          </a:p>
          <a:p/>
          <a:p>
            <a:r>
              <a:t>Then the close: "You do not need to become a technologist. You need a way to tell signal from noise. That's what the rest of this is."</a:t>
            </a:r>
          </a:p>
          <a:p/>
          <a:p>
            <a:r>
              <a:t>Time: about 2 minutes. Don't rush the stats.</a:t>
            </a:r>
          </a:p>
        </p:txBody>
      </p:sp>
      <p:sp>
        <p:nvSpPr>
          <p:cNvPr id="136" name="Google Shape;13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Bridge to Section 2.</a:t>
            </a:r>
          </a:p>
          <a:p/>
          <a:p>
            <a:r>
              <a:t>"The first thing I want to give you is the most important framing in the deck. Capability is not deployability."</a:t>
            </a:r>
          </a:p>
          <a:p/>
          <a:p>
            <a:r>
              <a:t>Pause.</a:t>
            </a:r>
          </a:p>
          <a:p/>
          <a:p>
            <a:r>
              <a:t>"A demo shows you what AI can do on a clean input. Production is what AI does on your inputs, at your scale, on Tuesday morning when something breaks."</a:t>
            </a:r>
          </a:p>
          <a:p/>
          <a:p>
            <a:r>
              <a:t>Move to the table.</a:t>
            </a:r>
          </a:p>
        </p:txBody>
      </p:sp>
      <p:sp>
        <p:nvSpPr>
          <p:cNvPr id="157" name="Google Shape;15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IS THE ANCHOR SLIDE. Rehearse this delivery above all others.</a:t>
            </a:r>
          </a:p>
          <a:p/>
          <a:p>
            <a:r>
              <a:t>Walk through each row of the table. Don't read it - explain it.</a:t>
            </a:r>
          </a:p>
          <a:p/>
          <a:p>
            <a:r>
              <a:t>ACCESS: "I had Claude on my phone, no approval. Your team has AI tools sitting in procurement waiting for InfoSec sign-off."</a:t>
            </a:r>
          </a:p>
          <a:p/>
          <a:p>
            <a:r>
              <a:t>AGENTS: "I had computer use unrestricted. Your endpoint policy blocks it."</a:t>
            </a:r>
          </a:p>
          <a:p/>
          <a:p>
            <a:r>
              <a:t>DATA: "I could pull from any source on the web. Your agents can't read your CRM, your claims system, or your internal SharePoint."</a:t>
            </a:r>
          </a:p>
          <a:p/>
          <a:p>
            <a:r>
              <a:t>APPROVALS: "I had one decision-maker. Me. You have brand, legal, compliance, risk, audit."</a:t>
            </a:r>
          </a:p>
          <a:p/>
          <a:p>
            <a:r>
              <a:t>TIME: "2.5 hours for me. Months for you. And that's not because your people are slow. It's because the gap I just listed has to be closed for every single use case."</a:t>
            </a:r>
          </a:p>
          <a:p/>
          <a:p>
            <a:r>
              <a:t>Then the closing line: "Capability is not the gap. Access to capability is."</a:t>
            </a:r>
          </a:p>
          <a:p/>
          <a:p>
            <a:r>
              <a:t>Slow down on this slide. Aim for 3-4 minutes total. This is the slide they'll remember.</a:t>
            </a:r>
          </a:p>
        </p:txBody>
      </p:sp>
      <p:sp>
        <p:nvSpPr>
          <p:cNvPr id="166" name="Google Shape;16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Brief framer for Section 3.</a:t>
            </a:r>
          </a:p>
          <a:p/>
          <a:p>
            <a:r>
              <a:t>"Before you can evaluate any AI proposal, your process has to be visible and measurable end-to-end. Most organisations cannot do this. This is the readiness gap nobody talks about."</a:t>
            </a:r>
          </a:p>
          <a:p/>
          <a:p>
            <a:r>
              <a:t>Then move into slide 8.</a:t>
            </a:r>
          </a:p>
        </p:txBody>
      </p:sp>
      <p:sp>
        <p:nvSpPr>
          <p:cNvPr id="181" name="Google Shape;18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mental model.</a:t>
            </a:r>
          </a:p>
          <a:p/>
          <a:p>
            <a:r>
              <a:t>"Process is the frame. Everything else makes it work."</a:t>
            </a:r>
          </a:p>
          <a:p/>
          <a:p>
            <a:r>
              <a:t>Walk through the four pieces briefly.</a:t>
            </a:r>
          </a:p>
          <a:p/>
          <a:p>
            <a:r>
              <a:t>PROCESS: "Not BPMN diagrams in a registry. Process intelligence, seen in real time. Where work flows, where rework hides, what handle times actually are."</a:t>
            </a:r>
          </a:p>
          <a:p/>
          <a:p>
            <a:r>
              <a:t>PEOPLE: "Educated and capable. Not a one-time training session. Continuous education in what we measure and how to read the signal."</a:t>
            </a:r>
          </a:p>
          <a:p/>
          <a:p>
            <a:r>
              <a:t>DATA: "Joined and measured. Started centrally, governed at the asset level, aligned to use cases."</a:t>
            </a:r>
          </a:p>
          <a:p/>
          <a:p>
            <a:r>
              <a:t>TECHNOLOGY: "Integrated and safe. Secure, governed, observable. Built to compose with what you already have."</a:t>
            </a:r>
          </a:p>
          <a:p/>
          <a:p>
            <a:r>
              <a:t>"If any of these aren't in place, AI runs on broken inputs and you can't tell whether it helped."</a:t>
            </a:r>
          </a:p>
          <a:p/>
          <a:p>
            <a:r>
              <a:t>Time: about 2 minutes.</a:t>
            </a:r>
          </a:p>
        </p:txBody>
      </p:sp>
      <p:sp>
        <p:nvSpPr>
          <p:cNvPr id="190" name="Google Shape;19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Land the measurement point. This is the conviction slide.</a:t>
            </a:r>
          </a:p>
          <a:p/>
          <a:p>
            <a:r>
              <a:t>"Most failed AI projects fail before the model ever runs. Someone bought AI to fix a process they did not understand. Then measured against a baseline they invented retrospectively. And wondered why the ROI never showed up."</a:t>
            </a:r>
          </a:p>
          <a:p/>
          <a:p>
            <a:r>
              <a:t>Then the 70% stat: "70% of AI failures trace to data and process problems. Not algorithms. Source is Gartner, Deloitte, McKinsey. Three of them agreeing on something rarely happens."</a:t>
            </a:r>
          </a:p>
          <a:p/>
          <a:p>
            <a:r>
              <a:t>Close with the formula: "Map the process. Measure it end-to-end. Then evaluate."</a:t>
            </a:r>
          </a:p>
          <a:p/>
          <a:p>
            <a:r>
              <a:t>Pause on that line. Let it land.</a:t>
            </a:r>
          </a:p>
          <a:p/>
          <a:p>
            <a:r>
              <a:t>Time: 1.5 to 2 minutes.</a:t>
            </a:r>
          </a:p>
        </p:txBody>
      </p:sp>
      <p:sp>
        <p:nvSpPr>
          <p:cNvPr id="248" name="Google Shape;2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Bridge into the lenses.</a:t>
            </a:r>
          </a:p>
          <a:p/>
          <a:p>
            <a:r>
              <a:t>"Now. Assuming readiness is in place. AND assuming this problem actually needs AI. Here is how to pressure-test any specific proposal that lands on your desk."</a:t>
            </a:r>
          </a:p>
          <a:p/>
          <a:p>
            <a:r>
              <a:t>Note the second assumption. You'll come back to it on the takeaways slide. Don't overexplain it here.</a:t>
            </a:r>
          </a:p>
        </p:txBody>
      </p:sp>
      <p:sp>
        <p:nvSpPr>
          <p:cNvPr id="319" name="Google Shape;31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Introduce the three lenses. Start large, come in.</a:t>
            </a:r>
          </a:p>
          <a:p/>
          <a:p>
            <a:r>
              <a:t>"Three lenses. One coherent test."</a:t>
            </a:r>
          </a:p>
          <a:p/>
          <a:p>
            <a:r>
              <a:t>Walk through them in order, largest scope first.</a:t>
            </a:r>
          </a:p>
          <a:p/>
          <a:p>
            <a:r>
              <a:t>01 ROADMAP FIT (Connect): "Does this connect to the bigger picture? Where else in your business could this intelligence be used?"</a:t>
            </a:r>
          </a:p>
          <a:p/>
          <a:p>
            <a:r>
              <a:t>02 KNOWLEDGE FOUNDATION (Compound): "Does it build a reusable foundation other use cases can leverage, or a silo that dies?"</a:t>
            </a:r>
          </a:p>
          <a:p/>
          <a:p>
            <a:r>
              <a:t>03 UNIT ECONOMICS (Stand alone): "Can this proposal justify itself on its own merits, in dollars or minutes per task?"</a:t>
            </a:r>
          </a:p>
          <a:p/>
          <a:p>
            <a:r>
              <a:t>Then the takeaway: "All three have to be true. Fail any one and the proposal isn't ready."</a:t>
            </a:r>
          </a:p>
          <a:p/>
          <a:p>
            <a:r>
              <a:t>Time: about 2 minutes.</a:t>
            </a:r>
          </a:p>
        </p:txBody>
      </p:sp>
      <p:sp>
        <p:nvSpPr>
          <p:cNvPr id="328" name="Google Shape;32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Lens 03 Unit economics. Most concrete lens. Use it for fast filtering.</a:t>
            </a:r>
          </a:p>
          <a:p/>
          <a:p>
            <a:r>
              <a:t>"Can you name what this changes per task, per transaction, per decision? In dollars or minutes? A number, not an adjective."</a:t>
            </a:r>
          </a:p>
          <a:p/>
          <a:p>
            <a:r>
              <a:t>Walk through the chart. "Today: $15 per task. After: what? If they can't name the after number, it isn't real."</a:t>
            </a:r>
          </a:p>
          <a:p/>
          <a:p>
            <a:r>
              <a:t>Then the trap, the deflection example. Read it slowly:</a:t>
            </a:r>
          </a:p>
          <a:p/>
          <a:p>
            <a:r>
              <a:t>"Deflects 30% of tickets sounds great. Deflects to where? The remaining 70% are now the hardest tickets. Your agents are slower because they only see the hard ones. The easy questions that built morale are gone. CSAT drops. The unit economics might be net negative."</a:t>
            </a:r>
          </a:p>
          <a:p/>
          <a:p>
            <a:r>
              <a:t>"Most pitches describe capability without committing to a unit. Forcing a unit kills most bad proposals before they leave the room."</a:t>
            </a:r>
          </a:p>
          <a:p/>
          <a:p>
            <a:r>
              <a:t>Time: 2 to 3 minutes. This is the most actionable lens, so spend the time.</a:t>
            </a:r>
          </a:p>
        </p:txBody>
      </p:sp>
      <p:sp>
        <p:nvSpPr>
          <p:cNvPr id="368" name="Google Shape;36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Lens 02 Knowledge foundation.</a:t>
            </a:r>
          </a:p>
          <a:p/>
          <a:p>
            <a:r>
              <a:t>"Does this build a reusable knowledge foundation other use cases can leverage, or a silo that dies?"</a:t>
            </a:r>
          </a:p>
          <a:p/>
          <a:p>
            <a:r>
              <a:t>Walk through the three pillars.</a:t>
            </a:r>
          </a:p>
          <a:p/>
          <a:p>
            <a:r>
              <a:t>VOICE: "Calls, transcripts, sentiment, intent."</a:t>
            </a:r>
          </a:p>
          <a:p/>
          <a:p>
            <a:r>
              <a:t>DOCUMENTS: "Contracts, complaints, policies."</a:t>
            </a:r>
          </a:p>
          <a:p/>
          <a:p>
            <a:r>
              <a:t>OPERATIONS: "Outcomes, claims, finance, employee signals."</a:t>
            </a:r>
          </a:p>
          <a:p/>
          <a:p>
            <a:r>
              <a:t>Then the concrete example: "A churn signal lives across all three. None of them sees it alone. Voice tells you why someone's frustrated. Documents show what they complained about. Operations show whether they actually left."</a:t>
            </a:r>
          </a:p>
          <a:p/>
          <a:p>
            <a:r>
              <a:t>"Each pillar is useful alone. Combined, they unlock use cases none of them deliver on their own."</a:t>
            </a:r>
          </a:p>
          <a:p/>
          <a:p>
            <a:r>
              <a:t>Time: about 2 minutes.</a:t>
            </a:r>
          </a:p>
        </p:txBody>
      </p:sp>
      <p:sp>
        <p:nvSpPr>
          <p:cNvPr id="393" name="Google Shape;39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Lens 01 Roadmap fit.</a:t>
            </a:r>
          </a:p>
          <a:p/>
          <a:p>
            <a:r>
              <a:t>"How does this connect to the bigger picture? Where else in your business could this intelligence be used?"</a:t>
            </a:r>
          </a:p>
          <a:p/>
          <a:p>
            <a:r>
              <a:t>The diagram tells the story. Connected on the left: each pilot makes the next one stronger. Disconnected on the right: each pilot stands alone, then dies.</a:t>
            </a:r>
          </a:p>
          <a:p/>
          <a:p>
            <a:r>
              <a:t>Then the 74% stat. "74% of AI's economic value is captured by 20% of organisations. They tie outcomes to revenue, build governance before scaling, and treat AI as organisational redesign. Not a point solution."</a:t>
            </a:r>
          </a:p>
          <a:p/>
          <a:p>
            <a:r>
              <a:t>The 20% are the ones who decided AI is a strategic capability and built around that. Not a series of vendor pilots.</a:t>
            </a:r>
          </a:p>
          <a:p/>
          <a:p>
            <a:r>
              <a:t>Time: about 2 minutes.</a:t>
            </a:r>
          </a:p>
        </p:txBody>
      </p:sp>
      <p:sp>
        <p:nvSpPr>
          <p:cNvPr id="432" name="Google Shape;43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Brief bridge to the takeaways.</a:t>
            </a:r>
          </a:p>
          <a:p/>
          <a:p>
            <a:r>
              <a:t>"So if you remember nothing else from this, here are five questions you can ask on Monday. Real questions, not rhetorical ones. You'll want to photograph the next slide."</a:t>
            </a:r>
          </a:p>
          <a:p/>
          <a:p>
            <a:r>
              <a:t>Cue the audience to get phones ready.</a:t>
            </a:r>
          </a:p>
        </p:txBody>
      </p:sp>
      <p:sp>
        <p:nvSpPr>
          <p:cNvPr id="465" name="Google Shape;46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five questions. Walk through quickly. Tell them to photograph.</a:t>
            </a:r>
          </a:p>
          <a:p/>
          <a:p>
            <a:r>
              <a:t>Q1 PROCESS: "Do we understand our end-to-end process? This is the gate. If the answer is no, stop here. Don't evaluate anything else until this is yes."</a:t>
            </a:r>
          </a:p>
          <a:p/>
          <a:p>
            <a:r>
              <a:t>Q2 PROBLEM FIT: "What specific problem are we solving? Who notices when it's solved? And could we solve it without AI? Most things you'll get pitched as 'AI for X' could be solved with a workflow change and an Excel rule."</a:t>
            </a:r>
          </a:p>
          <a:p/>
          <a:p>
            <a:r>
              <a:t>Q3 BIGGER PICTURE: "How does this connect to the bigger picture and the other things we are building?"</a:t>
            </a:r>
          </a:p>
          <a:p/>
          <a:p>
            <a:r>
              <a:t>Q4 FOUNDATION: "Does this build reusable capability that other use cases can leverage, or is it a silo?"</a:t>
            </a:r>
          </a:p>
          <a:p/>
          <a:p>
            <a:r>
              <a:t>Q5 UNIT ECONOMICS: "What is the cost or value per transaction today, in dollars, and what does it become after?"</a:t>
            </a:r>
          </a:p>
          <a:p/>
          <a:p>
            <a:r>
              <a:t>Close: "Start with question 1. Map one end-to-end process before you ask the others."</a:t>
            </a:r>
          </a:p>
          <a:p/>
          <a:p>
            <a:r>
              <a:t>Time: 2 to 3 minutes. Pause after each question.</a:t>
            </a:r>
          </a:p>
        </p:txBody>
      </p:sp>
      <p:sp>
        <p:nvSpPr>
          <p:cNvPr id="474" name="Google Shape;47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Brief setup for the close.</a:t>
            </a:r>
          </a:p>
          <a:p/>
          <a:p>
            <a:r>
              <a:t>"Three things I think are true. Grounded, not speculative. I'm not going to tell you what 2027 looks like. I'll tell you what's already happening that you can act on."</a:t>
            </a:r>
          </a:p>
          <a:p/>
          <a:p>
            <a:r>
              <a:t>Move to slide 18.</a:t>
            </a:r>
          </a:p>
        </p:txBody>
      </p:sp>
      <p:sp>
        <p:nvSpPr>
          <p:cNvPr id="525" name="Google Shape;52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close. Slow down here.</a:t>
            </a:r>
          </a:p>
          <a:p/>
          <a:p>
            <a:r>
              <a:t>Point 01: "Transformative change is real. Readiness decides who benefits. Organisations with process clarity, data foundations, and educated teams are seeing real returns. The ones without are stalling. 79% of organisations report adoption challenges. 54% of the C-suite say it is tearing the company apart. The technology isn't the variable. Your readiness is."</a:t>
            </a:r>
          </a:p>
          <a:p/>
          <a:p>
            <a:r>
              <a:t>Point 02: "Capability isn't the constraint. Deployment is. The models that do the work already exist. The gap is access, governance, integration, and a process worth measuring. These are leadership choices. The capability is the easy part."</a:t>
            </a:r>
          </a:p>
          <a:p/>
          <a:p>
            <a:r>
              <a:t>Point 03: "Continuous education is the differentiator. The biggest barrier to AI integration is workforce capability. Not a one-off programme. Continuous, job-specific education is what separates the 20% capturing 74% of the value from everyone else."</a:t>
            </a:r>
          </a:p>
          <a:p/>
          <a:p>
            <a:r>
              <a:t>Then the kicker. Slow down for this one. Eye contact:</a:t>
            </a:r>
          </a:p>
          <a:p/>
          <a:p>
            <a:r>
              <a:t>"The first organisation in your industry to fix the foundations wins. The second struggles. The third gets acquired."</a:t>
            </a:r>
          </a:p>
          <a:p/>
          <a:p>
            <a:r>
              <a:t>Pause. Let it sit. Then move to Q&amp;A.</a:t>
            </a:r>
          </a:p>
          <a:p/>
          <a:p>
            <a:r>
              <a:t>Time: 2 to 3 minutes.</a:t>
            </a:r>
          </a:p>
        </p:txBody>
      </p:sp>
      <p:sp>
        <p:nvSpPr>
          <p:cNvPr id="534" name="Google Shape;53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Close out.</a:t>
            </a:r>
          </a:p>
          <a:p/>
          <a:p>
            <a:r>
              <a:t>"That's the talk. I'm Tim Barnes, AI and Automation Expert at wedoai.com.au. Happy to take questions. Happy to argue. Happy to be wrong."</a:t>
            </a:r>
          </a:p>
          <a:p/>
          <a:p>
            <a:r>
              <a:t>Then open the room. Don't fill the silence.</a:t>
            </a:r>
          </a:p>
          <a:p/>
          <a:p>
            <a:r>
              <a:t>Likely questions to be ready for:</a:t>
            </a:r>
          </a:p>
          <a:p>
            <a:r>
              <a:t>- "Where do I start if my organisation is at zero?" Answer: Pick one end-to-end process. Map it. Measure it. Don't buy AI yet.</a:t>
            </a:r>
          </a:p>
          <a:p>
            <a:r>
              <a:t>- "How do I get the board to invest in readiness when they want AI now?" Answer: Show them the 95% failure rate. Then show them what the 5% did before they bought any AI.</a:t>
            </a:r>
          </a:p>
          <a:p>
            <a:r>
              <a:t>- "What's the biggest mistake you see?" Answer: Buying AI to fix a process nobody owns.</a:t>
            </a:r>
          </a:p>
          <a:p>
            <a:r>
              <a:t>- "Should we have a Chief AI Officer?" Answer: Not yet. You need a Chief Process Officer first.</a:t>
            </a:r>
          </a:p>
        </p:txBody>
      </p:sp>
      <p:sp>
        <p:nvSpPr>
          <p:cNvPr id="597" name="Google Shape;59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mlq.ai/media/quarterly_decks/v0.1_State_of_AI_in_Business_2025_Report.pdf" TargetMode="External"/><Relationship Id="rId4" Type="http://schemas.openxmlformats.org/officeDocument/2006/relationships/hyperlink" Target="https://www.spglobal.com/market-intelligence/en/news-insights/research/ai-experiences-rapid-adoption-but-with-mixed-outcomes-highlights-from-vote-ai-machine-learning" TargetMode="External"/><Relationship Id="rId5" Type="http://schemas.openxmlformats.org/officeDocument/2006/relationships/hyperlink" Target="https://www.pwc.com/gx/en/news-room/press-releases/2026/pwc-2026-ai-performance-study.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mlq.ai/media/quarterly_decks/v0.1_State_of_AI_in_Business_2025_Report.pdf" TargetMode="External"/><Relationship Id="rId4" Type="http://schemas.openxmlformats.org/officeDocument/2006/relationships/hyperlink" Target="https://www.spglobal.com/market-intelligence/en/news-insights/research/ai-experiences-rapid-adoption-but-with-mixed-outcomes-highlights-from-vote-ai-machine-learning" TargetMode="External"/><Relationship Id="rId5" Type="http://schemas.openxmlformats.org/officeDocument/2006/relationships/hyperlink" Target="https://mlq.ai/media/quarterly_decks/v0.1_State_of_AI_in_Business_2025_Report.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www.gartner.com/en/newsroom/press-releases/2025-02-26-lack-of-ai-ready-data-puts-ai-projects-at-ris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pwc.com/gx/en/news-room/press-releases/2026/pwc-2026-ai-performance-study.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15" name="Shape 15"/>
        <p:cNvGrpSpPr/>
        <p:nvPr/>
      </p:nvGrpSpPr>
      <p:grpSpPr>
        <a:xfrm>
          <a:off x="0" y="0"/>
          <a:ext cx="0" cy="0"/>
          <a:chOff x="0" y="0"/>
          <a:chExt cx="0" cy="0"/>
        </a:xfrm>
      </p:grpSpPr>
      <p:sp>
        <p:nvSpPr>
          <p:cNvPr id="16" name="Google Shape;16;p3"/>
          <p:cNvSpPr/>
          <p:nvPr/>
        </p:nvSpPr>
        <p:spPr>
          <a:xfrm>
            <a:off x="640080" y="54864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2800"/>
              <a:buFont typeface="Calibri"/>
              <a:buNone/>
            </a:pPr>
            <a:r>
              <a:rPr b="1" i="0" lang="en-US" sz="2800" u="none" cap="none" strike="noStrike">
                <a:solidFill>
                  <a:srgbClr val="F1F0EE"/>
                </a:solidFill>
                <a:latin typeface="Calibri"/>
                <a:ea typeface="Calibri"/>
                <a:cs typeface="Calibri"/>
                <a:sym typeface="Calibri"/>
              </a:rPr>
              <a:t>WeDo</a:t>
            </a:r>
            <a:r>
              <a:rPr b="1" i="0" lang="en-US" sz="2800" u="none" cap="none" strike="noStrike">
                <a:solidFill>
                  <a:srgbClr val="2BCFCF"/>
                </a:solidFill>
                <a:latin typeface="Calibri"/>
                <a:ea typeface="Calibri"/>
                <a:cs typeface="Calibri"/>
                <a:sym typeface="Calibri"/>
              </a:rPr>
              <a:t>AI</a:t>
            </a:r>
            <a:endParaRPr b="0" i="0" sz="2800" u="none" cap="none" strike="noStrike">
              <a:solidFill>
                <a:schemeClr val="dk1"/>
              </a:solidFill>
              <a:latin typeface="Calibri"/>
              <a:ea typeface="Calibri"/>
              <a:cs typeface="Calibri"/>
              <a:sym typeface="Calibri"/>
            </a:endParaRPr>
          </a:p>
        </p:txBody>
      </p:sp>
      <p:sp>
        <p:nvSpPr>
          <p:cNvPr id="17" name="Google Shape;17;p3"/>
          <p:cNvSpPr/>
          <p:nvPr/>
        </p:nvSpPr>
        <p:spPr>
          <a:xfrm>
            <a:off x="640080" y="2286000"/>
            <a:ext cx="1088136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7800"/>
              <a:buFont typeface="Calibri"/>
              <a:buNone/>
            </a:pPr>
            <a:r>
              <a:rPr b="1" i="0" lang="en-US" sz="7800" u="none" cap="none" strike="noStrike">
                <a:solidFill>
                  <a:srgbClr val="F1F0EE"/>
                </a:solidFill>
                <a:latin typeface="Calibri"/>
                <a:ea typeface="Calibri"/>
                <a:cs typeface="Calibri"/>
                <a:sym typeface="Calibri"/>
              </a:rPr>
              <a:t xml:space="preserve">The March of </a:t>
            </a:r>
            <a:r>
              <a:rPr b="1" i="0" lang="en-US" sz="7800" u="none" cap="none" strike="noStrike">
                <a:solidFill>
                  <a:srgbClr val="2BCFCF"/>
                </a:solidFill>
                <a:latin typeface="Calibri"/>
                <a:ea typeface="Calibri"/>
                <a:cs typeface="Calibri"/>
                <a:sym typeface="Calibri"/>
              </a:rPr>
              <a:t>AI</a:t>
            </a:r>
            <a:endParaRPr b="0" i="0" sz="7800" u="none" cap="none" strike="noStrike">
              <a:solidFill>
                <a:schemeClr val="dk1"/>
              </a:solidFill>
              <a:latin typeface="Calibri"/>
              <a:ea typeface="Calibri"/>
              <a:cs typeface="Calibri"/>
              <a:sym typeface="Calibri"/>
            </a:endParaRPr>
          </a:p>
        </p:txBody>
      </p:sp>
      <p:sp>
        <p:nvSpPr>
          <p:cNvPr id="18" name="Google Shape;18;p3"/>
          <p:cNvSpPr/>
          <p:nvPr/>
        </p:nvSpPr>
        <p:spPr>
          <a:xfrm>
            <a:off x="640080" y="3840480"/>
            <a:ext cx="10881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1800"/>
              <a:buFont typeface="Calibri"/>
              <a:buNone/>
            </a:pPr>
            <a:r>
              <a:rPr b="0" i="0" lang="en-US" sz="1800" u="none" cap="none" strike="noStrike">
                <a:solidFill>
                  <a:srgbClr val="A8B5C2"/>
                </a:solidFill>
                <a:latin typeface="Calibri"/>
                <a:ea typeface="Calibri"/>
                <a:cs typeface="Calibri"/>
                <a:sym typeface="Calibri"/>
              </a:rPr>
              <a:t>Tim Barnes   /   Directioneering Executive Insights Forum   /   21 May 2026</a:t>
            </a:r>
            <a:endParaRPr b="0" i="0" sz="1800" u="none" cap="none" strike="noStrike">
              <a:solidFill>
                <a:schemeClr val="dk1"/>
              </a:solidFill>
              <a:latin typeface="Calibri"/>
              <a:ea typeface="Calibri"/>
              <a:cs typeface="Calibri"/>
              <a:sym typeface="Calibri"/>
            </a:endParaRPr>
          </a:p>
        </p:txBody>
      </p:sp>
      <p:sp>
        <p:nvSpPr>
          <p:cNvPr id="19" name="Google Shape;19;p3"/>
          <p:cNvSpPr/>
          <p:nvPr/>
        </p:nvSpPr>
        <p:spPr>
          <a:xfrm>
            <a:off x="640080" y="4572000"/>
            <a:ext cx="94183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2200"/>
              <a:buFont typeface="Calibri"/>
              <a:buNone/>
            </a:pPr>
            <a:r>
              <a:rPr b="0" i="1" lang="en-US" sz="2200" u="none" cap="none" strike="noStrike">
                <a:solidFill>
                  <a:srgbClr val="F1F0EE"/>
                </a:solidFill>
                <a:latin typeface="Calibri"/>
                <a:ea typeface="Calibri"/>
                <a:cs typeface="Calibri"/>
                <a:sym typeface="Calibri"/>
              </a:rPr>
              <a:t>A calibration tool, not a tour. Three lenses, five questions, and one readiness gap most organisations have not closed.</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24" name="Shape 24"/>
        <p:cNvGrpSpPr/>
        <p:nvPr/>
      </p:nvGrpSpPr>
      <p:grpSpPr>
        <a:xfrm>
          <a:off x="0" y="0"/>
          <a:ext cx="0" cy="0"/>
          <a:chOff x="0" y="0"/>
          <a:chExt cx="0" cy="0"/>
        </a:xfrm>
      </p:grpSpPr>
      <p:sp>
        <p:nvSpPr>
          <p:cNvPr id="25" name="Google Shape;25;p4"/>
          <p:cNvSpPr/>
          <p:nvPr/>
        </p:nvSpPr>
        <p:spPr>
          <a:xfrm>
            <a:off x="640080" y="45720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2200"/>
              <a:buFont typeface="Calibri"/>
              <a:buNone/>
            </a:pPr>
            <a:r>
              <a:rPr b="1" i="0" lang="en-US" sz="2200" u="none" cap="none" strike="noStrike">
                <a:solidFill>
                  <a:srgbClr val="F1F0EE"/>
                </a:solidFill>
                <a:latin typeface="Calibri"/>
                <a:ea typeface="Calibri"/>
                <a:cs typeface="Calibri"/>
                <a:sym typeface="Calibri"/>
              </a:rPr>
              <a:t>WeDo</a:t>
            </a:r>
            <a:r>
              <a:rPr b="1" i="0" lang="en-US" sz="2200" u="none" cap="none" strike="noStrike">
                <a:solidFill>
                  <a:srgbClr val="2BCFCF"/>
                </a:solidFill>
                <a:latin typeface="Calibri"/>
                <a:ea typeface="Calibri"/>
                <a:cs typeface="Calibri"/>
                <a:sym typeface="Calibri"/>
              </a:rPr>
              <a:t>AI</a:t>
            </a:r>
            <a:endParaRPr b="0" i="0" sz="2200" u="none" cap="none" strike="noStrike">
              <a:solidFill>
                <a:schemeClr val="dk1"/>
              </a:solidFill>
              <a:latin typeface="Calibri"/>
              <a:ea typeface="Calibri"/>
              <a:cs typeface="Calibri"/>
              <a:sym typeface="Calibri"/>
            </a:endParaRPr>
          </a:p>
        </p:txBody>
      </p:sp>
      <p:sp>
        <p:nvSpPr>
          <p:cNvPr id="26" name="Google Shape;26;p4"/>
          <p:cNvSpPr/>
          <p:nvPr/>
        </p:nvSpPr>
        <p:spPr>
          <a:xfrm>
            <a:off x="640080" y="118872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4400"/>
              <a:buFont typeface="Calibri"/>
              <a:buNone/>
            </a:pPr>
            <a:r>
              <a:rPr b="1" i="0" lang="en-US" sz="4400" u="none" cap="none" strike="noStrike">
                <a:solidFill>
                  <a:srgbClr val="F1F0EE"/>
                </a:solidFill>
                <a:latin typeface="Calibri"/>
                <a:ea typeface="Calibri"/>
                <a:cs typeface="Calibri"/>
                <a:sym typeface="Calibri"/>
              </a:rPr>
              <a:t>How I built this.</a:t>
            </a:r>
            <a:endParaRPr b="0" i="0" sz="4400" u="none" cap="none" strike="noStrike">
              <a:solidFill>
                <a:schemeClr val="dk1"/>
              </a:solidFill>
              <a:latin typeface="Calibri"/>
              <a:ea typeface="Calibri"/>
              <a:cs typeface="Calibri"/>
              <a:sym typeface="Calibri"/>
            </a:endParaRPr>
          </a:p>
        </p:txBody>
      </p:sp>
      <p:sp>
        <p:nvSpPr>
          <p:cNvPr id="27" name="Google Shape;27;p4"/>
          <p:cNvSpPr/>
          <p:nvPr/>
        </p:nvSpPr>
        <p:spPr>
          <a:xfrm>
            <a:off x="640080" y="1965960"/>
            <a:ext cx="108813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B5C2"/>
              </a:buClr>
              <a:buSzPts val="2000"/>
              <a:buFont typeface="Calibri"/>
              <a:buNone/>
            </a:pPr>
            <a:r>
              <a:rPr b="0" i="1" lang="en-US" sz="2000" u="none" cap="none" strike="noStrike">
                <a:solidFill>
                  <a:srgbClr val="A8B5C2"/>
                </a:solidFill>
                <a:latin typeface="Calibri"/>
                <a:ea typeface="Calibri"/>
                <a:cs typeface="Calibri"/>
                <a:sym typeface="Calibri"/>
              </a:rPr>
              <a:t>Me, my phone, and a handful of AI agents and ~2.5 hrs</a:t>
            </a:r>
            <a:r>
              <a:rPr i="1" lang="en-US" sz="2000">
                <a:solidFill>
                  <a:srgbClr val="A8B5C2"/>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8" name="Google Shape;28;p4"/>
          <p:cNvSpPr/>
          <p:nvPr/>
        </p:nvSpPr>
        <p:spPr>
          <a:xfrm>
            <a:off x="640080" y="2743200"/>
            <a:ext cx="2029968" cy="301752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822960" y="2880360"/>
            <a:ext cx="16642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800"/>
              <a:buFont typeface="Calibri"/>
              <a:buNone/>
            </a:pPr>
            <a:r>
              <a:rPr b="1" i="0" lang="en-US" sz="1800" u="none" cap="none" strike="noStrike">
                <a:solidFill>
                  <a:srgbClr val="2BCFCF"/>
                </a:solidFill>
                <a:latin typeface="Calibri"/>
                <a:ea typeface="Calibri"/>
                <a:cs typeface="Calibri"/>
                <a:sym typeface="Calibri"/>
              </a:rPr>
              <a:t>01</a:t>
            </a:r>
            <a:endParaRPr b="0" i="0" sz="1800" u="none" cap="none" strike="noStrike">
              <a:solidFill>
                <a:schemeClr val="dk1"/>
              </a:solidFill>
              <a:latin typeface="Calibri"/>
              <a:ea typeface="Calibri"/>
              <a:cs typeface="Calibri"/>
              <a:sym typeface="Calibri"/>
            </a:endParaRPr>
          </a:p>
        </p:txBody>
      </p:sp>
      <p:sp>
        <p:nvSpPr>
          <p:cNvPr id="30" name="Google Shape;30;p4"/>
          <p:cNvSpPr/>
          <p:nvPr/>
        </p:nvSpPr>
        <p:spPr>
          <a:xfrm>
            <a:off x="822960" y="2944368"/>
            <a:ext cx="166420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100"/>
              <a:buFont typeface="Calibri"/>
              <a:buNone/>
            </a:pPr>
            <a:r>
              <a:rPr b="0" i="1" lang="en-US" sz="1100" u="none" cap="none" strike="noStrike">
                <a:solidFill>
                  <a:srgbClr val="A8B5C2"/>
                </a:solidFill>
                <a:latin typeface="Calibri"/>
                <a:ea typeface="Calibri"/>
                <a:cs typeface="Calibri"/>
                <a:sym typeface="Calibri"/>
              </a:rPr>
              <a:t>30 min</a:t>
            </a:r>
            <a:endParaRPr b="0" i="0" sz="1100" u="none" cap="none" strike="noStrike">
              <a:solidFill>
                <a:schemeClr val="dk1"/>
              </a:solidFill>
              <a:latin typeface="Calibri"/>
              <a:ea typeface="Calibri"/>
              <a:cs typeface="Calibri"/>
              <a:sym typeface="Calibri"/>
            </a:endParaRPr>
          </a:p>
        </p:txBody>
      </p:sp>
      <p:sp>
        <p:nvSpPr>
          <p:cNvPr id="31" name="Google Shape;31;p4"/>
          <p:cNvSpPr/>
          <p:nvPr/>
        </p:nvSpPr>
        <p:spPr>
          <a:xfrm>
            <a:off x="1266444" y="3429000"/>
            <a:ext cx="777240" cy="1600200"/>
          </a:xfrm>
          <a:prstGeom prst="roundRect">
            <a:avLst>
              <a:gd fmla="val 9412" name="adj"/>
            </a:avLst>
          </a:prstGeom>
          <a:solidFill>
            <a:srgbClr val="0B2A45"/>
          </a:solidFill>
          <a:ln cap="flat" cmpd="sng" w="1905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1515161" y="3493008"/>
            <a:ext cx="279806" cy="22860"/>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1841602" y="3483864"/>
            <a:ext cx="41148" cy="41148"/>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1359713" y="4157091"/>
            <a:ext cx="41021" cy="144018"/>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1425346" y="4097084"/>
            <a:ext cx="41021" cy="264033"/>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1490980" y="4013073"/>
            <a:ext cx="41021" cy="432054"/>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1556614" y="4073081"/>
            <a:ext cx="41021" cy="312039"/>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1622247" y="4025074"/>
            <a:ext cx="41021" cy="408051"/>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1687881" y="4133088"/>
            <a:ext cx="41021" cy="192024"/>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753514" y="4061079"/>
            <a:ext cx="41021" cy="336042"/>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1819148" y="4109085"/>
            <a:ext cx="41021" cy="240030"/>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1884782" y="4049077"/>
            <a:ext cx="41021" cy="360045"/>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1499616" y="4965192"/>
            <a:ext cx="310896" cy="32004"/>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22960" y="5257800"/>
            <a:ext cx="166420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300"/>
              <a:buFont typeface="Calibri"/>
              <a:buNone/>
            </a:pPr>
            <a:r>
              <a:rPr b="1" i="0" lang="en-US" sz="1300" u="none" cap="none" strike="noStrike">
                <a:solidFill>
                  <a:srgbClr val="F1F0EE"/>
                </a:solidFill>
                <a:latin typeface="Calibri"/>
                <a:ea typeface="Calibri"/>
                <a:cs typeface="Calibri"/>
                <a:sym typeface="Calibri"/>
              </a:rPr>
              <a:t>BRAINSTORMED</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2852928" y="2743200"/>
            <a:ext cx="2029968" cy="301752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3035808" y="2880360"/>
            <a:ext cx="16642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800"/>
              <a:buFont typeface="Calibri"/>
              <a:buNone/>
            </a:pPr>
            <a:r>
              <a:rPr b="1" i="0" lang="en-US" sz="1800" u="none" cap="none" strike="noStrike">
                <a:solidFill>
                  <a:srgbClr val="2BCFCF"/>
                </a:solidFill>
                <a:latin typeface="Calibri"/>
                <a:ea typeface="Calibri"/>
                <a:cs typeface="Calibri"/>
                <a:sym typeface="Calibri"/>
              </a:rPr>
              <a:t>02</a:t>
            </a:r>
            <a:endParaRPr b="0" i="0" sz="1800" u="none" cap="none" strike="noStrike">
              <a:solidFill>
                <a:schemeClr val="dk1"/>
              </a:solidFill>
              <a:latin typeface="Calibri"/>
              <a:ea typeface="Calibri"/>
              <a:cs typeface="Calibri"/>
              <a:sym typeface="Calibri"/>
            </a:endParaRPr>
          </a:p>
        </p:txBody>
      </p:sp>
      <p:sp>
        <p:nvSpPr>
          <p:cNvPr id="47" name="Google Shape;47;p4"/>
          <p:cNvSpPr/>
          <p:nvPr/>
        </p:nvSpPr>
        <p:spPr>
          <a:xfrm>
            <a:off x="3035808" y="2944368"/>
            <a:ext cx="166420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100"/>
              <a:buFont typeface="Calibri"/>
              <a:buNone/>
            </a:pPr>
            <a:r>
              <a:rPr b="0" i="1" lang="en-US" sz="1100" u="none" cap="none" strike="noStrike">
                <a:solidFill>
                  <a:srgbClr val="A8B5C2"/>
                </a:solidFill>
                <a:latin typeface="Calibri"/>
                <a:ea typeface="Calibri"/>
                <a:cs typeface="Calibri"/>
                <a:sym typeface="Calibri"/>
              </a:rPr>
              <a:t>15 min</a:t>
            </a:r>
            <a:endParaRPr b="0" i="0" sz="1100" u="none" cap="none" strike="noStrike">
              <a:solidFill>
                <a:schemeClr val="dk1"/>
              </a:solidFill>
              <a:latin typeface="Calibri"/>
              <a:ea typeface="Calibri"/>
              <a:cs typeface="Calibri"/>
              <a:sym typeface="Calibri"/>
            </a:endParaRPr>
          </a:p>
        </p:txBody>
      </p:sp>
      <p:sp>
        <p:nvSpPr>
          <p:cNvPr id="48" name="Google Shape;48;p4"/>
          <p:cNvSpPr/>
          <p:nvPr/>
        </p:nvSpPr>
        <p:spPr>
          <a:xfrm>
            <a:off x="3182112" y="3506724"/>
            <a:ext cx="164592" cy="164592"/>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3182112" y="3506724"/>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A45"/>
              </a:buClr>
              <a:buSzPts val="900"/>
              <a:buFont typeface="Calibri"/>
              <a:buNone/>
            </a:pPr>
            <a:r>
              <a:rPr b="1" i="0" lang="en-US" sz="900" u="none" cap="none" strike="noStrike">
                <a:solidFill>
                  <a:srgbClr val="0B2A45"/>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50" name="Google Shape;50;p4"/>
          <p:cNvSpPr/>
          <p:nvPr/>
        </p:nvSpPr>
        <p:spPr>
          <a:xfrm>
            <a:off x="3419856" y="3559393"/>
            <a:ext cx="1133856" cy="59253"/>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82112" y="3762756"/>
            <a:ext cx="164592" cy="164592"/>
          </a:xfrm>
          <a:prstGeom prst="ellipse">
            <a:avLst/>
          </a:prstGeom>
          <a:solidFill>
            <a:srgbClr val="0B2A45"/>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3182112" y="3762756"/>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900"/>
              <a:buFont typeface="Calibri"/>
              <a:buNone/>
            </a:pPr>
            <a:r>
              <a:rPr b="1" i="0" lang="en-US" sz="900" u="none" cap="none" strike="noStrike">
                <a:solidFill>
                  <a:srgbClr val="F1F0EE"/>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53" name="Google Shape;53;p4"/>
          <p:cNvSpPr/>
          <p:nvPr/>
        </p:nvSpPr>
        <p:spPr>
          <a:xfrm>
            <a:off x="3419856" y="3815425"/>
            <a:ext cx="1077163" cy="59253"/>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3182112" y="4018788"/>
            <a:ext cx="164592" cy="164592"/>
          </a:xfrm>
          <a:prstGeom prst="ellipse">
            <a:avLst/>
          </a:prstGeom>
          <a:solidFill>
            <a:srgbClr val="0B2A45"/>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3182112" y="4018788"/>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900"/>
              <a:buFont typeface="Calibri"/>
              <a:buNone/>
            </a:pPr>
            <a:r>
              <a:rPr b="1" i="0" lang="en-US" sz="900" u="none" cap="none" strike="noStrike">
                <a:solidFill>
                  <a:srgbClr val="F1F0EE"/>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56" name="Google Shape;56;p4"/>
          <p:cNvSpPr/>
          <p:nvPr/>
        </p:nvSpPr>
        <p:spPr>
          <a:xfrm>
            <a:off x="3419856" y="4071457"/>
            <a:ext cx="1020470" cy="59253"/>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3182112" y="4274820"/>
            <a:ext cx="164592" cy="164592"/>
          </a:xfrm>
          <a:prstGeom prst="ellipse">
            <a:avLst/>
          </a:prstGeom>
          <a:solidFill>
            <a:srgbClr val="0B2A45"/>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3182112" y="4274820"/>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900"/>
              <a:buFont typeface="Calibri"/>
              <a:buNone/>
            </a:pPr>
            <a:r>
              <a:rPr b="1" i="0" lang="en-US" sz="900" u="none" cap="none" strike="noStrike">
                <a:solidFill>
                  <a:srgbClr val="F1F0EE"/>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59" name="Google Shape;59;p4"/>
          <p:cNvSpPr/>
          <p:nvPr/>
        </p:nvSpPr>
        <p:spPr>
          <a:xfrm>
            <a:off x="3419856" y="4327489"/>
            <a:ext cx="963778" cy="59253"/>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3182112" y="4530852"/>
            <a:ext cx="164592" cy="164592"/>
          </a:xfrm>
          <a:prstGeom prst="ellipse">
            <a:avLst/>
          </a:prstGeom>
          <a:solidFill>
            <a:srgbClr val="0B2A45"/>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3182112" y="4530852"/>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900"/>
              <a:buFont typeface="Calibri"/>
              <a:buNone/>
            </a:pPr>
            <a:r>
              <a:rPr b="1" i="0" lang="en-US" sz="900" u="none" cap="none" strike="noStrike">
                <a:solidFill>
                  <a:srgbClr val="F1F0EE"/>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62" name="Google Shape;62;p4"/>
          <p:cNvSpPr/>
          <p:nvPr/>
        </p:nvSpPr>
        <p:spPr>
          <a:xfrm>
            <a:off x="3419856" y="4583521"/>
            <a:ext cx="907085" cy="59253"/>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3182112" y="4786884"/>
            <a:ext cx="164592" cy="164592"/>
          </a:xfrm>
          <a:prstGeom prst="ellipse">
            <a:avLst/>
          </a:prstGeom>
          <a:solidFill>
            <a:srgbClr val="0B2A45"/>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3182112" y="4786884"/>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900"/>
              <a:buFont typeface="Calibri"/>
              <a:buNone/>
            </a:pPr>
            <a:r>
              <a:rPr b="1" i="0" lang="en-US" sz="900" u="none" cap="none" strike="noStrike">
                <a:solidFill>
                  <a:srgbClr val="F1F0EE"/>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65" name="Google Shape;65;p4"/>
          <p:cNvSpPr/>
          <p:nvPr/>
        </p:nvSpPr>
        <p:spPr>
          <a:xfrm>
            <a:off x="3419856" y="4839553"/>
            <a:ext cx="850392" cy="59253"/>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3035808" y="5257800"/>
            <a:ext cx="166420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300"/>
              <a:buFont typeface="Calibri"/>
              <a:buNone/>
            </a:pPr>
            <a:r>
              <a:rPr b="1" i="0" lang="en-US" sz="1300" u="none" cap="none" strike="noStrike">
                <a:solidFill>
                  <a:srgbClr val="F1F0EE"/>
                </a:solidFill>
                <a:latin typeface="Calibri"/>
                <a:ea typeface="Calibri"/>
                <a:cs typeface="Calibri"/>
                <a:sym typeface="Calibri"/>
              </a:rPr>
              <a:t>STRUCTURED</a:t>
            </a:r>
            <a:endParaRPr b="0" i="0" sz="1300" u="none" cap="none" strike="noStrike">
              <a:solidFill>
                <a:schemeClr val="dk1"/>
              </a:solidFill>
              <a:latin typeface="Calibri"/>
              <a:ea typeface="Calibri"/>
              <a:cs typeface="Calibri"/>
              <a:sym typeface="Calibri"/>
            </a:endParaRPr>
          </a:p>
        </p:txBody>
      </p:sp>
      <p:sp>
        <p:nvSpPr>
          <p:cNvPr id="67" name="Google Shape;67;p4"/>
          <p:cNvSpPr/>
          <p:nvPr/>
        </p:nvSpPr>
        <p:spPr>
          <a:xfrm>
            <a:off x="5065776" y="2743200"/>
            <a:ext cx="2029968" cy="301752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5248656" y="2880360"/>
            <a:ext cx="16642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800"/>
              <a:buFont typeface="Calibri"/>
              <a:buNone/>
            </a:pPr>
            <a:r>
              <a:rPr b="1" i="0" lang="en-US" sz="1800" u="none" cap="none" strike="noStrike">
                <a:solidFill>
                  <a:srgbClr val="2BCFCF"/>
                </a:solidFill>
                <a:latin typeface="Calibri"/>
                <a:ea typeface="Calibri"/>
                <a:cs typeface="Calibri"/>
                <a:sym typeface="Calibri"/>
              </a:rPr>
              <a:t>03</a:t>
            </a:r>
            <a:endParaRPr b="0" i="0" sz="1800" u="none" cap="none" strike="noStrike">
              <a:solidFill>
                <a:schemeClr val="dk1"/>
              </a:solidFill>
              <a:latin typeface="Calibri"/>
              <a:ea typeface="Calibri"/>
              <a:cs typeface="Calibri"/>
              <a:sym typeface="Calibri"/>
            </a:endParaRPr>
          </a:p>
        </p:txBody>
      </p:sp>
      <p:sp>
        <p:nvSpPr>
          <p:cNvPr id="69" name="Google Shape;69;p4"/>
          <p:cNvSpPr/>
          <p:nvPr/>
        </p:nvSpPr>
        <p:spPr>
          <a:xfrm>
            <a:off x="5248656" y="2944368"/>
            <a:ext cx="166420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100"/>
              <a:buFont typeface="Calibri"/>
              <a:buNone/>
            </a:pPr>
            <a:r>
              <a:rPr b="0" i="1" lang="en-US" sz="1100" u="none" cap="none" strike="noStrike">
                <a:solidFill>
                  <a:srgbClr val="A8B5C2"/>
                </a:solidFill>
                <a:latin typeface="Calibri"/>
                <a:ea typeface="Calibri"/>
                <a:cs typeface="Calibri"/>
                <a:sym typeface="Calibri"/>
              </a:rPr>
              <a:t>10 min</a:t>
            </a:r>
            <a:endParaRPr b="0" i="0" sz="1100" u="none" cap="none" strike="noStrike">
              <a:solidFill>
                <a:schemeClr val="dk1"/>
              </a:solidFill>
              <a:latin typeface="Calibri"/>
              <a:ea typeface="Calibri"/>
              <a:cs typeface="Calibri"/>
              <a:sym typeface="Calibri"/>
            </a:endParaRPr>
          </a:p>
        </p:txBody>
      </p:sp>
      <p:sp>
        <p:nvSpPr>
          <p:cNvPr id="70" name="Google Shape;70;p4"/>
          <p:cNvSpPr/>
          <p:nvPr/>
        </p:nvSpPr>
        <p:spPr>
          <a:xfrm>
            <a:off x="5234940" y="3738753"/>
            <a:ext cx="533400" cy="980694"/>
          </a:xfrm>
          <a:prstGeom prst="rect">
            <a:avLst/>
          </a:prstGeom>
          <a:solidFill>
            <a:srgbClr val="0B2A45"/>
          </a:solidFill>
          <a:ln cap="flat" cmpd="sng" w="9525">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5234940" y="3787788"/>
            <a:ext cx="533400" cy="5884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2000"/>
              <a:buFont typeface="Calibri"/>
              <a:buNone/>
            </a:pPr>
            <a:r>
              <a:rPr b="1" i="0" lang="en-US" sz="2000" u="none" cap="none" strike="noStrike">
                <a:solidFill>
                  <a:srgbClr val="2BCFCF"/>
                </a:solidFill>
                <a:latin typeface="Calibri"/>
                <a:ea typeface="Calibri"/>
                <a:cs typeface="Calibri"/>
                <a:sym typeface="Calibri"/>
              </a:rPr>
              <a:t>95%</a:t>
            </a:r>
            <a:endParaRPr b="0" i="0" sz="2000" u="none" cap="none" strike="noStrike">
              <a:solidFill>
                <a:schemeClr val="dk1"/>
              </a:solidFill>
              <a:latin typeface="Calibri"/>
              <a:ea typeface="Calibri"/>
              <a:cs typeface="Calibri"/>
              <a:sym typeface="Calibri"/>
            </a:endParaRPr>
          </a:p>
        </p:txBody>
      </p:sp>
      <p:sp>
        <p:nvSpPr>
          <p:cNvPr id="72" name="Google Shape;72;p4"/>
          <p:cNvSpPr/>
          <p:nvPr/>
        </p:nvSpPr>
        <p:spPr>
          <a:xfrm>
            <a:off x="5234940" y="4376204"/>
            <a:ext cx="533400" cy="294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900"/>
              <a:buFont typeface="Calibri"/>
              <a:buNone/>
            </a:pPr>
            <a:r>
              <a:rPr b="0" i="0" lang="en-US" sz="900" u="sng" cap="none" strike="noStrike">
                <a:solidFill>
                  <a:srgbClr val="A8B5C2"/>
                </a:solidFill>
                <a:latin typeface="Calibri"/>
                <a:ea typeface="Calibri"/>
                <a:cs typeface="Calibri"/>
                <a:sym typeface="Calibri"/>
                <a:hlinkClick r:id="rId3"/>
              </a:rPr>
              <a:t>MIT</a:t>
            </a:r>
            <a:endParaRPr b="0" i="0" sz="900" u="none" cap="none" strike="noStrike">
              <a:solidFill>
                <a:schemeClr val="dk1"/>
              </a:solidFill>
              <a:latin typeface="Calibri"/>
              <a:ea typeface="Calibri"/>
              <a:cs typeface="Calibri"/>
              <a:sym typeface="Calibri"/>
            </a:endParaRPr>
          </a:p>
        </p:txBody>
      </p:sp>
      <p:sp>
        <p:nvSpPr>
          <p:cNvPr id="73" name="Google Shape;73;p4"/>
          <p:cNvSpPr/>
          <p:nvPr/>
        </p:nvSpPr>
        <p:spPr>
          <a:xfrm>
            <a:off x="5814060" y="3738753"/>
            <a:ext cx="533400" cy="980694"/>
          </a:xfrm>
          <a:prstGeom prst="rect">
            <a:avLst/>
          </a:prstGeom>
          <a:solidFill>
            <a:srgbClr val="0B2A45"/>
          </a:solidFill>
          <a:ln cap="flat" cmpd="sng" w="9525">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5814060" y="3787788"/>
            <a:ext cx="533400" cy="5884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2000"/>
              <a:buFont typeface="Calibri"/>
              <a:buNone/>
            </a:pPr>
            <a:r>
              <a:rPr b="1" i="0" lang="en-US" sz="2000" u="none" cap="none" strike="noStrike">
                <a:solidFill>
                  <a:srgbClr val="2BCFCF"/>
                </a:solidFill>
                <a:latin typeface="Calibri"/>
                <a:ea typeface="Calibri"/>
                <a:cs typeface="Calibri"/>
                <a:sym typeface="Calibri"/>
              </a:rPr>
              <a:t>42%</a:t>
            </a:r>
            <a:endParaRPr b="0" i="0" sz="2000" u="none" cap="none" strike="noStrike">
              <a:solidFill>
                <a:schemeClr val="dk1"/>
              </a:solidFill>
              <a:latin typeface="Calibri"/>
              <a:ea typeface="Calibri"/>
              <a:cs typeface="Calibri"/>
              <a:sym typeface="Calibri"/>
            </a:endParaRPr>
          </a:p>
        </p:txBody>
      </p:sp>
      <p:sp>
        <p:nvSpPr>
          <p:cNvPr id="75" name="Google Shape;75;p4"/>
          <p:cNvSpPr/>
          <p:nvPr/>
        </p:nvSpPr>
        <p:spPr>
          <a:xfrm>
            <a:off x="5814060" y="4376204"/>
            <a:ext cx="533400" cy="294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900"/>
              <a:buFont typeface="Calibri"/>
              <a:buNone/>
            </a:pPr>
            <a:r>
              <a:rPr b="0" i="0" lang="en-US" sz="900" u="sng" cap="none" strike="noStrike">
                <a:solidFill>
                  <a:srgbClr val="A8B5C2"/>
                </a:solidFill>
                <a:latin typeface="Calibri"/>
                <a:ea typeface="Calibri"/>
                <a:cs typeface="Calibri"/>
                <a:sym typeface="Calibri"/>
                <a:hlinkClick r:id="rId4"/>
              </a:rPr>
              <a:t>S&amp;P</a:t>
            </a:r>
            <a:endParaRPr b="0" i="0" sz="900" u="none" cap="none" strike="noStrike">
              <a:solidFill>
                <a:schemeClr val="dk1"/>
              </a:solidFill>
              <a:latin typeface="Calibri"/>
              <a:ea typeface="Calibri"/>
              <a:cs typeface="Calibri"/>
              <a:sym typeface="Calibri"/>
            </a:endParaRPr>
          </a:p>
        </p:txBody>
      </p:sp>
      <p:sp>
        <p:nvSpPr>
          <p:cNvPr id="76" name="Google Shape;76;p4"/>
          <p:cNvSpPr/>
          <p:nvPr/>
        </p:nvSpPr>
        <p:spPr>
          <a:xfrm>
            <a:off x="6393180" y="3738753"/>
            <a:ext cx="533400" cy="980694"/>
          </a:xfrm>
          <a:prstGeom prst="rect">
            <a:avLst/>
          </a:prstGeom>
          <a:solidFill>
            <a:srgbClr val="0B2A45"/>
          </a:solidFill>
          <a:ln cap="flat" cmpd="sng" w="9525">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6393180" y="3787788"/>
            <a:ext cx="533400" cy="5884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2000"/>
              <a:buFont typeface="Calibri"/>
              <a:buNone/>
            </a:pPr>
            <a:r>
              <a:rPr b="1" i="0" lang="en-US" sz="2000" u="none" cap="none" strike="noStrike">
                <a:solidFill>
                  <a:srgbClr val="2BCFCF"/>
                </a:solidFill>
                <a:latin typeface="Calibri"/>
                <a:ea typeface="Calibri"/>
                <a:cs typeface="Calibri"/>
                <a:sym typeface="Calibri"/>
              </a:rPr>
              <a:t>74%</a:t>
            </a:r>
            <a:endParaRPr b="0" i="0" sz="2000" u="none" cap="none" strike="noStrike">
              <a:solidFill>
                <a:schemeClr val="dk1"/>
              </a:solidFill>
              <a:latin typeface="Calibri"/>
              <a:ea typeface="Calibri"/>
              <a:cs typeface="Calibri"/>
              <a:sym typeface="Calibri"/>
            </a:endParaRPr>
          </a:p>
        </p:txBody>
      </p:sp>
      <p:sp>
        <p:nvSpPr>
          <p:cNvPr id="78" name="Google Shape;78;p4"/>
          <p:cNvSpPr/>
          <p:nvPr/>
        </p:nvSpPr>
        <p:spPr>
          <a:xfrm>
            <a:off x="6393180" y="4376204"/>
            <a:ext cx="533400" cy="294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900"/>
              <a:buFont typeface="Calibri"/>
              <a:buNone/>
            </a:pPr>
            <a:r>
              <a:rPr b="0" i="0" lang="en-US" sz="900" u="sng" cap="none" strike="noStrike">
                <a:solidFill>
                  <a:srgbClr val="A8B5C2"/>
                </a:solidFill>
                <a:latin typeface="Calibri"/>
                <a:ea typeface="Calibri"/>
                <a:cs typeface="Calibri"/>
                <a:sym typeface="Calibri"/>
                <a:hlinkClick r:id="rId5"/>
              </a:rPr>
              <a:t>PwC</a:t>
            </a:r>
            <a:endParaRPr b="0" i="0" sz="900" u="none" cap="none" strike="noStrike">
              <a:solidFill>
                <a:schemeClr val="dk1"/>
              </a:solidFill>
              <a:latin typeface="Calibri"/>
              <a:ea typeface="Calibri"/>
              <a:cs typeface="Calibri"/>
              <a:sym typeface="Calibri"/>
            </a:endParaRPr>
          </a:p>
        </p:txBody>
      </p:sp>
      <p:sp>
        <p:nvSpPr>
          <p:cNvPr id="79" name="Google Shape;79;p4"/>
          <p:cNvSpPr/>
          <p:nvPr/>
        </p:nvSpPr>
        <p:spPr>
          <a:xfrm>
            <a:off x="5248656" y="5257800"/>
            <a:ext cx="166420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300"/>
              <a:buFont typeface="Calibri"/>
              <a:buNone/>
            </a:pPr>
            <a:r>
              <a:rPr b="1" i="0" lang="en-US" sz="1300" u="none" cap="none" strike="noStrike">
                <a:solidFill>
                  <a:srgbClr val="F1F0EE"/>
                </a:solidFill>
                <a:latin typeface="Calibri"/>
                <a:ea typeface="Calibri"/>
                <a:cs typeface="Calibri"/>
                <a:sym typeface="Calibri"/>
              </a:rPr>
              <a:t>RESEARCHED</a:t>
            </a:r>
            <a:endParaRPr b="0" i="0" sz="1300" u="none" cap="none" strike="noStrike">
              <a:solidFill>
                <a:schemeClr val="dk1"/>
              </a:solidFill>
              <a:latin typeface="Calibri"/>
              <a:ea typeface="Calibri"/>
              <a:cs typeface="Calibri"/>
              <a:sym typeface="Calibri"/>
            </a:endParaRPr>
          </a:p>
        </p:txBody>
      </p:sp>
      <p:sp>
        <p:nvSpPr>
          <p:cNvPr id="80" name="Google Shape;80;p4"/>
          <p:cNvSpPr/>
          <p:nvPr/>
        </p:nvSpPr>
        <p:spPr>
          <a:xfrm>
            <a:off x="7278624" y="2743200"/>
            <a:ext cx="2029968" cy="301752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7461504" y="2880360"/>
            <a:ext cx="16642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800"/>
              <a:buFont typeface="Calibri"/>
              <a:buNone/>
            </a:pPr>
            <a:r>
              <a:rPr b="1" i="0" lang="en-US" sz="1800" u="none" cap="none" strike="noStrike">
                <a:solidFill>
                  <a:srgbClr val="2BCFCF"/>
                </a:solidFill>
                <a:latin typeface="Calibri"/>
                <a:ea typeface="Calibri"/>
                <a:cs typeface="Calibri"/>
                <a:sym typeface="Calibri"/>
              </a:rPr>
              <a:t>04</a:t>
            </a:r>
            <a:endParaRPr b="0" i="0" sz="1800" u="none" cap="none" strike="noStrike">
              <a:solidFill>
                <a:schemeClr val="dk1"/>
              </a:solidFill>
              <a:latin typeface="Calibri"/>
              <a:ea typeface="Calibri"/>
              <a:cs typeface="Calibri"/>
              <a:sym typeface="Calibri"/>
            </a:endParaRPr>
          </a:p>
        </p:txBody>
      </p:sp>
      <p:sp>
        <p:nvSpPr>
          <p:cNvPr id="82" name="Google Shape;82;p4"/>
          <p:cNvSpPr/>
          <p:nvPr/>
        </p:nvSpPr>
        <p:spPr>
          <a:xfrm>
            <a:off x="7461504" y="2944368"/>
            <a:ext cx="166420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100"/>
              <a:buFont typeface="Calibri"/>
              <a:buNone/>
            </a:pPr>
            <a:r>
              <a:rPr b="0" i="1" lang="en-US" sz="1100" u="none" cap="none" strike="noStrike">
                <a:solidFill>
                  <a:srgbClr val="A8B5C2"/>
                </a:solidFill>
                <a:latin typeface="Calibri"/>
                <a:ea typeface="Calibri"/>
                <a:cs typeface="Calibri"/>
                <a:sym typeface="Calibri"/>
              </a:rPr>
              <a:t>1 hour</a:t>
            </a:r>
            <a:endParaRPr b="0" i="0" sz="1100" u="none" cap="none" strike="noStrike">
              <a:solidFill>
                <a:schemeClr val="dk1"/>
              </a:solidFill>
              <a:latin typeface="Calibri"/>
              <a:ea typeface="Calibri"/>
              <a:cs typeface="Calibri"/>
              <a:sym typeface="Calibri"/>
            </a:endParaRPr>
          </a:p>
        </p:txBody>
      </p:sp>
      <p:sp>
        <p:nvSpPr>
          <p:cNvPr id="83" name="Google Shape;83;p4"/>
          <p:cNvSpPr/>
          <p:nvPr/>
        </p:nvSpPr>
        <p:spPr>
          <a:xfrm>
            <a:off x="7607808" y="3497580"/>
            <a:ext cx="649224" cy="694944"/>
          </a:xfrm>
          <a:prstGeom prst="rect">
            <a:avLst/>
          </a:prstGeom>
          <a:solidFill>
            <a:srgbClr val="0B2A45"/>
          </a:solidFill>
          <a:ln cap="flat" cmpd="sng" w="1905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7662672" y="3570732"/>
            <a:ext cx="357073" cy="54864"/>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7662672" y="3698748"/>
            <a:ext cx="454457"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7662672" y="3781044"/>
            <a:ext cx="376550"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7662672" y="3863340"/>
            <a:ext cx="298643"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8330184" y="3497580"/>
            <a:ext cx="649224" cy="694944"/>
          </a:xfrm>
          <a:prstGeom prst="rect">
            <a:avLst/>
          </a:prstGeom>
          <a:solidFill>
            <a:srgbClr val="0B2A45"/>
          </a:solidFill>
          <a:ln cap="flat" cmpd="sng" w="952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8385048" y="3570732"/>
            <a:ext cx="357073" cy="54864"/>
          </a:xfrm>
          <a:prstGeom prst="rect">
            <a:avLst/>
          </a:prstGeom>
          <a:solidFill>
            <a:srgbClr val="F1F0EE"/>
          </a:solidFill>
          <a:ln cap="flat" cmpd="sng" w="12700">
            <a:solidFill>
              <a:srgbClr val="F1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8385048" y="3698748"/>
            <a:ext cx="454457"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8385048" y="3781044"/>
            <a:ext cx="376550"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8385048" y="3863340"/>
            <a:ext cx="298643"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7607808" y="4265676"/>
            <a:ext cx="649224" cy="694944"/>
          </a:xfrm>
          <a:prstGeom prst="rect">
            <a:avLst/>
          </a:prstGeom>
          <a:solidFill>
            <a:srgbClr val="0B2A45"/>
          </a:solidFill>
          <a:ln cap="flat" cmpd="sng" w="952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7662672" y="4338828"/>
            <a:ext cx="357073" cy="54864"/>
          </a:xfrm>
          <a:prstGeom prst="rect">
            <a:avLst/>
          </a:prstGeom>
          <a:solidFill>
            <a:srgbClr val="F1F0EE"/>
          </a:solidFill>
          <a:ln cap="flat" cmpd="sng" w="12700">
            <a:solidFill>
              <a:srgbClr val="F1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7662672" y="4466844"/>
            <a:ext cx="454457"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7662672" y="4549140"/>
            <a:ext cx="376550"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7662672" y="4631436"/>
            <a:ext cx="298643"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8330184" y="4265676"/>
            <a:ext cx="649224" cy="694944"/>
          </a:xfrm>
          <a:prstGeom prst="rect">
            <a:avLst/>
          </a:prstGeom>
          <a:solidFill>
            <a:srgbClr val="0B2A45"/>
          </a:solidFill>
          <a:ln cap="flat" cmpd="sng" w="952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8385048" y="4338828"/>
            <a:ext cx="357073" cy="54864"/>
          </a:xfrm>
          <a:prstGeom prst="rect">
            <a:avLst/>
          </a:prstGeom>
          <a:solidFill>
            <a:srgbClr val="F1F0EE"/>
          </a:solidFill>
          <a:ln cap="flat" cmpd="sng" w="12700">
            <a:solidFill>
              <a:srgbClr val="F1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8385048" y="4466844"/>
            <a:ext cx="454457"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8385048" y="4549140"/>
            <a:ext cx="376550"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8385048" y="4631436"/>
            <a:ext cx="298643"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7461504" y="5257800"/>
            <a:ext cx="166420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300"/>
              <a:buFont typeface="Calibri"/>
              <a:buNone/>
            </a:pPr>
            <a:r>
              <a:rPr b="1" i="0" lang="en-US" sz="1300" u="none" cap="none" strike="noStrike">
                <a:solidFill>
                  <a:srgbClr val="F1F0EE"/>
                </a:solidFill>
                <a:latin typeface="Calibri"/>
                <a:ea typeface="Calibri"/>
                <a:cs typeface="Calibri"/>
                <a:sym typeface="Calibri"/>
              </a:rPr>
              <a:t>DESIGNED</a:t>
            </a:r>
            <a:endParaRPr b="0" i="0" sz="1300" u="none" cap="none" strike="noStrike">
              <a:solidFill>
                <a:schemeClr val="dk1"/>
              </a:solidFill>
              <a:latin typeface="Calibri"/>
              <a:ea typeface="Calibri"/>
              <a:cs typeface="Calibri"/>
              <a:sym typeface="Calibri"/>
            </a:endParaRPr>
          </a:p>
        </p:txBody>
      </p:sp>
      <p:sp>
        <p:nvSpPr>
          <p:cNvPr id="104" name="Google Shape;104;p4"/>
          <p:cNvSpPr/>
          <p:nvPr/>
        </p:nvSpPr>
        <p:spPr>
          <a:xfrm>
            <a:off x="9491472" y="2743200"/>
            <a:ext cx="2029968" cy="301752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9674352" y="2880360"/>
            <a:ext cx="16642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800"/>
              <a:buFont typeface="Calibri"/>
              <a:buNone/>
            </a:pPr>
            <a:r>
              <a:rPr b="1" i="0" lang="en-US" sz="1800" u="none" cap="none" strike="noStrike">
                <a:solidFill>
                  <a:srgbClr val="2BCFCF"/>
                </a:solidFill>
                <a:latin typeface="Calibri"/>
                <a:ea typeface="Calibri"/>
                <a:cs typeface="Calibri"/>
                <a:sym typeface="Calibri"/>
              </a:rPr>
              <a:t>05</a:t>
            </a:r>
            <a:endParaRPr b="0" i="0" sz="1800" u="none" cap="none" strike="noStrike">
              <a:solidFill>
                <a:schemeClr val="dk1"/>
              </a:solidFill>
              <a:latin typeface="Calibri"/>
              <a:ea typeface="Calibri"/>
              <a:cs typeface="Calibri"/>
              <a:sym typeface="Calibri"/>
            </a:endParaRPr>
          </a:p>
        </p:txBody>
      </p:sp>
      <p:sp>
        <p:nvSpPr>
          <p:cNvPr id="106" name="Google Shape;106;p4"/>
          <p:cNvSpPr/>
          <p:nvPr/>
        </p:nvSpPr>
        <p:spPr>
          <a:xfrm>
            <a:off x="9674352" y="2944368"/>
            <a:ext cx="166420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100"/>
              <a:buFont typeface="Calibri"/>
              <a:buNone/>
            </a:pPr>
            <a:r>
              <a:rPr b="0" i="1" lang="en-US" sz="1100" u="none" cap="none" strike="noStrike">
                <a:solidFill>
                  <a:srgbClr val="A8B5C2"/>
                </a:solidFill>
                <a:latin typeface="Calibri"/>
                <a:ea typeface="Calibri"/>
                <a:cs typeface="Calibri"/>
                <a:sym typeface="Calibri"/>
              </a:rPr>
              <a:t>30 min</a:t>
            </a:r>
            <a:endParaRPr b="0" i="0" sz="1100" u="none" cap="none" strike="noStrike">
              <a:solidFill>
                <a:schemeClr val="dk1"/>
              </a:solidFill>
              <a:latin typeface="Calibri"/>
              <a:ea typeface="Calibri"/>
              <a:cs typeface="Calibri"/>
              <a:sym typeface="Calibri"/>
            </a:endParaRPr>
          </a:p>
        </p:txBody>
      </p:sp>
      <p:sp>
        <p:nvSpPr>
          <p:cNvPr id="107" name="Google Shape;107;p4"/>
          <p:cNvSpPr/>
          <p:nvPr/>
        </p:nvSpPr>
        <p:spPr>
          <a:xfrm>
            <a:off x="9660636" y="3497580"/>
            <a:ext cx="1691640" cy="1463040"/>
          </a:xfrm>
          <a:prstGeom prst="rect">
            <a:avLst/>
          </a:prstGeom>
          <a:solidFill>
            <a:srgbClr val="0B2A45"/>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9660636" y="3497580"/>
            <a:ext cx="1691640" cy="2286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9715500" y="3577590"/>
            <a:ext cx="68580" cy="68580"/>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9816084" y="3577590"/>
            <a:ext cx="68580" cy="68580"/>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9916668" y="3577590"/>
            <a:ext cx="68580" cy="68580"/>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10072116" y="3543300"/>
            <a:ext cx="1234440" cy="137160"/>
          </a:xfrm>
          <a:prstGeom prst="roundRect">
            <a:avLst>
              <a:gd fmla="val 26667" name="adj"/>
            </a:avLst>
          </a:prstGeom>
          <a:solidFill>
            <a:srgbClr val="0B2A45"/>
          </a:solidFill>
          <a:ln cap="flat" cmpd="sng" w="952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0117836" y="3543300"/>
            <a:ext cx="11430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800"/>
              <a:buFont typeface="Calibri"/>
              <a:buNone/>
            </a:pPr>
            <a:r>
              <a:rPr b="1" i="0" lang="en-US" sz="800" u="none" cap="none" strike="noStrike">
                <a:solidFill>
                  <a:srgbClr val="2BCFCF"/>
                </a:solidFill>
                <a:latin typeface="Calibri"/>
                <a:ea typeface="Calibri"/>
                <a:cs typeface="Calibri"/>
                <a:sym typeface="Calibri"/>
              </a:rPr>
              <a:t>wedoai.com.au</a:t>
            </a:r>
            <a:endParaRPr b="0" i="0" sz="800" u="none" cap="none" strike="noStrike">
              <a:solidFill>
                <a:schemeClr val="dk1"/>
              </a:solidFill>
              <a:latin typeface="Calibri"/>
              <a:ea typeface="Calibri"/>
              <a:cs typeface="Calibri"/>
              <a:sym typeface="Calibri"/>
            </a:endParaRPr>
          </a:p>
        </p:txBody>
      </p:sp>
      <p:sp>
        <p:nvSpPr>
          <p:cNvPr id="114" name="Google Shape;114;p4"/>
          <p:cNvSpPr/>
          <p:nvPr/>
        </p:nvSpPr>
        <p:spPr>
          <a:xfrm>
            <a:off x="9770364" y="3799332"/>
            <a:ext cx="930402" cy="91440"/>
          </a:xfrm>
          <a:prstGeom prst="rect">
            <a:avLst/>
          </a:prstGeom>
          <a:solidFill>
            <a:srgbClr val="F1F0EE"/>
          </a:solidFill>
          <a:ln cap="flat" cmpd="sng" w="12700">
            <a:solidFill>
              <a:srgbClr val="F1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9770364" y="3936492"/>
            <a:ext cx="676656" cy="36576"/>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9770364" y="4055364"/>
            <a:ext cx="454152" cy="4114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9770364" y="4055364"/>
            <a:ext cx="181661" cy="36576"/>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10279380" y="4055364"/>
            <a:ext cx="454152" cy="4114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10279380" y="4055364"/>
            <a:ext cx="181661" cy="36576"/>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10788396" y="4055364"/>
            <a:ext cx="454152" cy="4114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10788396" y="4055364"/>
            <a:ext cx="181661" cy="36576"/>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9674352" y="5257800"/>
            <a:ext cx="166420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300"/>
              <a:buFont typeface="Calibri"/>
              <a:buNone/>
            </a:pPr>
            <a:r>
              <a:rPr b="1" i="0" lang="en-US" sz="1300" u="none" cap="none" strike="noStrike">
                <a:solidFill>
                  <a:srgbClr val="F1F0EE"/>
                </a:solidFill>
                <a:latin typeface="Calibri"/>
                <a:ea typeface="Calibri"/>
                <a:cs typeface="Calibri"/>
                <a:sym typeface="Calibri"/>
              </a:rPr>
              <a:t>SHIPPED</a:t>
            </a:r>
            <a:endParaRPr b="0" i="0" sz="1300" u="none" cap="none" strike="noStrike">
              <a:solidFill>
                <a:schemeClr val="dk1"/>
              </a:solidFill>
              <a:latin typeface="Calibri"/>
              <a:ea typeface="Calibri"/>
              <a:cs typeface="Calibri"/>
              <a:sym typeface="Calibri"/>
            </a:endParaRPr>
          </a:p>
        </p:txBody>
      </p:sp>
      <p:sp>
        <p:nvSpPr>
          <p:cNvPr id="123" name="Google Shape;123;p4"/>
          <p:cNvSpPr/>
          <p:nvPr/>
        </p:nvSpPr>
        <p:spPr>
          <a:xfrm>
            <a:off x="640080" y="6035040"/>
            <a:ext cx="108813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1600"/>
              <a:buFont typeface="Calibri"/>
              <a:buNone/>
            </a:pPr>
            <a:r>
              <a:rPr b="0" i="1" lang="en-US" sz="1600" u="none" cap="none" strike="noStrike">
                <a:solidFill>
                  <a:srgbClr val="2BCFCF"/>
                </a:solidFill>
                <a:latin typeface="Calibri"/>
                <a:ea typeface="Calibri"/>
                <a:cs typeface="Calibri"/>
                <a:sym typeface="Calibri"/>
              </a:rPr>
              <a:t>Easy for one person with AI agents. Hard at enterprise scale. That gap is what this talk is about.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128" name="Shape 128"/>
        <p:cNvGrpSpPr/>
        <p:nvPr/>
      </p:nvGrpSpPr>
      <p:grpSpPr>
        <a:xfrm>
          <a:off x="0" y="0"/>
          <a:ext cx="0" cy="0"/>
          <a:chOff x="0" y="0"/>
          <a:chExt cx="0" cy="0"/>
        </a:xfrm>
      </p:grpSpPr>
      <p:sp>
        <p:nvSpPr>
          <p:cNvPr id="129" name="Google Shape;129;p5"/>
          <p:cNvSpPr/>
          <p:nvPr/>
        </p:nvSpPr>
        <p:spPr>
          <a:xfrm>
            <a:off x="640080" y="1280160"/>
            <a:ext cx="2743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2800"/>
              <a:buFont typeface="Calibri"/>
              <a:buNone/>
            </a:pPr>
            <a:r>
              <a:rPr b="1" i="0" lang="en-US" sz="2800" u="none" cap="none" strike="noStrike">
                <a:solidFill>
                  <a:srgbClr val="A8B5C2"/>
                </a:solidFill>
                <a:latin typeface="Calibri"/>
                <a:ea typeface="Calibri"/>
                <a:cs typeface="Calibri"/>
                <a:sym typeface="Calibri"/>
              </a:rPr>
              <a:t>01</a:t>
            </a:r>
            <a:endParaRPr b="0" i="0" sz="2800" u="none" cap="none" strike="noStrike">
              <a:solidFill>
                <a:schemeClr val="dk1"/>
              </a:solidFill>
              <a:latin typeface="Calibri"/>
              <a:ea typeface="Calibri"/>
              <a:cs typeface="Calibri"/>
              <a:sym typeface="Calibri"/>
            </a:endParaRPr>
          </a:p>
        </p:txBody>
      </p:sp>
      <p:sp>
        <p:nvSpPr>
          <p:cNvPr id="130" name="Google Shape;130;p5"/>
          <p:cNvSpPr/>
          <p:nvPr/>
        </p:nvSpPr>
        <p:spPr>
          <a:xfrm>
            <a:off x="640080" y="2286000"/>
            <a:ext cx="1088136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7000"/>
              <a:buFont typeface="Calibri"/>
              <a:buNone/>
            </a:pPr>
            <a:r>
              <a:rPr b="1" i="0" lang="en-US" sz="7000" u="none" cap="none" strike="noStrike">
                <a:solidFill>
                  <a:srgbClr val="F1F0EE"/>
                </a:solidFill>
                <a:latin typeface="Calibri"/>
                <a:ea typeface="Calibri"/>
                <a:cs typeface="Calibri"/>
                <a:sym typeface="Calibri"/>
              </a:rPr>
              <a:t xml:space="preserve">What is the actual </a:t>
            </a:r>
            <a:r>
              <a:rPr b="1" i="0" lang="en-US" sz="7000" u="none" cap="none" strike="noStrike">
                <a:solidFill>
                  <a:srgbClr val="2BCFCF"/>
                </a:solidFill>
                <a:latin typeface="Calibri"/>
                <a:ea typeface="Calibri"/>
                <a:cs typeface="Calibri"/>
                <a:sym typeface="Calibri"/>
              </a:rPr>
              <a:t>problem</a:t>
            </a:r>
            <a:r>
              <a:rPr b="1" i="0" lang="en-US" sz="7000" u="none" cap="none" strike="noStrike">
                <a:solidFill>
                  <a:srgbClr val="F1F0EE"/>
                </a:solidFill>
                <a:latin typeface="Calibri"/>
                <a:ea typeface="Calibri"/>
                <a:cs typeface="Calibri"/>
                <a:sym typeface="Calibri"/>
              </a:rPr>
              <a:t>?</a:t>
            </a:r>
            <a:endParaRPr b="0" i="0" sz="7000" u="none" cap="none" strike="noStrike">
              <a:solidFill>
                <a:schemeClr val="dk1"/>
              </a:solidFill>
              <a:latin typeface="Calibri"/>
              <a:ea typeface="Calibri"/>
              <a:cs typeface="Calibri"/>
              <a:sym typeface="Calibri"/>
            </a:endParaRPr>
          </a:p>
        </p:txBody>
      </p:sp>
      <p:sp>
        <p:nvSpPr>
          <p:cNvPr id="131" name="Google Shape;131;p5"/>
          <p:cNvSpPr/>
          <p:nvPr/>
        </p:nvSpPr>
        <p:spPr>
          <a:xfrm>
            <a:off x="640080" y="4206240"/>
            <a:ext cx="94183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B5C2"/>
              </a:buClr>
              <a:buSzPts val="2200"/>
              <a:buFont typeface="Calibri"/>
              <a:buNone/>
            </a:pPr>
            <a:r>
              <a:rPr b="0" i="1" lang="en-US" sz="2200" u="none" cap="none" strike="noStrike">
                <a:solidFill>
                  <a:srgbClr val="A8B5C2"/>
                </a:solidFill>
                <a:latin typeface="Calibri"/>
                <a:ea typeface="Calibri"/>
                <a:cs typeface="Calibri"/>
                <a:sym typeface="Calibri"/>
              </a:rPr>
              <a:t>Every week someone pitches you AI. The challenge is no longer awareness. It is calibration.</a:t>
            </a:r>
            <a:endParaRPr b="0" i="0" sz="2200" u="none" cap="none" strike="noStrike">
              <a:solidFill>
                <a:schemeClr val="dk1"/>
              </a:solidFill>
              <a:latin typeface="Calibri"/>
              <a:ea typeface="Calibri"/>
              <a:cs typeface="Calibri"/>
              <a:sym typeface="Calibri"/>
            </a:endParaRPr>
          </a:p>
        </p:txBody>
      </p:sp>
      <p:sp>
        <p:nvSpPr>
          <p:cNvPr id="132" name="Google Shape;132;p5"/>
          <p:cNvSpPr/>
          <p:nvPr/>
        </p:nvSpPr>
        <p:spPr>
          <a:xfrm>
            <a:off x="10698480" y="603504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1" i="0" lang="en-US" sz="1600" u="none" cap="none" strike="noStrike">
                <a:solidFill>
                  <a:srgbClr val="F1F0EE"/>
                </a:solidFill>
                <a:latin typeface="Calibri"/>
                <a:ea typeface="Calibri"/>
                <a:cs typeface="Calibri"/>
                <a:sym typeface="Calibri"/>
              </a:rPr>
              <a:t>WeDo</a:t>
            </a:r>
            <a:r>
              <a:rPr b="1" i="0" lang="en-US" sz="1600" u="none" cap="none" strike="noStrike">
                <a:solidFill>
                  <a:srgbClr val="2BCFCF"/>
                </a:solidFill>
                <a:latin typeface="Calibri"/>
                <a:ea typeface="Calibri"/>
                <a:cs typeface="Calibri"/>
                <a:sym typeface="Calibri"/>
              </a:rPr>
              <a:t>AI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137" name="Shape 137"/>
        <p:cNvGrpSpPr/>
        <p:nvPr/>
      </p:nvGrpSpPr>
      <p:grpSpPr>
        <a:xfrm>
          <a:off x="0" y="0"/>
          <a:ext cx="0" cy="0"/>
          <a:chOff x="0" y="0"/>
          <a:chExt cx="0" cy="0"/>
        </a:xfrm>
      </p:grpSpPr>
      <p:sp>
        <p:nvSpPr>
          <p:cNvPr id="138" name="Google Shape;138;p6"/>
          <p:cNvSpPr/>
          <p:nvPr/>
        </p:nvSpPr>
        <p:spPr>
          <a:xfrm>
            <a:off x="640080" y="45720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3200"/>
              <a:buFont typeface="Calibri"/>
              <a:buNone/>
            </a:pPr>
            <a:r>
              <a:rPr b="1" i="0" lang="en-US" sz="3200" u="none" cap="none" strike="noStrike">
                <a:solidFill>
                  <a:srgbClr val="F1F0EE"/>
                </a:solidFill>
                <a:latin typeface="Calibri"/>
                <a:ea typeface="Calibri"/>
                <a:cs typeface="Calibri"/>
                <a:sym typeface="Calibri"/>
              </a:rPr>
              <a:t>You are not short on AI. You are short on signal.</a:t>
            </a:r>
            <a:endParaRPr b="0" i="0" sz="3200" u="none" cap="none" strike="noStrike">
              <a:solidFill>
                <a:schemeClr val="dk1"/>
              </a:solidFill>
              <a:latin typeface="Calibri"/>
              <a:ea typeface="Calibri"/>
              <a:cs typeface="Calibri"/>
              <a:sym typeface="Calibri"/>
            </a:endParaRPr>
          </a:p>
        </p:txBody>
      </p:sp>
      <p:sp>
        <p:nvSpPr>
          <p:cNvPr id="139" name="Google Shape;139;p6"/>
          <p:cNvSpPr/>
          <p:nvPr/>
        </p:nvSpPr>
        <p:spPr>
          <a:xfrm>
            <a:off x="640075" y="2423189"/>
            <a:ext cx="5852100" cy="288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rgbClr val="F1F0EE"/>
                </a:solidFill>
                <a:latin typeface="Calibri"/>
                <a:ea typeface="Calibri"/>
                <a:cs typeface="Calibri"/>
                <a:sym typeface="Calibri"/>
              </a:rPr>
              <a:t>You hear about AI from vendors, your team, your peers, your board, your kids.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None/>
            </a:pPr>
            <a:r>
              <a:rPr b="0" i="0" lang="en-US" sz="2000" u="none" cap="none" strike="noStrike">
                <a:solidFill>
                  <a:srgbClr val="F1F0EE"/>
                </a:solidFill>
                <a:latin typeface="Calibri"/>
                <a:ea typeface="Calibri"/>
                <a:cs typeface="Calibri"/>
                <a:sym typeface="Calibri"/>
              </a:rPr>
              <a:t>The capability is rea</a:t>
            </a:r>
            <a:r>
              <a:rPr lang="en-US" sz="2000">
                <a:solidFill>
                  <a:srgbClr val="F1F0EE"/>
                </a:solidFill>
                <a:latin typeface="Calibri"/>
                <a:ea typeface="Calibri"/>
                <a:cs typeface="Calibri"/>
                <a:sym typeface="Calibri"/>
              </a:rPr>
              <a:t>l</a:t>
            </a:r>
            <a:r>
              <a:rPr b="0" i="0" lang="en-US" sz="2000" u="none" cap="none" strike="noStrike">
                <a:solidFill>
                  <a:srgbClr val="F1F0EE"/>
                </a:solidFill>
                <a:latin typeface="Calibri"/>
                <a:ea typeface="Calibri"/>
                <a:cs typeface="Calibri"/>
                <a:sym typeface="Calibri"/>
              </a:rPr>
              <a:t>. The demos are real.</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None/>
            </a:pPr>
            <a:r>
              <a:rPr b="0" i="0" lang="en-US" sz="2000" u="none" cap="none" strike="noStrike">
                <a:solidFill>
                  <a:srgbClr val="F1F0EE"/>
                </a:solidFill>
                <a:latin typeface="Calibri"/>
                <a:ea typeface="Calibri"/>
                <a:cs typeface="Calibri"/>
                <a:sym typeface="Calibri"/>
              </a:rPr>
              <a:t>Most enterprise AI projects do not move the P&amp;L.</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None/>
            </a:pPr>
            <a:r>
              <a:rPr b="0" i="0" lang="en-US" sz="2000" u="none" cap="none" strike="noStrike">
                <a:solidFill>
                  <a:srgbClr val="F1F0EE"/>
                </a:solidFill>
                <a:latin typeface="Calibri"/>
                <a:ea typeface="Calibri"/>
                <a:cs typeface="Calibri"/>
                <a:sym typeface="Calibri"/>
              </a:rPr>
              <a:t>You do not need to become a technologist. You need a way to tell signal from noise.</a:t>
            </a:r>
            <a:endParaRPr b="0" i="0" sz="2000" u="none" cap="none" strike="noStrike">
              <a:solidFill>
                <a:schemeClr val="dk1"/>
              </a:solidFill>
              <a:latin typeface="Calibri"/>
              <a:ea typeface="Calibri"/>
              <a:cs typeface="Calibri"/>
              <a:sym typeface="Calibri"/>
            </a:endParaRPr>
          </a:p>
        </p:txBody>
      </p:sp>
      <p:sp>
        <p:nvSpPr>
          <p:cNvPr id="140" name="Google Shape;140;p6"/>
          <p:cNvSpPr/>
          <p:nvPr/>
        </p:nvSpPr>
        <p:spPr>
          <a:xfrm>
            <a:off x="6858000" y="1554480"/>
            <a:ext cx="4754880" cy="13716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6995160" y="1691640"/>
            <a:ext cx="155448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5000"/>
              <a:buFont typeface="Calibri"/>
              <a:buNone/>
            </a:pPr>
            <a:r>
              <a:rPr b="1" i="0" lang="en-US" sz="5000" u="none" cap="none" strike="noStrike">
                <a:solidFill>
                  <a:srgbClr val="2BCFCF"/>
                </a:solidFill>
                <a:latin typeface="Calibri"/>
                <a:ea typeface="Calibri"/>
                <a:cs typeface="Calibri"/>
                <a:sym typeface="Calibri"/>
              </a:rPr>
              <a:t>95%</a:t>
            </a:r>
            <a:endParaRPr b="0" i="0" sz="5000" u="none" cap="none" strike="noStrike">
              <a:solidFill>
                <a:schemeClr val="dk1"/>
              </a:solidFill>
              <a:latin typeface="Calibri"/>
              <a:ea typeface="Calibri"/>
              <a:cs typeface="Calibri"/>
              <a:sym typeface="Calibri"/>
            </a:endParaRPr>
          </a:p>
        </p:txBody>
      </p:sp>
      <p:sp>
        <p:nvSpPr>
          <p:cNvPr id="142" name="Google Shape;142;p6"/>
          <p:cNvSpPr/>
          <p:nvPr/>
        </p:nvSpPr>
        <p:spPr>
          <a:xfrm>
            <a:off x="8641080" y="1737360"/>
            <a:ext cx="2834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300"/>
              <a:buFont typeface="Calibri"/>
              <a:buNone/>
            </a:pPr>
            <a:r>
              <a:rPr b="0" i="0" lang="en-US" sz="1300" u="none" cap="none" strike="noStrike">
                <a:solidFill>
                  <a:srgbClr val="F1F0EE"/>
                </a:solidFill>
                <a:latin typeface="Calibri"/>
                <a:ea typeface="Calibri"/>
                <a:cs typeface="Calibri"/>
                <a:sym typeface="Calibri"/>
              </a:rPr>
              <a:t>of GenAI pilots fail to scale</a:t>
            </a:r>
            <a:endParaRPr b="0" i="0" sz="1300" u="none" cap="none" strike="noStrike">
              <a:solidFill>
                <a:schemeClr val="dk1"/>
              </a:solidFill>
              <a:latin typeface="Calibri"/>
              <a:ea typeface="Calibri"/>
              <a:cs typeface="Calibri"/>
              <a:sym typeface="Calibri"/>
            </a:endParaRPr>
          </a:p>
        </p:txBody>
      </p:sp>
      <p:sp>
        <p:nvSpPr>
          <p:cNvPr id="143" name="Google Shape;143;p6"/>
          <p:cNvSpPr/>
          <p:nvPr/>
        </p:nvSpPr>
        <p:spPr>
          <a:xfrm>
            <a:off x="8641080" y="251460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900"/>
              <a:buFont typeface="Calibri"/>
              <a:buNone/>
            </a:pPr>
            <a:r>
              <a:rPr b="0" i="1" lang="en-US" sz="900" u="sng" cap="none" strike="noStrike">
                <a:solidFill>
                  <a:srgbClr val="A8B5C2"/>
                </a:solidFill>
                <a:latin typeface="Calibri"/>
                <a:ea typeface="Calibri"/>
                <a:cs typeface="Calibri"/>
                <a:sym typeface="Calibri"/>
                <a:hlinkClick r:id="rId3"/>
              </a:rPr>
              <a:t>MIT, 2025</a:t>
            </a:r>
            <a:endParaRPr b="0" i="0" sz="900" u="none" cap="none" strike="noStrike">
              <a:solidFill>
                <a:schemeClr val="dk1"/>
              </a:solidFill>
              <a:latin typeface="Calibri"/>
              <a:ea typeface="Calibri"/>
              <a:cs typeface="Calibri"/>
              <a:sym typeface="Calibri"/>
            </a:endParaRPr>
          </a:p>
        </p:txBody>
      </p:sp>
      <p:sp>
        <p:nvSpPr>
          <p:cNvPr id="144" name="Google Shape;144;p6"/>
          <p:cNvSpPr/>
          <p:nvPr/>
        </p:nvSpPr>
        <p:spPr>
          <a:xfrm>
            <a:off x="6858000" y="3108960"/>
            <a:ext cx="4754880" cy="13716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6995160" y="3246120"/>
            <a:ext cx="155448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5000"/>
              <a:buFont typeface="Calibri"/>
              <a:buNone/>
            </a:pPr>
            <a:r>
              <a:rPr b="1" i="0" lang="en-US" sz="5000" u="none" cap="none" strike="noStrike">
                <a:solidFill>
                  <a:srgbClr val="2BCFCF"/>
                </a:solidFill>
                <a:latin typeface="Calibri"/>
                <a:ea typeface="Calibri"/>
                <a:cs typeface="Calibri"/>
                <a:sym typeface="Calibri"/>
              </a:rPr>
              <a:t>42%</a:t>
            </a:r>
            <a:endParaRPr b="0" i="0" sz="5000" u="none" cap="none" strike="noStrike">
              <a:solidFill>
                <a:schemeClr val="dk1"/>
              </a:solidFill>
              <a:latin typeface="Calibri"/>
              <a:ea typeface="Calibri"/>
              <a:cs typeface="Calibri"/>
              <a:sym typeface="Calibri"/>
            </a:endParaRPr>
          </a:p>
        </p:txBody>
      </p:sp>
      <p:sp>
        <p:nvSpPr>
          <p:cNvPr id="146" name="Google Shape;146;p6"/>
          <p:cNvSpPr/>
          <p:nvPr/>
        </p:nvSpPr>
        <p:spPr>
          <a:xfrm>
            <a:off x="8641080" y="3291840"/>
            <a:ext cx="2834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300"/>
              <a:buFont typeface="Calibri"/>
              <a:buNone/>
            </a:pPr>
            <a:r>
              <a:rPr b="0" i="0" lang="en-US" sz="1300" u="none" cap="none" strike="noStrike">
                <a:solidFill>
                  <a:srgbClr val="F1F0EE"/>
                </a:solidFill>
                <a:latin typeface="Calibri"/>
                <a:ea typeface="Calibri"/>
                <a:cs typeface="Calibri"/>
                <a:sym typeface="Calibri"/>
              </a:rPr>
              <a:t>of companies abandoned most AI initiatives in 2025, up from 17% the year prior</a:t>
            </a:r>
            <a:endParaRPr b="0" i="0" sz="1300" u="none" cap="none" strike="noStrike">
              <a:solidFill>
                <a:schemeClr val="dk1"/>
              </a:solidFill>
              <a:latin typeface="Calibri"/>
              <a:ea typeface="Calibri"/>
              <a:cs typeface="Calibri"/>
              <a:sym typeface="Calibri"/>
            </a:endParaRPr>
          </a:p>
        </p:txBody>
      </p:sp>
      <p:sp>
        <p:nvSpPr>
          <p:cNvPr id="147" name="Google Shape;147;p6"/>
          <p:cNvSpPr/>
          <p:nvPr/>
        </p:nvSpPr>
        <p:spPr>
          <a:xfrm>
            <a:off x="8641080" y="406908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900"/>
              <a:buFont typeface="Calibri"/>
              <a:buNone/>
            </a:pPr>
            <a:r>
              <a:rPr b="0" i="1" lang="en-US" sz="900" u="sng" cap="none" strike="noStrike">
                <a:solidFill>
                  <a:srgbClr val="A8B5C2"/>
                </a:solidFill>
                <a:latin typeface="Calibri"/>
                <a:ea typeface="Calibri"/>
                <a:cs typeface="Calibri"/>
                <a:sym typeface="Calibri"/>
                <a:hlinkClick r:id="rId4"/>
              </a:rPr>
              <a:t>S&amp;P Global</a:t>
            </a:r>
            <a:endParaRPr b="0" i="0" sz="900" u="none" cap="none" strike="noStrike">
              <a:solidFill>
                <a:schemeClr val="dk1"/>
              </a:solidFill>
              <a:latin typeface="Calibri"/>
              <a:ea typeface="Calibri"/>
              <a:cs typeface="Calibri"/>
              <a:sym typeface="Calibri"/>
            </a:endParaRPr>
          </a:p>
        </p:txBody>
      </p:sp>
      <p:sp>
        <p:nvSpPr>
          <p:cNvPr id="148" name="Google Shape;148;p6"/>
          <p:cNvSpPr/>
          <p:nvPr/>
        </p:nvSpPr>
        <p:spPr>
          <a:xfrm>
            <a:off x="6858000" y="4663440"/>
            <a:ext cx="4754880" cy="13716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6995160" y="4800600"/>
            <a:ext cx="155448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5000"/>
              <a:buFont typeface="Calibri"/>
              <a:buNone/>
            </a:pPr>
            <a:r>
              <a:rPr b="1" i="0" lang="en-US" sz="5000" u="none" cap="none" strike="noStrike">
                <a:solidFill>
                  <a:srgbClr val="2BCFCF"/>
                </a:solidFill>
                <a:latin typeface="Calibri"/>
                <a:ea typeface="Calibri"/>
                <a:cs typeface="Calibri"/>
                <a:sym typeface="Calibri"/>
              </a:rPr>
              <a:t>5%</a:t>
            </a:r>
            <a:endParaRPr b="0" i="0" sz="5000" u="none" cap="none" strike="noStrike">
              <a:solidFill>
                <a:schemeClr val="dk1"/>
              </a:solidFill>
              <a:latin typeface="Calibri"/>
              <a:ea typeface="Calibri"/>
              <a:cs typeface="Calibri"/>
              <a:sym typeface="Calibri"/>
            </a:endParaRPr>
          </a:p>
        </p:txBody>
      </p:sp>
      <p:sp>
        <p:nvSpPr>
          <p:cNvPr id="150" name="Google Shape;150;p6"/>
          <p:cNvSpPr/>
          <p:nvPr/>
        </p:nvSpPr>
        <p:spPr>
          <a:xfrm>
            <a:off x="8641080" y="4846320"/>
            <a:ext cx="2834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300"/>
              <a:buFont typeface="Calibri"/>
              <a:buNone/>
            </a:pPr>
            <a:r>
              <a:rPr b="0" i="0" lang="en-US" sz="1300" u="none" cap="none" strike="noStrike">
                <a:solidFill>
                  <a:srgbClr val="F1F0EE"/>
                </a:solidFill>
                <a:latin typeface="Calibri"/>
                <a:ea typeface="Calibri"/>
                <a:cs typeface="Calibri"/>
                <a:sym typeface="Calibri"/>
              </a:rPr>
              <a:t>of companies achieve rapid revenue acceleration</a:t>
            </a:r>
            <a:endParaRPr b="0" i="0" sz="1300" u="none" cap="none" strike="noStrike">
              <a:solidFill>
                <a:schemeClr val="dk1"/>
              </a:solidFill>
              <a:latin typeface="Calibri"/>
              <a:ea typeface="Calibri"/>
              <a:cs typeface="Calibri"/>
              <a:sym typeface="Calibri"/>
            </a:endParaRPr>
          </a:p>
        </p:txBody>
      </p:sp>
      <p:sp>
        <p:nvSpPr>
          <p:cNvPr id="151" name="Google Shape;151;p6"/>
          <p:cNvSpPr/>
          <p:nvPr/>
        </p:nvSpPr>
        <p:spPr>
          <a:xfrm>
            <a:off x="8641080" y="562356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900"/>
              <a:buFont typeface="Calibri"/>
              <a:buNone/>
            </a:pPr>
            <a:r>
              <a:rPr b="0" i="1" lang="en-US" sz="900" u="sng" cap="none" strike="noStrike">
                <a:solidFill>
                  <a:srgbClr val="A8B5C2"/>
                </a:solidFill>
                <a:latin typeface="Calibri"/>
                <a:ea typeface="Calibri"/>
                <a:cs typeface="Calibri"/>
                <a:sym typeface="Calibri"/>
                <a:hlinkClick r:id="rId5"/>
              </a:rPr>
              <a:t>MIT</a:t>
            </a:r>
            <a:endParaRPr b="0" i="0" sz="900" u="none" cap="none" strike="noStrike">
              <a:solidFill>
                <a:schemeClr val="dk1"/>
              </a:solidFill>
              <a:latin typeface="Calibri"/>
              <a:ea typeface="Calibri"/>
              <a:cs typeface="Calibri"/>
              <a:sym typeface="Calibri"/>
            </a:endParaRPr>
          </a:p>
        </p:txBody>
      </p:sp>
      <p:sp>
        <p:nvSpPr>
          <p:cNvPr id="152" name="Google Shape;152;p6"/>
          <p:cNvSpPr/>
          <p:nvPr/>
        </p:nvSpPr>
        <p:spPr>
          <a:xfrm>
            <a:off x="457200" y="6446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100"/>
              <a:buFont typeface="Calibri"/>
              <a:buNone/>
            </a:pPr>
            <a:r>
              <a:rPr b="1" i="0" lang="en-US" sz="1100" u="none" cap="none" strike="noStrike">
                <a:solidFill>
                  <a:srgbClr val="F1F0EE"/>
                </a:solidFill>
                <a:latin typeface="Calibri"/>
                <a:ea typeface="Calibri"/>
                <a:cs typeface="Calibri"/>
                <a:sym typeface="Calibri"/>
              </a:rPr>
              <a:t>WeDo</a:t>
            </a:r>
            <a:r>
              <a:rPr b="1" i="0" lang="en-US" sz="1100" u="none" cap="none" strike="noStrike">
                <a:solidFill>
                  <a:srgbClr val="2BCFCF"/>
                </a:solidFill>
                <a:latin typeface="Calibri"/>
                <a:ea typeface="Calibri"/>
                <a:cs typeface="Calibri"/>
                <a:sym typeface="Calibri"/>
              </a:rPr>
              <a:t>AI</a:t>
            </a:r>
            <a:endParaRPr b="0" i="0" sz="1100" u="none" cap="none" strike="noStrike">
              <a:solidFill>
                <a:schemeClr val="dk1"/>
              </a:solidFill>
              <a:latin typeface="Calibri"/>
              <a:ea typeface="Calibri"/>
              <a:cs typeface="Calibri"/>
              <a:sym typeface="Calibri"/>
            </a:endParaRPr>
          </a:p>
        </p:txBody>
      </p:sp>
      <p:sp>
        <p:nvSpPr>
          <p:cNvPr id="153" name="Google Shape;153;p6"/>
          <p:cNvSpPr/>
          <p:nvPr/>
        </p:nvSpPr>
        <p:spPr>
          <a:xfrm>
            <a:off x="11064240" y="644652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000"/>
              <a:buFont typeface="Calibri"/>
              <a:buNone/>
            </a:pPr>
            <a:r>
              <a:rPr b="0" i="0" lang="en-US" sz="1000" u="none" cap="none" strike="noStrike">
                <a:solidFill>
                  <a:srgbClr val="A8B5C2"/>
                </a:solidFill>
                <a:latin typeface="Calibri"/>
                <a:ea typeface="Calibri"/>
                <a:cs typeface="Calibri"/>
                <a:sym typeface="Calibri"/>
              </a:rPr>
              <a:t>4 / 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158" name="Shape 158"/>
        <p:cNvGrpSpPr/>
        <p:nvPr/>
      </p:nvGrpSpPr>
      <p:grpSpPr>
        <a:xfrm>
          <a:off x="0" y="0"/>
          <a:ext cx="0" cy="0"/>
          <a:chOff x="0" y="0"/>
          <a:chExt cx="0" cy="0"/>
        </a:xfrm>
      </p:grpSpPr>
      <p:sp>
        <p:nvSpPr>
          <p:cNvPr id="159" name="Google Shape;159;p7"/>
          <p:cNvSpPr/>
          <p:nvPr/>
        </p:nvSpPr>
        <p:spPr>
          <a:xfrm>
            <a:off x="640080" y="1280160"/>
            <a:ext cx="2743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2800"/>
              <a:buFont typeface="Calibri"/>
              <a:buNone/>
            </a:pPr>
            <a:r>
              <a:rPr b="1" i="0" lang="en-US" sz="2800" u="none" cap="none" strike="noStrike">
                <a:solidFill>
                  <a:srgbClr val="A8B5C2"/>
                </a:solidFill>
                <a:latin typeface="Calibri"/>
                <a:ea typeface="Calibri"/>
                <a:cs typeface="Calibri"/>
                <a:sym typeface="Calibri"/>
              </a:rPr>
              <a:t>02</a:t>
            </a:r>
            <a:endParaRPr b="0" i="0" sz="2800" u="none" cap="none" strike="noStrike">
              <a:solidFill>
                <a:schemeClr val="dk1"/>
              </a:solidFill>
              <a:latin typeface="Calibri"/>
              <a:ea typeface="Calibri"/>
              <a:cs typeface="Calibri"/>
              <a:sym typeface="Calibri"/>
            </a:endParaRPr>
          </a:p>
        </p:txBody>
      </p:sp>
      <p:sp>
        <p:nvSpPr>
          <p:cNvPr id="160" name="Google Shape;160;p7"/>
          <p:cNvSpPr/>
          <p:nvPr/>
        </p:nvSpPr>
        <p:spPr>
          <a:xfrm>
            <a:off x="640080" y="2286000"/>
            <a:ext cx="1088136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6400"/>
              <a:buFont typeface="Calibri"/>
              <a:buNone/>
            </a:pPr>
            <a:r>
              <a:rPr b="1" i="0" lang="en-US" sz="6400" u="none" cap="none" strike="noStrike">
                <a:solidFill>
                  <a:srgbClr val="F1F0EE"/>
                </a:solidFill>
                <a:latin typeface="Calibri"/>
                <a:ea typeface="Calibri"/>
                <a:cs typeface="Calibri"/>
                <a:sym typeface="Calibri"/>
              </a:rPr>
              <a:t xml:space="preserve">Capability is not </a:t>
            </a:r>
            <a:r>
              <a:rPr b="1" i="0" lang="en-US" sz="6400" u="none" cap="none" strike="noStrike">
                <a:solidFill>
                  <a:srgbClr val="2BCFCF"/>
                </a:solidFill>
                <a:latin typeface="Calibri"/>
                <a:ea typeface="Calibri"/>
                <a:cs typeface="Calibri"/>
                <a:sym typeface="Calibri"/>
              </a:rPr>
              <a:t>deployability</a:t>
            </a:r>
            <a:r>
              <a:rPr b="1" i="0" lang="en-US" sz="6400" u="none" cap="none" strike="noStrike">
                <a:solidFill>
                  <a:srgbClr val="F1F0EE"/>
                </a:solidFill>
                <a:latin typeface="Calibri"/>
                <a:ea typeface="Calibri"/>
                <a:cs typeface="Calibri"/>
                <a:sym typeface="Calibri"/>
              </a:rPr>
              <a:t>.</a:t>
            </a:r>
            <a:endParaRPr b="0" i="0" sz="6400" u="none" cap="none" strike="noStrike">
              <a:solidFill>
                <a:schemeClr val="dk1"/>
              </a:solidFill>
              <a:latin typeface="Calibri"/>
              <a:ea typeface="Calibri"/>
              <a:cs typeface="Calibri"/>
              <a:sym typeface="Calibri"/>
            </a:endParaRPr>
          </a:p>
        </p:txBody>
      </p:sp>
      <p:sp>
        <p:nvSpPr>
          <p:cNvPr id="161" name="Google Shape;161;p7"/>
          <p:cNvSpPr/>
          <p:nvPr/>
        </p:nvSpPr>
        <p:spPr>
          <a:xfrm>
            <a:off x="640080" y="4206240"/>
            <a:ext cx="94183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B5C2"/>
              </a:buClr>
              <a:buSzPts val="2200"/>
              <a:buFont typeface="Calibri"/>
              <a:buNone/>
            </a:pPr>
            <a:r>
              <a:rPr b="0" i="1" lang="en-US" sz="2200" u="none" cap="none" strike="noStrike">
                <a:solidFill>
                  <a:srgbClr val="A8B5C2"/>
                </a:solidFill>
                <a:latin typeface="Calibri"/>
                <a:ea typeface="Calibri"/>
                <a:cs typeface="Calibri"/>
                <a:sym typeface="Calibri"/>
              </a:rPr>
              <a:t>A demo shows what AI can do on a clean input. Production is what AI does on your inputs, at your scale, on Tuesday.</a:t>
            </a:r>
            <a:endParaRPr b="0" i="0" sz="2200" u="none" cap="none" strike="noStrike">
              <a:solidFill>
                <a:schemeClr val="dk1"/>
              </a:solidFill>
              <a:latin typeface="Calibri"/>
              <a:ea typeface="Calibri"/>
              <a:cs typeface="Calibri"/>
              <a:sym typeface="Calibri"/>
            </a:endParaRPr>
          </a:p>
        </p:txBody>
      </p:sp>
      <p:sp>
        <p:nvSpPr>
          <p:cNvPr id="162" name="Google Shape;162;p7"/>
          <p:cNvSpPr/>
          <p:nvPr/>
        </p:nvSpPr>
        <p:spPr>
          <a:xfrm>
            <a:off x="10698480" y="603504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1" i="0" lang="en-US" sz="1600" u="none" cap="none" strike="noStrike">
                <a:solidFill>
                  <a:srgbClr val="F1F0EE"/>
                </a:solidFill>
                <a:latin typeface="Calibri"/>
                <a:ea typeface="Calibri"/>
                <a:cs typeface="Calibri"/>
                <a:sym typeface="Calibri"/>
              </a:rPr>
              <a:t>WeDo</a:t>
            </a:r>
            <a:r>
              <a:rPr b="1" i="0" lang="en-US" sz="1600" u="none" cap="none" strike="noStrike">
                <a:solidFill>
                  <a:srgbClr val="2BCFCF"/>
                </a:solidFill>
                <a:latin typeface="Calibri"/>
                <a:ea typeface="Calibri"/>
                <a:cs typeface="Calibri"/>
                <a:sym typeface="Calibri"/>
              </a:rPr>
              <a:t>AI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0B2A45"/>
        </a:solidFill>
      </p:bgPr>
    </p:bg>
    <p:spTree>
      <p:nvGrpSpPr>
        <p:cNvPr id="1" name=""/>
        <p:cNvGrpSpPr/>
        <p:nvPr/>
      </p:nvGrpSpPr>
      <p:grpSpPr>
        <a:xfrm>
          <a:off x="0" y="0"/>
          <a:ext cx="0" cy="0"/>
          <a:chOff x="0" y="0"/>
          <a:chExt cx="0" cy="0"/>
        </a:xfrm>
      </p:grpSpPr>
      <p:sp>
        <p:nvSpPr>
          <p:cNvPr id="2" name="Text 0"/>
          <p:cNvSpPr/>
          <p:nvPr/>
        </p:nvSpPr>
        <p:spPr>
          <a:xfrm>
            <a:off x="457200" y="365760"/>
            <a:ext cx="11247120" cy="594360"/>
          </a:xfrm>
          <a:prstGeom prst="rect">
            <a:avLst/>
          </a:prstGeom>
          <a:noFill/>
          <a:ln/>
        </p:spPr>
        <p:txBody>
          <a:bodyPr wrap="square" lIns="0" tIns="0" rIns="0" bIns="0" rtlCol="0" anchor="t"/>
          <a:lstStyle/>
          <a:p>
            <a:pPr indent="0" marL="0">
              <a:buNone/>
            </a:pPr>
            <a:r>
              <a:rPr lang="en-US" sz="3200" b="1" dirty="0">
                <a:solidFill>
                  <a:srgbClr val="F1F0EE"/>
                </a:solidFill>
                <a:latin typeface="Calibri" pitchFamily="34" charset="0"/>
                <a:ea typeface="Calibri" pitchFamily="34" charset="-122"/>
                <a:cs typeface="Calibri" pitchFamily="34" charset="-120"/>
              </a:rPr>
              <a:t>The capability deployability gap.</a:t>
            </a:r>
            <a:endParaRPr lang="en-US" sz="3200" dirty="0"/>
          </a:p>
        </p:txBody>
      </p:sp>
      <p:sp>
        <p:nvSpPr>
          <p:cNvPr id="3" name="Text 1"/>
          <p:cNvSpPr/>
          <p:nvPr/>
        </p:nvSpPr>
        <p:spPr>
          <a:xfrm>
            <a:off x="457200" y="960120"/>
            <a:ext cx="11247120" cy="320040"/>
          </a:xfrm>
          <a:prstGeom prst="rect">
            <a:avLst/>
          </a:prstGeom>
          <a:noFill/>
          <a:ln/>
        </p:spPr>
        <p:txBody>
          <a:bodyPr wrap="square" lIns="0" tIns="0" rIns="0" bIns="0" rtlCol="0" anchor="t"/>
          <a:lstStyle/>
          <a:p>
            <a:pPr indent="0" marL="0">
              <a:buNone/>
            </a:pPr>
            <a:r>
              <a:rPr lang="en-US" sz="1400" i="1" dirty="0">
                <a:solidFill>
                  <a:srgbClr val="A8B5C2"/>
                </a:solidFill>
                <a:latin typeface="Calibri" pitchFamily="34" charset="0"/>
                <a:ea typeface="Calibri" pitchFamily="34" charset="-122"/>
                <a:cs typeface="Calibri" pitchFamily="34" charset="-120"/>
              </a:rPr>
              <a:t>Same task. Different access.</a:t>
            </a:r>
            <a:endParaRPr lang="en-US" sz="1400" dirty="0"/>
          </a:p>
        </p:txBody>
      </p:sp>
      <p:sp>
        <p:nvSpPr>
          <p:cNvPr id="4" name="Text 2"/>
          <p:cNvSpPr/>
          <p:nvPr/>
        </p:nvSpPr>
        <p:spPr>
          <a:xfrm>
            <a:off x="2286000" y="1554480"/>
            <a:ext cx="3840480" cy="320040"/>
          </a:xfrm>
          <a:prstGeom prst="rect">
            <a:avLst/>
          </a:prstGeom>
          <a:noFill/>
          <a:ln/>
        </p:spPr>
        <p:txBody>
          <a:bodyPr wrap="square" rtlCol="0" anchor="t"/>
          <a:lstStyle/>
          <a:p>
            <a:pPr indent="0" marL="0">
              <a:buNone/>
            </a:pPr>
            <a:r>
              <a:rPr lang="en-US" sz="1200" b="1" spc="500" kern="0" dirty="0">
                <a:solidFill>
                  <a:srgbClr val="F1F0EE"/>
                </a:solidFill>
                <a:latin typeface="Calibri" pitchFamily="34" charset="0"/>
                <a:ea typeface="Calibri" pitchFamily="34" charset="-122"/>
                <a:cs typeface="Calibri" pitchFamily="34" charset="-120"/>
              </a:rPr>
              <a:t>THE DEMO</a:t>
            </a:r>
            <a:endParaRPr lang="en-US" sz="1200" dirty="0"/>
          </a:p>
        </p:txBody>
      </p:sp>
      <p:sp>
        <p:nvSpPr>
          <p:cNvPr id="5" name="Text 3"/>
          <p:cNvSpPr/>
          <p:nvPr/>
        </p:nvSpPr>
        <p:spPr>
          <a:xfrm>
            <a:off x="6766560" y="1554480"/>
            <a:ext cx="4023360" cy="320040"/>
          </a:xfrm>
          <a:prstGeom prst="rect">
            <a:avLst/>
          </a:prstGeom>
          <a:noFill/>
          <a:ln/>
        </p:spPr>
        <p:txBody>
          <a:bodyPr wrap="square" rtlCol="0" anchor="t"/>
          <a:lstStyle/>
          <a:p>
            <a:pPr indent="0" marL="0">
              <a:buNone/>
            </a:pPr>
            <a:r>
              <a:rPr lang="en-US" sz="1200" b="1" spc="500" kern="0" dirty="0">
                <a:solidFill>
                  <a:srgbClr val="2BCFCF"/>
                </a:solidFill>
                <a:latin typeface="Calibri" pitchFamily="34" charset="0"/>
                <a:ea typeface="Calibri" pitchFamily="34" charset="-122"/>
                <a:cs typeface="Calibri" pitchFamily="34" charset="-120"/>
              </a:rPr>
              <a:t>IN PRODUCTION</a:t>
            </a:r>
            <a:endParaRPr lang="en-US" sz="1200" dirty="0"/>
          </a:p>
        </p:txBody>
      </p:sp>
      <p:sp>
        <p:nvSpPr>
          <p:cNvPr id="6" name="Text 4"/>
          <p:cNvSpPr/>
          <p:nvPr/>
        </p:nvSpPr>
        <p:spPr>
          <a:xfrm>
            <a:off x="548640" y="2203704"/>
            <a:ext cx="1737360" cy="365760"/>
          </a:xfrm>
          <a:prstGeom prst="rect">
            <a:avLst/>
          </a:prstGeom>
          <a:noFill/>
          <a:ln/>
        </p:spPr>
        <p:txBody>
          <a:bodyPr wrap="square" lIns="0" tIns="0" rIns="0" bIns="0" rtlCol="0" anchor="t"/>
          <a:lstStyle/>
          <a:p>
            <a:pPr indent="0" marL="0">
              <a:buNone/>
            </a:pPr>
            <a:r>
              <a:rPr lang="en-US" sz="1400" b="1" dirty="0">
                <a:solidFill>
                  <a:srgbClr val="2BCFCF"/>
                </a:solidFill>
                <a:latin typeface="Calibri" pitchFamily="34" charset="0"/>
                <a:ea typeface="Calibri" pitchFamily="34" charset="-122"/>
                <a:cs typeface="Calibri" pitchFamily="34" charset="-120"/>
              </a:rPr>
              <a:t xml:space="preserve">01  </a:t>
            </a:r>
            <a:pPr indent="0" marL="0">
              <a:buNone/>
            </a:pPr>
            <a:r>
              <a:rPr lang="en-US" sz="1200" b="1" spc="300" kern="0" dirty="0">
                <a:solidFill>
                  <a:srgbClr val="F1F0EE"/>
                </a:solidFill>
                <a:latin typeface="Calibri" pitchFamily="34" charset="0"/>
                <a:ea typeface="Calibri" pitchFamily="34" charset="-122"/>
                <a:cs typeface="Calibri" pitchFamily="34" charset="-120"/>
              </a:rPr>
              <a:t>ACCESS</a:t>
            </a:r>
            <a:endParaRPr lang="en-US" sz="1400" dirty="0"/>
          </a:p>
        </p:txBody>
      </p:sp>
      <p:sp>
        <p:nvSpPr>
          <p:cNvPr id="7" name="Text 5"/>
          <p:cNvSpPr/>
          <p:nvPr/>
        </p:nvSpPr>
        <p:spPr>
          <a:xfrm>
            <a:off x="2286000" y="2167128"/>
            <a:ext cx="3840480" cy="457200"/>
          </a:xfrm>
          <a:prstGeom prst="rect">
            <a:avLst/>
          </a:prstGeom>
          <a:noFill/>
          <a:ln/>
        </p:spPr>
        <p:txBody>
          <a:bodyPr wrap="square" lIns="0" tIns="0" rIns="0" bIns="0" rtlCol="0" anchor="t"/>
          <a:lstStyle/>
          <a:p>
            <a:pPr indent="0" marL="0">
              <a:buNone/>
            </a:pPr>
            <a:r>
              <a:rPr lang="en-US" sz="1700" dirty="0">
                <a:solidFill>
                  <a:srgbClr val="F1F0EE"/>
                </a:solidFill>
                <a:latin typeface="Calibri" pitchFamily="34" charset="0"/>
                <a:ea typeface="Calibri" pitchFamily="34" charset="-122"/>
                <a:cs typeface="Calibri" pitchFamily="34" charset="-120"/>
              </a:rPr>
              <a:t>Claude on my phone, no approval</a:t>
            </a:r>
            <a:endParaRPr lang="en-US" sz="1700" dirty="0"/>
          </a:p>
        </p:txBody>
      </p:sp>
      <p:sp>
        <p:nvSpPr>
          <p:cNvPr id="8" name="Text 6"/>
          <p:cNvSpPr/>
          <p:nvPr/>
        </p:nvSpPr>
        <p:spPr>
          <a:xfrm>
            <a:off x="6172200" y="2130552"/>
            <a:ext cx="548640" cy="457200"/>
          </a:xfrm>
          <a:prstGeom prst="rect">
            <a:avLst/>
          </a:prstGeom>
          <a:noFill/>
          <a:ln/>
        </p:spPr>
        <p:txBody>
          <a:bodyPr wrap="square" lIns="0" tIns="0" rIns="0" bIns="0" rtlCol="0" anchor="t"/>
          <a:lstStyle/>
          <a:p>
            <a:pPr algn="ctr" indent="0" marL="0">
              <a:buNone/>
            </a:pPr>
            <a:r>
              <a:rPr lang="en-US" sz="2200" b="1" dirty="0">
                <a:solidFill>
                  <a:srgbClr val="2BCFC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6766560" y="2167128"/>
            <a:ext cx="4023360" cy="457200"/>
          </a:xfrm>
          <a:prstGeom prst="rect">
            <a:avLst/>
          </a:prstGeom>
          <a:noFill/>
          <a:ln/>
        </p:spPr>
        <p:txBody>
          <a:bodyPr wrap="square" lIns="0" tIns="0" rIns="0" bIns="0" rtlCol="0" anchor="t"/>
          <a:lstStyle/>
          <a:p>
            <a:pPr indent="0" marL="0">
              <a:buNone/>
            </a:pPr>
            <a:r>
              <a:rPr lang="en-US" sz="1700" dirty="0">
                <a:solidFill>
                  <a:srgbClr val="F1F0EE"/>
                </a:solidFill>
                <a:latin typeface="Calibri" pitchFamily="34" charset="0"/>
                <a:ea typeface="Calibri" pitchFamily="34" charset="-122"/>
                <a:cs typeface="Calibri" pitchFamily="34" charset="-120"/>
              </a:rPr>
              <a:t>AI tools awaiting approval</a:t>
            </a:r>
            <a:endParaRPr lang="en-US" sz="1700" dirty="0"/>
          </a:p>
        </p:txBody>
      </p:sp>
      <p:sp>
        <p:nvSpPr>
          <p:cNvPr id="10" name="Shape 8"/>
          <p:cNvSpPr/>
          <p:nvPr/>
        </p:nvSpPr>
        <p:spPr>
          <a:xfrm>
            <a:off x="548640" y="2752344"/>
            <a:ext cx="10607040" cy="10973"/>
          </a:xfrm>
          <a:prstGeom prst="rect">
            <a:avLst/>
          </a:prstGeom>
          <a:solidFill>
            <a:srgbClr val="143A57"/>
          </a:solidFill>
          <a:ln w="12700">
            <a:solidFill>
              <a:srgbClr val="143A57"/>
            </a:solidFill>
            <a:prstDash val="solid"/>
          </a:ln>
        </p:spPr>
      </p:sp>
      <p:sp>
        <p:nvSpPr>
          <p:cNvPr id="11" name="Text 9"/>
          <p:cNvSpPr/>
          <p:nvPr/>
        </p:nvSpPr>
        <p:spPr>
          <a:xfrm>
            <a:off x="548640" y="2916936"/>
            <a:ext cx="1737360" cy="365760"/>
          </a:xfrm>
          <a:prstGeom prst="rect">
            <a:avLst/>
          </a:prstGeom>
          <a:noFill/>
          <a:ln/>
        </p:spPr>
        <p:txBody>
          <a:bodyPr wrap="square" lIns="0" tIns="0" rIns="0" bIns="0" rtlCol="0" anchor="t"/>
          <a:lstStyle/>
          <a:p>
            <a:pPr indent="0" marL="0">
              <a:buNone/>
            </a:pPr>
            <a:r>
              <a:rPr lang="en-US" sz="1400" b="1" dirty="0">
                <a:solidFill>
                  <a:srgbClr val="2BCFCF"/>
                </a:solidFill>
                <a:latin typeface="Calibri" pitchFamily="34" charset="0"/>
                <a:ea typeface="Calibri" pitchFamily="34" charset="-122"/>
                <a:cs typeface="Calibri" pitchFamily="34" charset="-120"/>
              </a:rPr>
              <a:t xml:space="preserve">02  </a:t>
            </a:r>
            <a:pPr indent="0" marL="0">
              <a:buNone/>
            </a:pPr>
            <a:r>
              <a:rPr lang="en-US" sz="1200" b="1" spc="300" kern="0" dirty="0">
                <a:solidFill>
                  <a:srgbClr val="F1F0EE"/>
                </a:solidFill>
                <a:latin typeface="Calibri" pitchFamily="34" charset="0"/>
                <a:ea typeface="Calibri" pitchFamily="34" charset="-122"/>
                <a:cs typeface="Calibri" pitchFamily="34" charset="-120"/>
              </a:rPr>
              <a:t>AGENTS</a:t>
            </a:r>
            <a:endParaRPr lang="en-US" sz="1400" dirty="0"/>
          </a:p>
        </p:txBody>
      </p:sp>
      <p:sp>
        <p:nvSpPr>
          <p:cNvPr id="12" name="Text 10"/>
          <p:cNvSpPr/>
          <p:nvPr/>
        </p:nvSpPr>
        <p:spPr>
          <a:xfrm>
            <a:off x="2286000" y="2880360"/>
            <a:ext cx="3840480" cy="457200"/>
          </a:xfrm>
          <a:prstGeom prst="rect">
            <a:avLst/>
          </a:prstGeom>
          <a:noFill/>
          <a:ln/>
        </p:spPr>
        <p:txBody>
          <a:bodyPr wrap="square" lIns="0" tIns="0" rIns="0" bIns="0" rtlCol="0" anchor="t"/>
          <a:lstStyle/>
          <a:p>
            <a:pPr indent="0" marL="0">
              <a:buNone/>
            </a:pPr>
            <a:r>
              <a:rPr lang="en-US" sz="1700" dirty="0">
                <a:solidFill>
                  <a:srgbClr val="F1F0EE"/>
                </a:solidFill>
                <a:latin typeface="Calibri" pitchFamily="34" charset="0"/>
                <a:ea typeface="Calibri" pitchFamily="34" charset="-122"/>
                <a:cs typeface="Calibri" pitchFamily="34" charset="-120"/>
              </a:rPr>
              <a:t>Computer use, unrestricted</a:t>
            </a:r>
            <a:endParaRPr lang="en-US" sz="1700" dirty="0"/>
          </a:p>
        </p:txBody>
      </p:sp>
      <p:sp>
        <p:nvSpPr>
          <p:cNvPr id="13" name="Text 11"/>
          <p:cNvSpPr/>
          <p:nvPr/>
        </p:nvSpPr>
        <p:spPr>
          <a:xfrm>
            <a:off x="6172200" y="2843784"/>
            <a:ext cx="548640" cy="457200"/>
          </a:xfrm>
          <a:prstGeom prst="rect">
            <a:avLst/>
          </a:prstGeom>
          <a:noFill/>
          <a:ln/>
        </p:spPr>
        <p:txBody>
          <a:bodyPr wrap="square" lIns="0" tIns="0" rIns="0" bIns="0" rtlCol="0" anchor="t"/>
          <a:lstStyle/>
          <a:p>
            <a:pPr algn="ctr" indent="0" marL="0">
              <a:buNone/>
            </a:pPr>
            <a:r>
              <a:rPr lang="en-US" sz="2200" b="1" dirty="0">
                <a:solidFill>
                  <a:srgbClr val="2BCFCF"/>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6766560" y="2880360"/>
            <a:ext cx="4023360" cy="457200"/>
          </a:xfrm>
          <a:prstGeom prst="rect">
            <a:avLst/>
          </a:prstGeom>
          <a:noFill/>
          <a:ln/>
        </p:spPr>
        <p:txBody>
          <a:bodyPr wrap="square" lIns="0" tIns="0" rIns="0" bIns="0" rtlCol="0" anchor="t"/>
          <a:lstStyle/>
          <a:p>
            <a:pPr indent="0" marL="0">
              <a:buNone/>
            </a:pPr>
            <a:r>
              <a:rPr lang="en-US" sz="1700" dirty="0">
                <a:solidFill>
                  <a:srgbClr val="F1F0EE"/>
                </a:solidFill>
                <a:latin typeface="Calibri" pitchFamily="34" charset="0"/>
                <a:ea typeface="Calibri" pitchFamily="34" charset="-122"/>
                <a:cs typeface="Calibri" pitchFamily="34" charset="-120"/>
              </a:rPr>
              <a:t>Computer use blocked by policy</a:t>
            </a:r>
            <a:endParaRPr lang="en-US" sz="1700" dirty="0"/>
          </a:p>
        </p:txBody>
      </p:sp>
      <p:sp>
        <p:nvSpPr>
          <p:cNvPr id="15" name="Shape 13"/>
          <p:cNvSpPr/>
          <p:nvPr/>
        </p:nvSpPr>
        <p:spPr>
          <a:xfrm>
            <a:off x="548640" y="3465576"/>
            <a:ext cx="10607040" cy="10973"/>
          </a:xfrm>
          <a:prstGeom prst="rect">
            <a:avLst/>
          </a:prstGeom>
          <a:solidFill>
            <a:srgbClr val="143A57"/>
          </a:solidFill>
          <a:ln w="12700">
            <a:solidFill>
              <a:srgbClr val="143A57"/>
            </a:solidFill>
            <a:prstDash val="solid"/>
          </a:ln>
        </p:spPr>
      </p:sp>
      <p:sp>
        <p:nvSpPr>
          <p:cNvPr id="16" name="Text 14"/>
          <p:cNvSpPr/>
          <p:nvPr/>
        </p:nvSpPr>
        <p:spPr>
          <a:xfrm>
            <a:off x="548640" y="3630168"/>
            <a:ext cx="1737360" cy="365760"/>
          </a:xfrm>
          <a:prstGeom prst="rect">
            <a:avLst/>
          </a:prstGeom>
          <a:noFill/>
          <a:ln/>
        </p:spPr>
        <p:txBody>
          <a:bodyPr wrap="square" lIns="0" tIns="0" rIns="0" bIns="0" rtlCol="0" anchor="t"/>
          <a:lstStyle/>
          <a:p>
            <a:pPr indent="0" marL="0">
              <a:buNone/>
            </a:pPr>
            <a:r>
              <a:rPr lang="en-US" sz="1400" b="1" dirty="0">
                <a:solidFill>
                  <a:srgbClr val="2BCFCF"/>
                </a:solidFill>
                <a:latin typeface="Calibri" pitchFamily="34" charset="0"/>
                <a:ea typeface="Calibri" pitchFamily="34" charset="-122"/>
                <a:cs typeface="Calibri" pitchFamily="34" charset="-120"/>
              </a:rPr>
              <a:t xml:space="preserve">03  </a:t>
            </a:r>
            <a:pPr indent="0" marL="0">
              <a:buNone/>
            </a:pPr>
            <a:r>
              <a:rPr lang="en-US" sz="1200" b="1" spc="300" kern="0" dirty="0">
                <a:solidFill>
                  <a:srgbClr val="F1F0EE"/>
                </a:solidFill>
                <a:latin typeface="Calibri" pitchFamily="34" charset="0"/>
                <a:ea typeface="Calibri" pitchFamily="34" charset="-122"/>
                <a:cs typeface="Calibri" pitchFamily="34" charset="-120"/>
              </a:rPr>
              <a:t>DATA</a:t>
            </a:r>
            <a:endParaRPr lang="en-US" sz="1400" dirty="0"/>
          </a:p>
        </p:txBody>
      </p:sp>
      <p:sp>
        <p:nvSpPr>
          <p:cNvPr id="17" name="Text 15"/>
          <p:cNvSpPr/>
          <p:nvPr/>
        </p:nvSpPr>
        <p:spPr>
          <a:xfrm>
            <a:off x="2286000" y="3593592"/>
            <a:ext cx="3840480" cy="457200"/>
          </a:xfrm>
          <a:prstGeom prst="rect">
            <a:avLst/>
          </a:prstGeom>
          <a:noFill/>
          <a:ln/>
        </p:spPr>
        <p:txBody>
          <a:bodyPr wrap="square" lIns="0" tIns="0" rIns="0" bIns="0" rtlCol="0" anchor="t"/>
          <a:lstStyle/>
          <a:p>
            <a:pPr indent="0" marL="0">
              <a:buNone/>
            </a:pPr>
            <a:r>
              <a:rPr lang="en-US" sz="1700" dirty="0">
                <a:solidFill>
                  <a:srgbClr val="F1F0EE"/>
                </a:solidFill>
                <a:latin typeface="Calibri" pitchFamily="34" charset="0"/>
                <a:ea typeface="Calibri" pitchFamily="34" charset="-122"/>
                <a:cs typeface="Calibri" pitchFamily="34" charset="-120"/>
              </a:rPr>
              <a:t>Pull from any source on the web</a:t>
            </a:r>
            <a:endParaRPr lang="en-US" sz="1700" dirty="0"/>
          </a:p>
        </p:txBody>
      </p:sp>
      <p:sp>
        <p:nvSpPr>
          <p:cNvPr id="18" name="Text 16"/>
          <p:cNvSpPr/>
          <p:nvPr/>
        </p:nvSpPr>
        <p:spPr>
          <a:xfrm>
            <a:off x="6172200" y="3557016"/>
            <a:ext cx="548640" cy="457200"/>
          </a:xfrm>
          <a:prstGeom prst="rect">
            <a:avLst/>
          </a:prstGeom>
          <a:noFill/>
          <a:ln/>
        </p:spPr>
        <p:txBody>
          <a:bodyPr wrap="square" lIns="0" tIns="0" rIns="0" bIns="0" rtlCol="0" anchor="t"/>
          <a:lstStyle/>
          <a:p>
            <a:pPr algn="ctr" indent="0" marL="0">
              <a:buNone/>
            </a:pPr>
            <a:r>
              <a:rPr lang="en-US" sz="2200" b="1" dirty="0">
                <a:solidFill>
                  <a:srgbClr val="2BCFCF"/>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6766560" y="3593592"/>
            <a:ext cx="4023360" cy="457200"/>
          </a:xfrm>
          <a:prstGeom prst="rect">
            <a:avLst/>
          </a:prstGeom>
          <a:noFill/>
          <a:ln/>
        </p:spPr>
        <p:txBody>
          <a:bodyPr wrap="square" lIns="0" tIns="0" rIns="0" bIns="0" rtlCol="0" anchor="t"/>
          <a:lstStyle/>
          <a:p>
            <a:pPr indent="0" marL="0">
              <a:buNone/>
            </a:pPr>
            <a:r>
              <a:rPr lang="en-US" sz="1700" dirty="0">
                <a:solidFill>
                  <a:srgbClr val="F1F0EE"/>
                </a:solidFill>
                <a:latin typeface="Calibri" pitchFamily="34" charset="0"/>
                <a:ea typeface="Calibri" pitchFamily="34" charset="-122"/>
                <a:cs typeface="Calibri" pitchFamily="34" charset="-120"/>
              </a:rPr>
              <a:t>No agent access to internal data</a:t>
            </a:r>
            <a:endParaRPr lang="en-US" sz="1700" dirty="0"/>
          </a:p>
        </p:txBody>
      </p:sp>
      <p:sp>
        <p:nvSpPr>
          <p:cNvPr id="20" name="Shape 18"/>
          <p:cNvSpPr/>
          <p:nvPr/>
        </p:nvSpPr>
        <p:spPr>
          <a:xfrm>
            <a:off x="548640" y="4178808"/>
            <a:ext cx="10607040" cy="10973"/>
          </a:xfrm>
          <a:prstGeom prst="rect">
            <a:avLst/>
          </a:prstGeom>
          <a:solidFill>
            <a:srgbClr val="143A57"/>
          </a:solidFill>
          <a:ln w="12700">
            <a:solidFill>
              <a:srgbClr val="143A57"/>
            </a:solidFill>
            <a:prstDash val="solid"/>
          </a:ln>
        </p:spPr>
      </p:sp>
      <p:sp>
        <p:nvSpPr>
          <p:cNvPr id="21" name="Text 19"/>
          <p:cNvSpPr/>
          <p:nvPr/>
        </p:nvSpPr>
        <p:spPr>
          <a:xfrm>
            <a:off x="548640" y="4343400"/>
            <a:ext cx="1737360" cy="365760"/>
          </a:xfrm>
          <a:prstGeom prst="rect">
            <a:avLst/>
          </a:prstGeom>
          <a:noFill/>
          <a:ln/>
        </p:spPr>
        <p:txBody>
          <a:bodyPr wrap="square" lIns="0" tIns="0" rIns="0" bIns="0" rtlCol="0" anchor="t"/>
          <a:lstStyle/>
          <a:p>
            <a:pPr indent="0" marL="0">
              <a:buNone/>
            </a:pPr>
            <a:r>
              <a:rPr lang="en-US" sz="1400" b="1" dirty="0">
                <a:solidFill>
                  <a:srgbClr val="2BCFCF"/>
                </a:solidFill>
                <a:latin typeface="Calibri" pitchFamily="34" charset="0"/>
                <a:ea typeface="Calibri" pitchFamily="34" charset="-122"/>
                <a:cs typeface="Calibri" pitchFamily="34" charset="-120"/>
              </a:rPr>
              <a:t xml:space="preserve">04  </a:t>
            </a:r>
            <a:pPr indent="0" marL="0">
              <a:buNone/>
            </a:pPr>
            <a:r>
              <a:rPr lang="en-US" sz="1200" b="1" spc="300" kern="0" dirty="0">
                <a:solidFill>
                  <a:srgbClr val="F1F0EE"/>
                </a:solidFill>
                <a:latin typeface="Calibri" pitchFamily="34" charset="0"/>
                <a:ea typeface="Calibri" pitchFamily="34" charset="-122"/>
                <a:cs typeface="Calibri" pitchFamily="34" charset="-120"/>
              </a:rPr>
              <a:t>APPROVALS</a:t>
            </a:r>
            <a:endParaRPr lang="en-US" sz="1400" dirty="0"/>
          </a:p>
        </p:txBody>
      </p:sp>
      <p:sp>
        <p:nvSpPr>
          <p:cNvPr id="22" name="Text 20"/>
          <p:cNvSpPr/>
          <p:nvPr/>
        </p:nvSpPr>
        <p:spPr>
          <a:xfrm>
            <a:off x="2286000" y="4306824"/>
            <a:ext cx="3840480" cy="457200"/>
          </a:xfrm>
          <a:prstGeom prst="rect">
            <a:avLst/>
          </a:prstGeom>
          <a:noFill/>
          <a:ln/>
        </p:spPr>
        <p:txBody>
          <a:bodyPr wrap="square" lIns="0" tIns="0" rIns="0" bIns="0" rtlCol="0" anchor="t"/>
          <a:lstStyle/>
          <a:p>
            <a:pPr indent="0" marL="0">
              <a:buNone/>
            </a:pPr>
            <a:r>
              <a:rPr lang="en-US" sz="1700" dirty="0">
                <a:solidFill>
                  <a:srgbClr val="F1F0EE"/>
                </a:solidFill>
                <a:latin typeface="Calibri" pitchFamily="34" charset="0"/>
                <a:ea typeface="Calibri" pitchFamily="34" charset="-122"/>
                <a:cs typeface="Calibri" pitchFamily="34" charset="-120"/>
              </a:rPr>
              <a:t>One decision-maker, me</a:t>
            </a:r>
            <a:endParaRPr lang="en-US" sz="1700" dirty="0"/>
          </a:p>
        </p:txBody>
      </p:sp>
      <p:sp>
        <p:nvSpPr>
          <p:cNvPr id="23" name="Text 21"/>
          <p:cNvSpPr/>
          <p:nvPr/>
        </p:nvSpPr>
        <p:spPr>
          <a:xfrm>
            <a:off x="6172200" y="4270248"/>
            <a:ext cx="548640" cy="457200"/>
          </a:xfrm>
          <a:prstGeom prst="rect">
            <a:avLst/>
          </a:prstGeom>
          <a:noFill/>
          <a:ln/>
        </p:spPr>
        <p:txBody>
          <a:bodyPr wrap="square" lIns="0" tIns="0" rIns="0" bIns="0" rtlCol="0" anchor="t"/>
          <a:lstStyle/>
          <a:p>
            <a:pPr algn="ctr" indent="0" marL="0">
              <a:buNone/>
            </a:pPr>
            <a:r>
              <a:rPr lang="en-US" sz="2200" b="1" dirty="0">
                <a:solidFill>
                  <a:srgbClr val="2BCFCF"/>
                </a:solidFill>
                <a:latin typeface="Calibri" pitchFamily="34" charset="0"/>
                <a:ea typeface="Calibri" pitchFamily="34" charset="-122"/>
                <a:cs typeface="Calibri" pitchFamily="34" charset="-120"/>
              </a:rPr>
              <a:t>→</a:t>
            </a:r>
            <a:endParaRPr lang="en-US" sz="2200" dirty="0"/>
          </a:p>
        </p:txBody>
      </p:sp>
      <p:sp>
        <p:nvSpPr>
          <p:cNvPr id="24" name="Text 22"/>
          <p:cNvSpPr/>
          <p:nvPr/>
        </p:nvSpPr>
        <p:spPr>
          <a:xfrm>
            <a:off x="6766560" y="4306824"/>
            <a:ext cx="4023360" cy="457200"/>
          </a:xfrm>
          <a:prstGeom prst="rect">
            <a:avLst/>
          </a:prstGeom>
          <a:noFill/>
          <a:ln/>
        </p:spPr>
        <p:txBody>
          <a:bodyPr wrap="square" lIns="0" tIns="0" rIns="0" bIns="0" rtlCol="0" anchor="t"/>
          <a:lstStyle/>
          <a:p>
            <a:pPr indent="0" marL="0">
              <a:buNone/>
            </a:pPr>
            <a:r>
              <a:rPr lang="en-US" sz="1700" dirty="0">
                <a:solidFill>
                  <a:srgbClr val="F1F0EE"/>
                </a:solidFill>
                <a:latin typeface="Calibri" pitchFamily="34" charset="0"/>
                <a:ea typeface="Calibri" pitchFamily="34" charset="-122"/>
                <a:cs typeface="Calibri" pitchFamily="34" charset="-120"/>
              </a:rPr>
              <a:t>Brand, legal, compliance gating</a:t>
            </a:r>
            <a:endParaRPr lang="en-US" sz="1700" dirty="0"/>
          </a:p>
        </p:txBody>
      </p:sp>
      <p:sp>
        <p:nvSpPr>
          <p:cNvPr id="25" name="Shape 23"/>
          <p:cNvSpPr/>
          <p:nvPr/>
        </p:nvSpPr>
        <p:spPr>
          <a:xfrm>
            <a:off x="548640" y="4892040"/>
            <a:ext cx="10607040" cy="10973"/>
          </a:xfrm>
          <a:prstGeom prst="rect">
            <a:avLst/>
          </a:prstGeom>
          <a:solidFill>
            <a:srgbClr val="143A57"/>
          </a:solidFill>
          <a:ln w="12700">
            <a:solidFill>
              <a:srgbClr val="143A57"/>
            </a:solidFill>
            <a:prstDash val="solid"/>
          </a:ln>
        </p:spPr>
      </p:sp>
      <p:sp>
        <p:nvSpPr>
          <p:cNvPr id="26" name="Text 24"/>
          <p:cNvSpPr/>
          <p:nvPr/>
        </p:nvSpPr>
        <p:spPr>
          <a:xfrm>
            <a:off x="548640" y="5056632"/>
            <a:ext cx="1737360" cy="365760"/>
          </a:xfrm>
          <a:prstGeom prst="rect">
            <a:avLst/>
          </a:prstGeom>
          <a:noFill/>
          <a:ln/>
        </p:spPr>
        <p:txBody>
          <a:bodyPr wrap="square" lIns="0" tIns="0" rIns="0" bIns="0" rtlCol="0" anchor="t"/>
          <a:lstStyle/>
          <a:p>
            <a:pPr indent="0" marL="0">
              <a:buNone/>
            </a:pPr>
            <a:r>
              <a:rPr lang="en-US" sz="1400" b="1" dirty="0">
                <a:solidFill>
                  <a:srgbClr val="2BCFCF"/>
                </a:solidFill>
                <a:latin typeface="Calibri" pitchFamily="34" charset="0"/>
                <a:ea typeface="Calibri" pitchFamily="34" charset="-122"/>
                <a:cs typeface="Calibri" pitchFamily="34" charset="-120"/>
              </a:rPr>
              <a:t xml:space="preserve">05  </a:t>
            </a:r>
            <a:pPr indent="0" marL="0">
              <a:buNone/>
            </a:pPr>
            <a:r>
              <a:rPr lang="en-US" sz="1200" b="1" spc="300" kern="0" dirty="0">
                <a:solidFill>
                  <a:srgbClr val="F1F0EE"/>
                </a:solidFill>
                <a:latin typeface="Calibri" pitchFamily="34" charset="0"/>
                <a:ea typeface="Calibri" pitchFamily="34" charset="-122"/>
                <a:cs typeface="Calibri" pitchFamily="34" charset="-120"/>
              </a:rPr>
              <a:t>TIME</a:t>
            </a:r>
            <a:endParaRPr lang="en-US" sz="1400" dirty="0"/>
          </a:p>
        </p:txBody>
      </p:sp>
      <p:sp>
        <p:nvSpPr>
          <p:cNvPr id="27" name="Text 25"/>
          <p:cNvSpPr/>
          <p:nvPr/>
        </p:nvSpPr>
        <p:spPr>
          <a:xfrm>
            <a:off x="2286000" y="5020056"/>
            <a:ext cx="3840480" cy="457200"/>
          </a:xfrm>
          <a:prstGeom prst="rect">
            <a:avLst/>
          </a:prstGeom>
          <a:noFill/>
          <a:ln/>
        </p:spPr>
        <p:txBody>
          <a:bodyPr wrap="square" lIns="0" tIns="0" rIns="0" bIns="0" rtlCol="0" anchor="t"/>
          <a:lstStyle/>
          <a:p>
            <a:pPr indent="0" marL="0">
              <a:buNone/>
            </a:pPr>
            <a:r>
              <a:rPr lang="en-US" sz="1700" dirty="0">
                <a:solidFill>
                  <a:srgbClr val="F1F0EE"/>
                </a:solidFill>
                <a:latin typeface="Calibri" pitchFamily="34" charset="0"/>
                <a:ea typeface="Calibri" pitchFamily="34" charset="-122"/>
                <a:cs typeface="Calibri" pitchFamily="34" charset="-120"/>
              </a:rPr>
              <a:t>2.5 hours</a:t>
            </a:r>
            <a:endParaRPr lang="en-US" sz="1700" dirty="0"/>
          </a:p>
        </p:txBody>
      </p:sp>
      <p:sp>
        <p:nvSpPr>
          <p:cNvPr id="28" name="Text 26"/>
          <p:cNvSpPr/>
          <p:nvPr/>
        </p:nvSpPr>
        <p:spPr>
          <a:xfrm>
            <a:off x="6172200" y="4983480"/>
            <a:ext cx="548640" cy="457200"/>
          </a:xfrm>
          <a:prstGeom prst="rect">
            <a:avLst/>
          </a:prstGeom>
          <a:noFill/>
          <a:ln/>
        </p:spPr>
        <p:txBody>
          <a:bodyPr wrap="square" lIns="0" tIns="0" rIns="0" bIns="0" rtlCol="0" anchor="t"/>
          <a:lstStyle/>
          <a:p>
            <a:pPr algn="ctr" indent="0" marL="0">
              <a:buNone/>
            </a:pPr>
            <a:r>
              <a:rPr lang="en-US" sz="2200" b="1" dirty="0">
                <a:solidFill>
                  <a:srgbClr val="2BCFCF"/>
                </a:solidFill>
                <a:latin typeface="Calibri" pitchFamily="34" charset="0"/>
                <a:ea typeface="Calibri" pitchFamily="34" charset="-122"/>
                <a:cs typeface="Calibri" pitchFamily="34" charset="-120"/>
              </a:rPr>
              <a:t>→</a:t>
            </a:r>
            <a:endParaRPr lang="en-US" sz="2200" dirty="0"/>
          </a:p>
        </p:txBody>
      </p:sp>
      <p:sp>
        <p:nvSpPr>
          <p:cNvPr id="29" name="Text 27"/>
          <p:cNvSpPr/>
          <p:nvPr/>
        </p:nvSpPr>
        <p:spPr>
          <a:xfrm>
            <a:off x="6766560" y="5020056"/>
            <a:ext cx="4023360" cy="457200"/>
          </a:xfrm>
          <a:prstGeom prst="rect">
            <a:avLst/>
          </a:prstGeom>
          <a:noFill/>
          <a:ln/>
        </p:spPr>
        <p:txBody>
          <a:bodyPr wrap="square" lIns="0" tIns="0" rIns="0" bIns="0" rtlCol="0" anchor="t"/>
          <a:lstStyle/>
          <a:p>
            <a:pPr indent="0" marL="0">
              <a:buNone/>
            </a:pPr>
            <a:r>
              <a:rPr lang="en-US" sz="1700" b="1" dirty="0">
                <a:solidFill>
                  <a:srgbClr val="2BCFCF"/>
                </a:solidFill>
                <a:latin typeface="Calibri" pitchFamily="34" charset="0"/>
                <a:ea typeface="Calibri" pitchFamily="34" charset="-122"/>
                <a:cs typeface="Calibri" pitchFamily="34" charset="-120"/>
              </a:rPr>
              <a:t>Months</a:t>
            </a:r>
            <a:endParaRPr lang="en-US" sz="1700" dirty="0"/>
          </a:p>
        </p:txBody>
      </p:sp>
      <p:sp>
        <p:nvSpPr>
          <p:cNvPr id="30" name="Text 28"/>
          <p:cNvSpPr/>
          <p:nvPr/>
        </p:nvSpPr>
        <p:spPr>
          <a:xfrm>
            <a:off x="457200" y="5989320"/>
            <a:ext cx="11247120" cy="365760"/>
          </a:xfrm>
          <a:prstGeom prst="rect">
            <a:avLst/>
          </a:prstGeom>
          <a:noFill/>
          <a:ln/>
        </p:spPr>
        <p:txBody>
          <a:bodyPr wrap="square" lIns="0" tIns="0" rIns="0" bIns="0" rtlCol="0" anchor="t"/>
          <a:lstStyle/>
          <a:p>
            <a:pPr algn="ctr" indent="0" marL="0">
              <a:buNone/>
            </a:pPr>
            <a:r>
              <a:rPr lang="en-US" sz="1600" i="1" dirty="0">
                <a:solidFill>
                  <a:srgbClr val="2BCFCF"/>
                </a:solidFill>
                <a:latin typeface="Calibri" pitchFamily="34" charset="0"/>
                <a:ea typeface="Calibri" pitchFamily="34" charset="-122"/>
                <a:cs typeface="Calibri" pitchFamily="34" charset="-120"/>
              </a:rPr>
              <a:t>Capability is not the gap. Access to capability is.</a:t>
            </a:r>
            <a:endParaRPr lang="en-US" sz="1600" dirty="0"/>
          </a:p>
        </p:txBody>
      </p:sp>
      <p:sp>
        <p:nvSpPr>
          <p:cNvPr id="31" name="Text 29"/>
          <p:cNvSpPr/>
          <p:nvPr/>
        </p:nvSpPr>
        <p:spPr>
          <a:xfrm>
            <a:off x="457200" y="6492240"/>
            <a:ext cx="1371600" cy="274320"/>
          </a:xfrm>
          <a:prstGeom prst="rect">
            <a:avLst/>
          </a:prstGeom>
          <a:noFill/>
          <a:ln/>
        </p:spPr>
        <p:txBody>
          <a:bodyPr wrap="square" lIns="0" tIns="0" rIns="0" bIns="0" rtlCol="0" anchor="t"/>
          <a:lstStyle/>
          <a:p>
            <a:pPr indent="0" marL="0">
              <a:buNone/>
            </a:pPr>
            <a:r>
              <a:rPr lang="en-US" sz="1100" b="1" dirty="0">
                <a:solidFill>
                  <a:srgbClr val="F1F0EE"/>
                </a:solidFill>
                <a:latin typeface="Calibri" pitchFamily="34" charset="0"/>
                <a:ea typeface="Calibri" pitchFamily="34" charset="-122"/>
                <a:cs typeface="Calibri" pitchFamily="34" charset="-120"/>
              </a:rPr>
              <a:t>WeDo</a:t>
            </a:r>
            <a:pPr indent="0" marL="0">
              <a:buNone/>
            </a:pPr>
            <a:r>
              <a:rPr lang="en-US" sz="1100" b="1" dirty="0">
                <a:solidFill>
                  <a:srgbClr val="2BCFCF"/>
                </a:solidFill>
                <a:latin typeface="Calibri" pitchFamily="34" charset="0"/>
                <a:ea typeface="Calibri" pitchFamily="34" charset="-122"/>
                <a:cs typeface="Calibri" pitchFamily="34" charset="-120"/>
              </a:rPr>
              <a:t>AI</a:t>
            </a:r>
            <a:endParaRPr lang="en-US" sz="1100" dirty="0"/>
          </a:p>
        </p:txBody>
      </p:sp>
      <p:sp>
        <p:nvSpPr>
          <p:cNvPr id="32" name="Text 30"/>
          <p:cNvSpPr/>
          <p:nvPr/>
        </p:nvSpPr>
        <p:spPr>
          <a:xfrm>
            <a:off x="11064240" y="6492240"/>
            <a:ext cx="640080" cy="274320"/>
          </a:xfrm>
          <a:prstGeom prst="rect">
            <a:avLst/>
          </a:prstGeom>
          <a:noFill/>
          <a:ln/>
        </p:spPr>
        <p:txBody>
          <a:bodyPr wrap="square" lIns="0" tIns="0" rIns="0" bIns="0" rtlCol="0" anchor="t"/>
          <a:lstStyle/>
          <a:p>
            <a:pPr algn="r" indent="0" marL="0">
              <a:buNone/>
            </a:pPr>
            <a:r>
              <a:rPr lang="en-US" sz="1000" dirty="0">
                <a:solidFill>
                  <a:srgbClr val="A8B5C2"/>
                </a:solidFill>
                <a:latin typeface="Calibri" pitchFamily="34" charset="0"/>
                <a:ea typeface="Calibri" pitchFamily="34" charset="-122"/>
                <a:cs typeface="Calibri" pitchFamily="34" charset="-120"/>
              </a:rPr>
              <a:t>6 / 19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182" name="Shape 182"/>
        <p:cNvGrpSpPr/>
        <p:nvPr/>
      </p:nvGrpSpPr>
      <p:grpSpPr>
        <a:xfrm>
          <a:off x="0" y="0"/>
          <a:ext cx="0" cy="0"/>
          <a:chOff x="0" y="0"/>
          <a:chExt cx="0" cy="0"/>
        </a:xfrm>
      </p:grpSpPr>
      <p:sp>
        <p:nvSpPr>
          <p:cNvPr id="183" name="Google Shape;183;p9"/>
          <p:cNvSpPr/>
          <p:nvPr/>
        </p:nvSpPr>
        <p:spPr>
          <a:xfrm>
            <a:off x="640080" y="1280160"/>
            <a:ext cx="2743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2800"/>
              <a:buFont typeface="Calibri"/>
              <a:buNone/>
            </a:pPr>
            <a:r>
              <a:rPr b="1" i="0" lang="en-US" sz="2800" u="none" cap="none" strike="noStrike">
                <a:solidFill>
                  <a:srgbClr val="A8B5C2"/>
                </a:solidFill>
                <a:latin typeface="Calibri"/>
                <a:ea typeface="Calibri"/>
                <a:cs typeface="Calibri"/>
                <a:sym typeface="Calibri"/>
              </a:rPr>
              <a:t>03</a:t>
            </a:r>
            <a:endParaRPr b="0" i="0" sz="2800" u="none" cap="none" strike="noStrike">
              <a:solidFill>
                <a:schemeClr val="dk1"/>
              </a:solidFill>
              <a:latin typeface="Calibri"/>
              <a:ea typeface="Calibri"/>
              <a:cs typeface="Calibri"/>
              <a:sym typeface="Calibri"/>
            </a:endParaRPr>
          </a:p>
        </p:txBody>
      </p:sp>
      <p:sp>
        <p:nvSpPr>
          <p:cNvPr id="184" name="Google Shape;184;p9"/>
          <p:cNvSpPr/>
          <p:nvPr/>
        </p:nvSpPr>
        <p:spPr>
          <a:xfrm>
            <a:off x="640080" y="2286000"/>
            <a:ext cx="1088136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6000"/>
              <a:buFont typeface="Calibri"/>
              <a:buNone/>
            </a:pPr>
            <a:r>
              <a:rPr b="1" i="0" lang="en-US" sz="6000" u="none" cap="none" strike="noStrike">
                <a:solidFill>
                  <a:srgbClr val="F1F0EE"/>
                </a:solidFill>
                <a:latin typeface="Calibri"/>
                <a:ea typeface="Calibri"/>
                <a:cs typeface="Calibri"/>
                <a:sym typeface="Calibri"/>
              </a:rPr>
              <a:t xml:space="preserve">The readiness gap </a:t>
            </a:r>
            <a:r>
              <a:rPr b="1" i="0" lang="en-US" sz="6000" u="none" cap="none" strike="noStrike">
                <a:solidFill>
                  <a:srgbClr val="2BCFCF"/>
                </a:solidFill>
                <a:latin typeface="Calibri"/>
                <a:ea typeface="Calibri"/>
                <a:cs typeface="Calibri"/>
                <a:sym typeface="Calibri"/>
              </a:rPr>
              <a:t>nobody talks about</a:t>
            </a:r>
            <a:r>
              <a:rPr b="1" i="0" lang="en-US" sz="6000" u="none" cap="none" strike="noStrike">
                <a:solidFill>
                  <a:srgbClr val="F1F0EE"/>
                </a:solidFill>
                <a:latin typeface="Calibri"/>
                <a:ea typeface="Calibri"/>
                <a:cs typeface="Calibri"/>
                <a:sym typeface="Calibri"/>
              </a:rPr>
              <a:t>.</a:t>
            </a:r>
            <a:endParaRPr b="0" i="0" sz="6000" u="none" cap="none" strike="noStrike">
              <a:solidFill>
                <a:schemeClr val="dk1"/>
              </a:solidFill>
              <a:latin typeface="Calibri"/>
              <a:ea typeface="Calibri"/>
              <a:cs typeface="Calibri"/>
              <a:sym typeface="Calibri"/>
            </a:endParaRPr>
          </a:p>
        </p:txBody>
      </p:sp>
      <p:sp>
        <p:nvSpPr>
          <p:cNvPr id="185" name="Google Shape;185;p9"/>
          <p:cNvSpPr/>
          <p:nvPr/>
        </p:nvSpPr>
        <p:spPr>
          <a:xfrm>
            <a:off x="640080" y="4206240"/>
            <a:ext cx="94183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B5C2"/>
              </a:buClr>
              <a:buSzPts val="2200"/>
              <a:buFont typeface="Calibri"/>
              <a:buNone/>
            </a:pPr>
            <a:r>
              <a:rPr b="0" i="1" lang="en-US" sz="2200" u="none" cap="none" strike="noStrike">
                <a:solidFill>
                  <a:srgbClr val="A8B5C2"/>
                </a:solidFill>
                <a:latin typeface="Calibri"/>
                <a:ea typeface="Calibri"/>
                <a:cs typeface="Calibri"/>
                <a:sym typeface="Calibri"/>
              </a:rPr>
              <a:t>Before any AI proposal, your process has to be visible and measurable end-to-end. Most organisations cannot do this.</a:t>
            </a:r>
            <a:endParaRPr b="0" i="0" sz="2200" u="none" cap="none" strike="noStrike">
              <a:solidFill>
                <a:schemeClr val="dk1"/>
              </a:solidFill>
              <a:latin typeface="Calibri"/>
              <a:ea typeface="Calibri"/>
              <a:cs typeface="Calibri"/>
              <a:sym typeface="Calibri"/>
            </a:endParaRPr>
          </a:p>
        </p:txBody>
      </p:sp>
      <p:sp>
        <p:nvSpPr>
          <p:cNvPr id="186" name="Google Shape;186;p9"/>
          <p:cNvSpPr/>
          <p:nvPr/>
        </p:nvSpPr>
        <p:spPr>
          <a:xfrm>
            <a:off x="10698480" y="603504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1" i="0" lang="en-US" sz="1600" u="none" cap="none" strike="noStrike">
                <a:solidFill>
                  <a:srgbClr val="F1F0EE"/>
                </a:solidFill>
                <a:latin typeface="Calibri"/>
                <a:ea typeface="Calibri"/>
                <a:cs typeface="Calibri"/>
                <a:sym typeface="Calibri"/>
              </a:rPr>
              <a:t>WeDo</a:t>
            </a:r>
            <a:r>
              <a:rPr b="1" i="0" lang="en-US" sz="1600" u="none" cap="none" strike="noStrike">
                <a:solidFill>
                  <a:srgbClr val="2BCFCF"/>
                </a:solidFill>
                <a:latin typeface="Calibri"/>
                <a:ea typeface="Calibri"/>
                <a:cs typeface="Calibri"/>
                <a:sym typeface="Calibri"/>
              </a:rPr>
              <a:t>AI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191" name="Shape 191"/>
        <p:cNvGrpSpPr/>
        <p:nvPr/>
      </p:nvGrpSpPr>
      <p:grpSpPr>
        <a:xfrm>
          <a:off x="0" y="0"/>
          <a:ext cx="0" cy="0"/>
          <a:chOff x="0" y="0"/>
          <a:chExt cx="0" cy="0"/>
        </a:xfrm>
      </p:grpSpPr>
      <p:sp>
        <p:nvSpPr>
          <p:cNvPr id="192" name="Google Shape;192;p10"/>
          <p:cNvSpPr/>
          <p:nvPr/>
        </p:nvSpPr>
        <p:spPr>
          <a:xfrm>
            <a:off x="640080" y="45720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3200"/>
              <a:buFont typeface="Calibri"/>
              <a:buNone/>
            </a:pPr>
            <a:r>
              <a:rPr b="1" i="0" lang="en-US" sz="3200" u="none" cap="none" strike="noStrike">
                <a:solidFill>
                  <a:srgbClr val="F1F0EE"/>
                </a:solidFill>
                <a:latin typeface="Calibri"/>
                <a:ea typeface="Calibri"/>
                <a:cs typeface="Calibri"/>
                <a:sym typeface="Calibri"/>
              </a:rPr>
              <a:t>Process is the frame. People, data and technology make it work.</a:t>
            </a:r>
            <a:endParaRPr b="0" i="0" sz="3200" u="none" cap="none" strike="noStrike">
              <a:solidFill>
                <a:schemeClr val="dk1"/>
              </a:solidFill>
              <a:latin typeface="Calibri"/>
              <a:ea typeface="Calibri"/>
              <a:cs typeface="Calibri"/>
              <a:sym typeface="Calibri"/>
            </a:endParaRPr>
          </a:p>
        </p:txBody>
      </p:sp>
      <p:sp>
        <p:nvSpPr>
          <p:cNvPr id="193" name="Google Shape;193;p10"/>
          <p:cNvSpPr/>
          <p:nvPr/>
        </p:nvSpPr>
        <p:spPr>
          <a:xfrm>
            <a:off x="914400" y="1554480"/>
            <a:ext cx="10332720" cy="4206240"/>
          </a:xfrm>
          <a:prstGeom prst="rect">
            <a:avLst/>
          </a:prstGeom>
          <a:solidFill>
            <a:srgbClr val="0B2A45"/>
          </a:solidFill>
          <a:ln cap="flat" cmpd="sng" w="1905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1188720" y="173736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400"/>
              <a:buFont typeface="Calibri"/>
              <a:buNone/>
            </a:pPr>
            <a:r>
              <a:rPr b="1" i="0" lang="en-US" sz="1400" u="none" cap="none" strike="noStrike">
                <a:solidFill>
                  <a:srgbClr val="2BCFCF"/>
                </a:solidFill>
                <a:latin typeface="Calibri"/>
                <a:ea typeface="Calibri"/>
                <a:cs typeface="Calibri"/>
                <a:sym typeface="Calibri"/>
              </a:rPr>
              <a:t>PROCESS</a:t>
            </a:r>
            <a:endParaRPr b="0" i="0" sz="1400" u="none" cap="none" strike="noStrike">
              <a:solidFill>
                <a:schemeClr val="dk1"/>
              </a:solidFill>
              <a:latin typeface="Calibri"/>
              <a:ea typeface="Calibri"/>
              <a:cs typeface="Calibri"/>
              <a:sym typeface="Calibri"/>
            </a:endParaRPr>
          </a:p>
        </p:txBody>
      </p:sp>
      <p:sp>
        <p:nvSpPr>
          <p:cNvPr id="195" name="Google Shape;195;p10"/>
          <p:cNvSpPr/>
          <p:nvPr/>
        </p:nvSpPr>
        <p:spPr>
          <a:xfrm>
            <a:off x="1188720" y="2194560"/>
            <a:ext cx="97840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1400"/>
              <a:buFont typeface="Calibri"/>
              <a:buNone/>
            </a:pPr>
            <a:r>
              <a:rPr b="0" i="1" lang="en-US" sz="1400" u="none" cap="none" strike="noStrike">
                <a:solidFill>
                  <a:srgbClr val="A8B5C2"/>
                </a:solidFill>
                <a:latin typeface="Calibri"/>
                <a:ea typeface="Calibri"/>
                <a:cs typeface="Calibri"/>
                <a:sym typeface="Calibri"/>
              </a:rPr>
              <a:t>Not BPMN diagrams filed in your process registry. Process intelligence, seen in real time.</a:t>
            </a:r>
            <a:endParaRPr b="0" i="0" sz="1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A8B5C2"/>
              </a:buClr>
              <a:buSzPts val="1400"/>
              <a:buFont typeface="Calibri"/>
              <a:buNone/>
            </a:pPr>
            <a:r>
              <a:rPr b="0" i="1" lang="en-US" sz="1400" u="none" cap="none" strike="noStrike">
                <a:solidFill>
                  <a:srgbClr val="A8B5C2"/>
                </a:solidFill>
                <a:latin typeface="Calibri"/>
                <a:ea typeface="Calibri"/>
                <a:cs typeface="Calibri"/>
                <a:sym typeface="Calibri"/>
              </a:rPr>
              <a:t>Where work flows, where rework hides, what task and end-to-end handle times really are.</a:t>
            </a:r>
            <a:endParaRPr b="0" i="0" sz="1400" u="none" cap="none" strike="noStrike">
              <a:solidFill>
                <a:schemeClr val="dk1"/>
              </a:solidFill>
              <a:latin typeface="Calibri"/>
              <a:ea typeface="Calibri"/>
              <a:cs typeface="Calibri"/>
              <a:sym typeface="Calibri"/>
            </a:endParaRPr>
          </a:p>
        </p:txBody>
      </p:sp>
      <p:sp>
        <p:nvSpPr>
          <p:cNvPr id="196" name="Google Shape;196;p10"/>
          <p:cNvSpPr/>
          <p:nvPr/>
        </p:nvSpPr>
        <p:spPr>
          <a:xfrm>
            <a:off x="1188720" y="2926080"/>
            <a:ext cx="3078480" cy="24688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1463040" y="3108960"/>
            <a:ext cx="2529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1" i="0" lang="en-US" sz="1300" u="none" cap="none" strike="noStrike">
                <a:solidFill>
                  <a:srgbClr val="2BCFCF"/>
                </a:solidFill>
                <a:latin typeface="Calibri"/>
                <a:ea typeface="Calibri"/>
                <a:cs typeface="Calibri"/>
                <a:sym typeface="Calibri"/>
              </a:rPr>
              <a:t>PEOPLE</a:t>
            </a:r>
            <a:endParaRPr b="0" i="0" sz="1300" u="none" cap="none" strike="noStrike">
              <a:solidFill>
                <a:schemeClr val="dk1"/>
              </a:solidFill>
              <a:latin typeface="Calibri"/>
              <a:ea typeface="Calibri"/>
              <a:cs typeface="Calibri"/>
              <a:sym typeface="Calibri"/>
            </a:endParaRPr>
          </a:p>
        </p:txBody>
      </p:sp>
      <p:sp>
        <p:nvSpPr>
          <p:cNvPr id="198" name="Google Shape;198;p10"/>
          <p:cNvSpPr/>
          <p:nvPr/>
        </p:nvSpPr>
        <p:spPr>
          <a:xfrm>
            <a:off x="2179320" y="3474720"/>
            <a:ext cx="182880" cy="182880"/>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2124456" y="3694176"/>
            <a:ext cx="292608" cy="292608"/>
          </a:xfrm>
          <a:prstGeom prst="roundRect">
            <a:avLst>
              <a:gd fmla="val 15625" name="adj"/>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2636520" y="3474720"/>
            <a:ext cx="182880" cy="182880"/>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2581656" y="3694176"/>
            <a:ext cx="292608" cy="292608"/>
          </a:xfrm>
          <a:prstGeom prst="roundRect">
            <a:avLst>
              <a:gd fmla="val 15625" name="adj"/>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0"/>
          <p:cNvSpPr/>
          <p:nvPr/>
        </p:nvSpPr>
        <p:spPr>
          <a:xfrm>
            <a:off x="3093720" y="3474720"/>
            <a:ext cx="182880" cy="182880"/>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3038856" y="3694176"/>
            <a:ext cx="292608" cy="292608"/>
          </a:xfrm>
          <a:prstGeom prst="roundRect">
            <a:avLst>
              <a:gd fmla="val 15625" name="adj"/>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1463040" y="4114800"/>
            <a:ext cx="25298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700"/>
              <a:buFont typeface="Calibri"/>
              <a:buNone/>
            </a:pPr>
            <a:r>
              <a:rPr b="1" i="0" lang="en-US" sz="1700" u="none" cap="none" strike="noStrike">
                <a:solidFill>
                  <a:srgbClr val="F1F0EE"/>
                </a:solidFill>
                <a:latin typeface="Calibri"/>
                <a:ea typeface="Calibri"/>
                <a:cs typeface="Calibri"/>
                <a:sym typeface="Calibri"/>
              </a:rPr>
              <a:t>Educated and capable</a:t>
            </a:r>
            <a:endParaRPr b="0" i="0" sz="1700" u="none" cap="none" strike="noStrike">
              <a:solidFill>
                <a:schemeClr val="dk1"/>
              </a:solidFill>
              <a:latin typeface="Calibri"/>
              <a:ea typeface="Calibri"/>
              <a:cs typeface="Calibri"/>
              <a:sym typeface="Calibri"/>
            </a:endParaRPr>
          </a:p>
        </p:txBody>
      </p:sp>
      <p:sp>
        <p:nvSpPr>
          <p:cNvPr id="205" name="Google Shape;205;p10"/>
          <p:cNvSpPr/>
          <p:nvPr/>
        </p:nvSpPr>
        <p:spPr>
          <a:xfrm>
            <a:off x="1463040" y="4526280"/>
            <a:ext cx="252984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1F0EE"/>
              </a:buClr>
              <a:buSzPts val="1400"/>
              <a:buFont typeface="Calibri"/>
              <a:buNone/>
            </a:pPr>
            <a:r>
              <a:rPr b="0" i="0" lang="en-US" sz="1400" u="none" cap="none" strike="noStrike">
                <a:solidFill>
                  <a:srgbClr val="F1F0EE"/>
                </a:solidFill>
                <a:latin typeface="Calibri"/>
                <a:ea typeface="Calibri"/>
                <a:cs typeface="Calibri"/>
                <a:sym typeface="Calibri"/>
              </a:rPr>
              <a:t>Not one-time training. Continuous education in what we measure, why it matters, how to read the signal.</a:t>
            </a:r>
            <a:endParaRPr b="0" i="0" sz="1400" u="none" cap="none" strike="noStrike">
              <a:solidFill>
                <a:schemeClr val="dk1"/>
              </a:solidFill>
              <a:latin typeface="Calibri"/>
              <a:ea typeface="Calibri"/>
              <a:cs typeface="Calibri"/>
              <a:sym typeface="Calibri"/>
            </a:endParaRPr>
          </a:p>
        </p:txBody>
      </p:sp>
      <p:sp>
        <p:nvSpPr>
          <p:cNvPr id="206" name="Google Shape;206;p10"/>
          <p:cNvSpPr/>
          <p:nvPr/>
        </p:nvSpPr>
        <p:spPr>
          <a:xfrm>
            <a:off x="4541520" y="2926080"/>
            <a:ext cx="3078480" cy="24688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4815840" y="3108960"/>
            <a:ext cx="2529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1" i="0" lang="en-US" sz="1300" u="none" cap="none" strike="noStrike">
                <a:solidFill>
                  <a:srgbClr val="2BCFCF"/>
                </a:solidFill>
                <a:latin typeface="Calibri"/>
                <a:ea typeface="Calibri"/>
                <a:cs typeface="Calibri"/>
                <a:sym typeface="Calibri"/>
              </a:rPr>
              <a:t>DATA</a:t>
            </a:r>
            <a:endParaRPr b="0" i="0" sz="1300" u="none" cap="none" strike="noStrike">
              <a:solidFill>
                <a:schemeClr val="dk1"/>
              </a:solidFill>
              <a:latin typeface="Calibri"/>
              <a:ea typeface="Calibri"/>
              <a:cs typeface="Calibri"/>
              <a:sym typeface="Calibri"/>
            </a:endParaRPr>
          </a:p>
        </p:txBody>
      </p:sp>
      <p:sp>
        <p:nvSpPr>
          <p:cNvPr id="208" name="Google Shape;208;p10"/>
          <p:cNvSpPr/>
          <p:nvPr/>
        </p:nvSpPr>
        <p:spPr>
          <a:xfrm>
            <a:off x="5303520" y="3474720"/>
            <a:ext cx="384048" cy="109728"/>
          </a:xfrm>
          <a:prstGeom prst="ellipse">
            <a:avLst/>
          </a:prstGeom>
          <a:solidFill>
            <a:srgbClr val="0B2A45"/>
          </a:solidFill>
          <a:ln cap="flat" cmpd="sng" w="1587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5303520" y="3529584"/>
            <a:ext cx="384048" cy="256032"/>
          </a:xfrm>
          <a:prstGeom prst="rect">
            <a:avLst/>
          </a:prstGeom>
          <a:solidFill>
            <a:srgbClr val="0B2A45"/>
          </a:solidFill>
          <a:ln cap="flat" cmpd="sng" w="1587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5308092" y="3529584"/>
            <a:ext cx="374904" cy="18288"/>
          </a:xfrm>
          <a:prstGeom prst="rect">
            <a:avLst/>
          </a:prstGeom>
          <a:solidFill>
            <a:srgbClr val="0B2A45"/>
          </a:solidFill>
          <a:ln cap="flat" cmpd="sng" w="12700">
            <a:solidFill>
              <a:srgbClr val="0B2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5303520" y="3730752"/>
            <a:ext cx="384048" cy="109728"/>
          </a:xfrm>
          <a:prstGeom prst="ellipse">
            <a:avLst/>
          </a:prstGeom>
          <a:solidFill>
            <a:srgbClr val="0B2A45"/>
          </a:solidFill>
          <a:ln cap="flat" cmpd="sng" w="1587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2" name="Google Shape;212;p10"/>
          <p:cNvCxnSpPr/>
          <p:nvPr/>
        </p:nvCxnSpPr>
        <p:spPr>
          <a:xfrm>
            <a:off x="5376672" y="3621024"/>
            <a:ext cx="237744" cy="914"/>
          </a:xfrm>
          <a:prstGeom prst="straightConnector1">
            <a:avLst/>
          </a:prstGeom>
          <a:noFill/>
          <a:ln cap="flat" cmpd="sng" w="9525">
            <a:solidFill>
              <a:srgbClr val="A8B5C2"/>
            </a:solidFill>
            <a:prstDash val="solid"/>
            <a:round/>
            <a:headEnd len="sm" w="sm" type="none"/>
            <a:tailEnd len="sm" w="sm" type="none"/>
          </a:ln>
        </p:spPr>
      </p:cxnSp>
      <p:cxnSp>
        <p:nvCxnSpPr>
          <p:cNvPr id="213" name="Google Shape;213;p10"/>
          <p:cNvCxnSpPr/>
          <p:nvPr/>
        </p:nvCxnSpPr>
        <p:spPr>
          <a:xfrm>
            <a:off x="5376672" y="3685032"/>
            <a:ext cx="237744" cy="914"/>
          </a:xfrm>
          <a:prstGeom prst="straightConnector1">
            <a:avLst/>
          </a:prstGeom>
          <a:noFill/>
          <a:ln cap="flat" cmpd="sng" w="9525">
            <a:solidFill>
              <a:srgbClr val="A8B5C2"/>
            </a:solidFill>
            <a:prstDash val="solid"/>
            <a:round/>
            <a:headEnd len="sm" w="sm" type="none"/>
            <a:tailEnd len="sm" w="sm" type="none"/>
          </a:ln>
        </p:spPr>
      </p:cxnSp>
      <p:cxnSp>
        <p:nvCxnSpPr>
          <p:cNvPr id="214" name="Google Shape;214;p10"/>
          <p:cNvCxnSpPr/>
          <p:nvPr/>
        </p:nvCxnSpPr>
        <p:spPr>
          <a:xfrm>
            <a:off x="5687568" y="3657600"/>
            <a:ext cx="201168" cy="914"/>
          </a:xfrm>
          <a:prstGeom prst="straightConnector1">
            <a:avLst/>
          </a:prstGeom>
          <a:noFill/>
          <a:ln cap="flat" cmpd="sng" w="19050">
            <a:solidFill>
              <a:srgbClr val="2BCFCF"/>
            </a:solidFill>
            <a:prstDash val="solid"/>
            <a:round/>
            <a:headEnd len="sm" w="sm" type="none"/>
            <a:tailEnd len="sm" w="sm" type="none"/>
          </a:ln>
        </p:spPr>
      </p:cxnSp>
      <p:sp>
        <p:nvSpPr>
          <p:cNvPr id="215" name="Google Shape;215;p10"/>
          <p:cNvSpPr/>
          <p:nvPr/>
        </p:nvSpPr>
        <p:spPr>
          <a:xfrm>
            <a:off x="5888736" y="3474720"/>
            <a:ext cx="384048" cy="109728"/>
          </a:xfrm>
          <a:prstGeom prst="ellipse">
            <a:avLst/>
          </a:prstGeom>
          <a:solidFill>
            <a:srgbClr val="0B2A45"/>
          </a:solidFill>
          <a:ln cap="flat" cmpd="sng" w="15875">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5888736" y="3529584"/>
            <a:ext cx="384048" cy="256032"/>
          </a:xfrm>
          <a:prstGeom prst="rect">
            <a:avLst/>
          </a:prstGeom>
          <a:solidFill>
            <a:srgbClr val="0B2A45"/>
          </a:solidFill>
          <a:ln cap="flat" cmpd="sng" w="15875">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5893308" y="3529584"/>
            <a:ext cx="374904" cy="18288"/>
          </a:xfrm>
          <a:prstGeom prst="rect">
            <a:avLst/>
          </a:prstGeom>
          <a:solidFill>
            <a:srgbClr val="0B2A45"/>
          </a:solidFill>
          <a:ln cap="flat" cmpd="sng" w="12700">
            <a:solidFill>
              <a:srgbClr val="0B2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5888736" y="3730752"/>
            <a:ext cx="384048" cy="109728"/>
          </a:xfrm>
          <a:prstGeom prst="ellipse">
            <a:avLst/>
          </a:prstGeom>
          <a:solidFill>
            <a:srgbClr val="0B2A45"/>
          </a:solidFill>
          <a:ln cap="flat" cmpd="sng" w="15875">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9" name="Google Shape;219;p10"/>
          <p:cNvCxnSpPr/>
          <p:nvPr/>
        </p:nvCxnSpPr>
        <p:spPr>
          <a:xfrm>
            <a:off x="5961888" y="3621024"/>
            <a:ext cx="237744" cy="914"/>
          </a:xfrm>
          <a:prstGeom prst="straightConnector1">
            <a:avLst/>
          </a:prstGeom>
          <a:noFill/>
          <a:ln cap="flat" cmpd="sng" w="9525">
            <a:solidFill>
              <a:srgbClr val="2BCFCF"/>
            </a:solidFill>
            <a:prstDash val="solid"/>
            <a:round/>
            <a:headEnd len="sm" w="sm" type="none"/>
            <a:tailEnd len="sm" w="sm" type="none"/>
          </a:ln>
        </p:spPr>
      </p:cxnSp>
      <p:cxnSp>
        <p:nvCxnSpPr>
          <p:cNvPr id="220" name="Google Shape;220;p10"/>
          <p:cNvCxnSpPr/>
          <p:nvPr/>
        </p:nvCxnSpPr>
        <p:spPr>
          <a:xfrm>
            <a:off x="5961888" y="3685032"/>
            <a:ext cx="237744" cy="914"/>
          </a:xfrm>
          <a:prstGeom prst="straightConnector1">
            <a:avLst/>
          </a:prstGeom>
          <a:noFill/>
          <a:ln cap="flat" cmpd="sng" w="9525">
            <a:solidFill>
              <a:srgbClr val="2BCFCF"/>
            </a:solidFill>
            <a:prstDash val="solid"/>
            <a:round/>
            <a:headEnd len="sm" w="sm" type="none"/>
            <a:tailEnd len="sm" w="sm" type="none"/>
          </a:ln>
        </p:spPr>
      </p:cxnSp>
      <p:cxnSp>
        <p:nvCxnSpPr>
          <p:cNvPr id="221" name="Google Shape;221;p10"/>
          <p:cNvCxnSpPr/>
          <p:nvPr/>
        </p:nvCxnSpPr>
        <p:spPr>
          <a:xfrm>
            <a:off x="6272784" y="3657600"/>
            <a:ext cx="201168" cy="914"/>
          </a:xfrm>
          <a:prstGeom prst="straightConnector1">
            <a:avLst/>
          </a:prstGeom>
          <a:noFill/>
          <a:ln cap="flat" cmpd="sng" w="19050">
            <a:solidFill>
              <a:srgbClr val="2BCFCF"/>
            </a:solidFill>
            <a:prstDash val="solid"/>
            <a:round/>
            <a:headEnd len="sm" w="sm" type="none"/>
            <a:tailEnd len="sm" w="sm" type="none"/>
          </a:ln>
        </p:spPr>
      </p:cxnSp>
      <p:sp>
        <p:nvSpPr>
          <p:cNvPr id="222" name="Google Shape;222;p10"/>
          <p:cNvSpPr/>
          <p:nvPr/>
        </p:nvSpPr>
        <p:spPr>
          <a:xfrm>
            <a:off x="6473952" y="3474720"/>
            <a:ext cx="384048" cy="109728"/>
          </a:xfrm>
          <a:prstGeom prst="ellipse">
            <a:avLst/>
          </a:prstGeom>
          <a:solidFill>
            <a:srgbClr val="0B2A45"/>
          </a:solidFill>
          <a:ln cap="flat" cmpd="sng" w="1587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6473952" y="3529584"/>
            <a:ext cx="384048" cy="256032"/>
          </a:xfrm>
          <a:prstGeom prst="rect">
            <a:avLst/>
          </a:prstGeom>
          <a:solidFill>
            <a:srgbClr val="0B2A45"/>
          </a:solidFill>
          <a:ln cap="flat" cmpd="sng" w="1587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6478524" y="3529584"/>
            <a:ext cx="374904" cy="18288"/>
          </a:xfrm>
          <a:prstGeom prst="rect">
            <a:avLst/>
          </a:prstGeom>
          <a:solidFill>
            <a:srgbClr val="0B2A45"/>
          </a:solidFill>
          <a:ln cap="flat" cmpd="sng" w="12700">
            <a:solidFill>
              <a:srgbClr val="0B2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p:nvPr/>
        </p:nvSpPr>
        <p:spPr>
          <a:xfrm>
            <a:off x="6473952" y="3730752"/>
            <a:ext cx="384048" cy="109728"/>
          </a:xfrm>
          <a:prstGeom prst="ellipse">
            <a:avLst/>
          </a:prstGeom>
          <a:solidFill>
            <a:srgbClr val="0B2A45"/>
          </a:solidFill>
          <a:ln cap="flat" cmpd="sng" w="1587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6" name="Google Shape;226;p10"/>
          <p:cNvCxnSpPr/>
          <p:nvPr/>
        </p:nvCxnSpPr>
        <p:spPr>
          <a:xfrm>
            <a:off x="6547104" y="3621024"/>
            <a:ext cx="237744" cy="914"/>
          </a:xfrm>
          <a:prstGeom prst="straightConnector1">
            <a:avLst/>
          </a:prstGeom>
          <a:noFill/>
          <a:ln cap="flat" cmpd="sng" w="9525">
            <a:solidFill>
              <a:srgbClr val="A8B5C2"/>
            </a:solidFill>
            <a:prstDash val="solid"/>
            <a:round/>
            <a:headEnd len="sm" w="sm" type="none"/>
            <a:tailEnd len="sm" w="sm" type="none"/>
          </a:ln>
        </p:spPr>
      </p:cxnSp>
      <p:cxnSp>
        <p:nvCxnSpPr>
          <p:cNvPr id="227" name="Google Shape;227;p10"/>
          <p:cNvCxnSpPr/>
          <p:nvPr/>
        </p:nvCxnSpPr>
        <p:spPr>
          <a:xfrm>
            <a:off x="6547104" y="3685032"/>
            <a:ext cx="237744" cy="914"/>
          </a:xfrm>
          <a:prstGeom prst="straightConnector1">
            <a:avLst/>
          </a:prstGeom>
          <a:noFill/>
          <a:ln cap="flat" cmpd="sng" w="9525">
            <a:solidFill>
              <a:srgbClr val="A8B5C2"/>
            </a:solidFill>
            <a:prstDash val="solid"/>
            <a:round/>
            <a:headEnd len="sm" w="sm" type="none"/>
            <a:tailEnd len="sm" w="sm" type="none"/>
          </a:ln>
        </p:spPr>
      </p:cxnSp>
      <p:sp>
        <p:nvSpPr>
          <p:cNvPr id="228" name="Google Shape;228;p10"/>
          <p:cNvSpPr/>
          <p:nvPr/>
        </p:nvSpPr>
        <p:spPr>
          <a:xfrm>
            <a:off x="4815840" y="4114800"/>
            <a:ext cx="25298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700"/>
              <a:buFont typeface="Calibri"/>
              <a:buNone/>
            </a:pPr>
            <a:r>
              <a:rPr b="1" i="0" lang="en-US" sz="1700" u="none" cap="none" strike="noStrike">
                <a:solidFill>
                  <a:srgbClr val="F1F0EE"/>
                </a:solidFill>
                <a:latin typeface="Calibri"/>
                <a:ea typeface="Calibri"/>
                <a:cs typeface="Calibri"/>
                <a:sym typeface="Calibri"/>
              </a:rPr>
              <a:t>Joined and measured</a:t>
            </a:r>
            <a:endParaRPr b="0" i="0" sz="1700" u="none" cap="none" strike="noStrike">
              <a:solidFill>
                <a:schemeClr val="dk1"/>
              </a:solidFill>
              <a:latin typeface="Calibri"/>
              <a:ea typeface="Calibri"/>
              <a:cs typeface="Calibri"/>
              <a:sym typeface="Calibri"/>
            </a:endParaRPr>
          </a:p>
        </p:txBody>
      </p:sp>
      <p:sp>
        <p:nvSpPr>
          <p:cNvPr id="229" name="Google Shape;229;p10"/>
          <p:cNvSpPr/>
          <p:nvPr/>
        </p:nvSpPr>
        <p:spPr>
          <a:xfrm>
            <a:off x="4815840" y="4526280"/>
            <a:ext cx="252984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1F0EE"/>
              </a:buClr>
              <a:buSzPts val="1400"/>
              <a:buFont typeface="Calibri"/>
              <a:buNone/>
            </a:pPr>
            <a:r>
              <a:rPr lang="en-US">
                <a:solidFill>
                  <a:srgbClr val="F1F0EE"/>
                </a:solidFill>
                <a:latin typeface="Calibri"/>
                <a:ea typeface="Calibri"/>
                <a:cs typeface="Calibri"/>
                <a:sym typeface="Calibri"/>
              </a:rPr>
              <a:t xml:space="preserve">Start centrally, </a:t>
            </a:r>
            <a:r>
              <a:rPr b="0" i="0" lang="en-US" sz="1400" u="none" cap="none" strike="noStrike">
                <a:solidFill>
                  <a:srgbClr val="F1F0EE"/>
                </a:solidFill>
                <a:latin typeface="Calibri"/>
                <a:ea typeface="Calibri"/>
                <a:cs typeface="Calibri"/>
                <a:sym typeface="Calibri"/>
              </a:rPr>
              <a:t xml:space="preserve"> governed at the asset level, aligned to the use cases that matter.</a:t>
            </a:r>
            <a:endParaRPr b="0" i="0" sz="1400" u="none" cap="none" strike="noStrike">
              <a:solidFill>
                <a:schemeClr val="dk1"/>
              </a:solidFill>
              <a:latin typeface="Calibri"/>
              <a:ea typeface="Calibri"/>
              <a:cs typeface="Calibri"/>
              <a:sym typeface="Calibri"/>
            </a:endParaRPr>
          </a:p>
        </p:txBody>
      </p:sp>
      <p:sp>
        <p:nvSpPr>
          <p:cNvPr id="230" name="Google Shape;230;p10"/>
          <p:cNvSpPr/>
          <p:nvPr/>
        </p:nvSpPr>
        <p:spPr>
          <a:xfrm>
            <a:off x="7894320" y="2926080"/>
            <a:ext cx="3078480" cy="24688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p:nvPr/>
        </p:nvSpPr>
        <p:spPr>
          <a:xfrm>
            <a:off x="8168640" y="3108960"/>
            <a:ext cx="2529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1" i="0" lang="en-US" sz="1300" u="none" cap="none" strike="noStrike">
                <a:solidFill>
                  <a:srgbClr val="2BCFCF"/>
                </a:solidFill>
                <a:latin typeface="Calibri"/>
                <a:ea typeface="Calibri"/>
                <a:cs typeface="Calibri"/>
                <a:sym typeface="Calibri"/>
              </a:rPr>
              <a:t>TECHNOLOGY</a:t>
            </a:r>
            <a:endParaRPr b="0" i="0" sz="1300" u="none" cap="none" strike="noStrike">
              <a:solidFill>
                <a:schemeClr val="dk1"/>
              </a:solidFill>
              <a:latin typeface="Calibri"/>
              <a:ea typeface="Calibri"/>
              <a:cs typeface="Calibri"/>
              <a:sym typeface="Calibri"/>
            </a:endParaRPr>
          </a:p>
        </p:txBody>
      </p:sp>
      <p:sp>
        <p:nvSpPr>
          <p:cNvPr id="232" name="Google Shape;232;p10"/>
          <p:cNvSpPr/>
          <p:nvPr/>
        </p:nvSpPr>
        <p:spPr>
          <a:xfrm>
            <a:off x="8793480" y="3479292"/>
            <a:ext cx="1280160" cy="118872"/>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8793480" y="3643884"/>
            <a:ext cx="1280160" cy="118872"/>
          </a:xfrm>
          <a:prstGeom prst="rect">
            <a:avLst/>
          </a:prstGeom>
          <a:solidFill>
            <a:srgbClr val="F1F0EE"/>
          </a:solidFill>
          <a:ln cap="flat" cmpd="sng" w="12700">
            <a:solidFill>
              <a:srgbClr val="F1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8793480" y="3808476"/>
            <a:ext cx="1280160" cy="118872"/>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5" name="Google Shape;235;p10"/>
          <p:cNvCxnSpPr/>
          <p:nvPr/>
        </p:nvCxnSpPr>
        <p:spPr>
          <a:xfrm>
            <a:off x="8720328" y="3538728"/>
            <a:ext cx="54864" cy="914"/>
          </a:xfrm>
          <a:prstGeom prst="straightConnector1">
            <a:avLst/>
          </a:prstGeom>
          <a:noFill/>
          <a:ln cap="flat" cmpd="sng" w="12700">
            <a:solidFill>
              <a:srgbClr val="A8B5C2"/>
            </a:solidFill>
            <a:prstDash val="solid"/>
            <a:round/>
            <a:headEnd len="sm" w="sm" type="none"/>
            <a:tailEnd len="sm" w="sm" type="none"/>
          </a:ln>
        </p:spPr>
      </p:cxnSp>
      <p:cxnSp>
        <p:nvCxnSpPr>
          <p:cNvPr id="236" name="Google Shape;236;p10"/>
          <p:cNvCxnSpPr/>
          <p:nvPr/>
        </p:nvCxnSpPr>
        <p:spPr>
          <a:xfrm>
            <a:off x="10091928" y="3538728"/>
            <a:ext cx="54864" cy="914"/>
          </a:xfrm>
          <a:prstGeom prst="straightConnector1">
            <a:avLst/>
          </a:prstGeom>
          <a:noFill/>
          <a:ln cap="flat" cmpd="sng" w="12700">
            <a:solidFill>
              <a:srgbClr val="A8B5C2"/>
            </a:solidFill>
            <a:prstDash val="solid"/>
            <a:round/>
            <a:headEnd len="sm" w="sm" type="none"/>
            <a:tailEnd len="sm" w="sm" type="none"/>
          </a:ln>
        </p:spPr>
      </p:cxnSp>
      <p:cxnSp>
        <p:nvCxnSpPr>
          <p:cNvPr id="237" name="Google Shape;237;p10"/>
          <p:cNvCxnSpPr/>
          <p:nvPr/>
        </p:nvCxnSpPr>
        <p:spPr>
          <a:xfrm>
            <a:off x="8720328" y="3703320"/>
            <a:ext cx="54864" cy="914"/>
          </a:xfrm>
          <a:prstGeom prst="straightConnector1">
            <a:avLst/>
          </a:prstGeom>
          <a:noFill/>
          <a:ln cap="flat" cmpd="sng" w="12700">
            <a:solidFill>
              <a:srgbClr val="A8B5C2"/>
            </a:solidFill>
            <a:prstDash val="solid"/>
            <a:round/>
            <a:headEnd len="sm" w="sm" type="none"/>
            <a:tailEnd len="sm" w="sm" type="none"/>
          </a:ln>
        </p:spPr>
      </p:cxnSp>
      <p:cxnSp>
        <p:nvCxnSpPr>
          <p:cNvPr id="238" name="Google Shape;238;p10"/>
          <p:cNvCxnSpPr/>
          <p:nvPr/>
        </p:nvCxnSpPr>
        <p:spPr>
          <a:xfrm>
            <a:off x="10091928" y="3703320"/>
            <a:ext cx="54864" cy="914"/>
          </a:xfrm>
          <a:prstGeom prst="straightConnector1">
            <a:avLst/>
          </a:prstGeom>
          <a:noFill/>
          <a:ln cap="flat" cmpd="sng" w="12700">
            <a:solidFill>
              <a:srgbClr val="A8B5C2"/>
            </a:solidFill>
            <a:prstDash val="solid"/>
            <a:round/>
            <a:headEnd len="sm" w="sm" type="none"/>
            <a:tailEnd len="sm" w="sm" type="none"/>
          </a:ln>
        </p:spPr>
      </p:cxnSp>
      <p:cxnSp>
        <p:nvCxnSpPr>
          <p:cNvPr id="239" name="Google Shape;239;p10"/>
          <p:cNvCxnSpPr/>
          <p:nvPr/>
        </p:nvCxnSpPr>
        <p:spPr>
          <a:xfrm>
            <a:off x="8720328" y="3867912"/>
            <a:ext cx="54864" cy="914"/>
          </a:xfrm>
          <a:prstGeom prst="straightConnector1">
            <a:avLst/>
          </a:prstGeom>
          <a:noFill/>
          <a:ln cap="flat" cmpd="sng" w="12700">
            <a:solidFill>
              <a:srgbClr val="A8B5C2"/>
            </a:solidFill>
            <a:prstDash val="solid"/>
            <a:round/>
            <a:headEnd len="sm" w="sm" type="none"/>
            <a:tailEnd len="sm" w="sm" type="none"/>
          </a:ln>
        </p:spPr>
      </p:cxnSp>
      <p:cxnSp>
        <p:nvCxnSpPr>
          <p:cNvPr id="240" name="Google Shape;240;p10"/>
          <p:cNvCxnSpPr/>
          <p:nvPr/>
        </p:nvCxnSpPr>
        <p:spPr>
          <a:xfrm>
            <a:off x="10091928" y="3867912"/>
            <a:ext cx="54864" cy="914"/>
          </a:xfrm>
          <a:prstGeom prst="straightConnector1">
            <a:avLst/>
          </a:prstGeom>
          <a:noFill/>
          <a:ln cap="flat" cmpd="sng" w="12700">
            <a:solidFill>
              <a:srgbClr val="A8B5C2"/>
            </a:solidFill>
            <a:prstDash val="solid"/>
            <a:round/>
            <a:headEnd len="sm" w="sm" type="none"/>
            <a:tailEnd len="sm" w="sm" type="none"/>
          </a:ln>
        </p:spPr>
      </p:cxnSp>
      <p:sp>
        <p:nvSpPr>
          <p:cNvPr id="241" name="Google Shape;241;p10"/>
          <p:cNvSpPr/>
          <p:nvPr/>
        </p:nvSpPr>
        <p:spPr>
          <a:xfrm>
            <a:off x="8168640" y="4114800"/>
            <a:ext cx="25298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700"/>
              <a:buFont typeface="Calibri"/>
              <a:buNone/>
            </a:pPr>
            <a:r>
              <a:rPr b="1" i="0" lang="en-US" sz="1700" u="none" cap="none" strike="noStrike">
                <a:solidFill>
                  <a:srgbClr val="F1F0EE"/>
                </a:solidFill>
                <a:latin typeface="Calibri"/>
                <a:ea typeface="Calibri"/>
                <a:cs typeface="Calibri"/>
                <a:sym typeface="Calibri"/>
              </a:rPr>
              <a:t>Integrated and safe</a:t>
            </a:r>
            <a:endParaRPr b="0" i="0" sz="1700" u="none" cap="none" strike="noStrike">
              <a:solidFill>
                <a:schemeClr val="dk1"/>
              </a:solidFill>
              <a:latin typeface="Calibri"/>
              <a:ea typeface="Calibri"/>
              <a:cs typeface="Calibri"/>
              <a:sym typeface="Calibri"/>
            </a:endParaRPr>
          </a:p>
        </p:txBody>
      </p:sp>
      <p:sp>
        <p:nvSpPr>
          <p:cNvPr id="242" name="Google Shape;242;p10"/>
          <p:cNvSpPr/>
          <p:nvPr/>
        </p:nvSpPr>
        <p:spPr>
          <a:xfrm>
            <a:off x="8168640" y="4526280"/>
            <a:ext cx="252984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1F0EE"/>
              </a:buClr>
              <a:buSzPts val="1400"/>
              <a:buFont typeface="Calibri"/>
              <a:buNone/>
            </a:pPr>
            <a:r>
              <a:rPr b="0" i="0" lang="en-US" sz="1400" u="none" cap="none" strike="noStrike">
                <a:solidFill>
                  <a:srgbClr val="F1F0EE"/>
                </a:solidFill>
                <a:latin typeface="Calibri"/>
                <a:ea typeface="Calibri"/>
                <a:cs typeface="Calibri"/>
                <a:sym typeface="Calibri"/>
              </a:rPr>
              <a:t>Secure, governed, observable, and built to compose with what you already have.</a:t>
            </a:r>
            <a:endParaRPr b="0" i="0" sz="1400" u="none" cap="none" strike="noStrike">
              <a:solidFill>
                <a:schemeClr val="dk1"/>
              </a:solidFill>
              <a:latin typeface="Calibri"/>
              <a:ea typeface="Calibri"/>
              <a:cs typeface="Calibri"/>
              <a:sym typeface="Calibri"/>
            </a:endParaRPr>
          </a:p>
        </p:txBody>
      </p:sp>
      <p:sp>
        <p:nvSpPr>
          <p:cNvPr id="243" name="Google Shape;243;p10"/>
          <p:cNvSpPr/>
          <p:nvPr/>
        </p:nvSpPr>
        <p:spPr>
          <a:xfrm>
            <a:off x="457200" y="6446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100"/>
              <a:buFont typeface="Calibri"/>
              <a:buNone/>
            </a:pPr>
            <a:r>
              <a:rPr b="1" i="0" lang="en-US" sz="1100" u="none" cap="none" strike="noStrike">
                <a:solidFill>
                  <a:srgbClr val="F1F0EE"/>
                </a:solidFill>
                <a:latin typeface="Calibri"/>
                <a:ea typeface="Calibri"/>
                <a:cs typeface="Calibri"/>
                <a:sym typeface="Calibri"/>
              </a:rPr>
              <a:t>WeDo</a:t>
            </a:r>
            <a:r>
              <a:rPr b="1" i="0" lang="en-US" sz="1100" u="none" cap="none" strike="noStrike">
                <a:solidFill>
                  <a:srgbClr val="2BCFCF"/>
                </a:solidFill>
                <a:latin typeface="Calibri"/>
                <a:ea typeface="Calibri"/>
                <a:cs typeface="Calibri"/>
                <a:sym typeface="Calibri"/>
              </a:rPr>
              <a:t>AI</a:t>
            </a:r>
            <a:endParaRPr b="0" i="0" sz="1100" u="none" cap="none" strike="noStrike">
              <a:solidFill>
                <a:schemeClr val="dk1"/>
              </a:solidFill>
              <a:latin typeface="Calibri"/>
              <a:ea typeface="Calibri"/>
              <a:cs typeface="Calibri"/>
              <a:sym typeface="Calibri"/>
            </a:endParaRPr>
          </a:p>
        </p:txBody>
      </p:sp>
      <p:sp>
        <p:nvSpPr>
          <p:cNvPr id="244" name="Google Shape;244;p10"/>
          <p:cNvSpPr/>
          <p:nvPr/>
        </p:nvSpPr>
        <p:spPr>
          <a:xfrm>
            <a:off x="11064240" y="644652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000"/>
              <a:buFont typeface="Calibri"/>
              <a:buNone/>
            </a:pPr>
            <a:r>
              <a:rPr b="0" i="0" lang="en-US" sz="1000" u="none" cap="none" strike="noStrike">
                <a:solidFill>
                  <a:srgbClr val="A8B5C2"/>
                </a:solidFill>
                <a:latin typeface="Calibri"/>
                <a:ea typeface="Calibri"/>
                <a:cs typeface="Calibri"/>
                <a:sym typeface="Calibri"/>
              </a:rPr>
              <a:t>8 / 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249" name="Shape 249"/>
        <p:cNvGrpSpPr/>
        <p:nvPr/>
      </p:nvGrpSpPr>
      <p:grpSpPr>
        <a:xfrm>
          <a:off x="0" y="0"/>
          <a:ext cx="0" cy="0"/>
          <a:chOff x="0" y="0"/>
          <a:chExt cx="0" cy="0"/>
        </a:xfrm>
      </p:grpSpPr>
      <p:sp>
        <p:nvSpPr>
          <p:cNvPr id="250" name="Google Shape;250;p11"/>
          <p:cNvSpPr/>
          <p:nvPr/>
        </p:nvSpPr>
        <p:spPr>
          <a:xfrm>
            <a:off x="640080" y="45720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3200"/>
              <a:buFont typeface="Calibri"/>
              <a:buNone/>
            </a:pPr>
            <a:r>
              <a:rPr b="1" i="0" lang="en-US" sz="3200" u="none" cap="none" strike="noStrike">
                <a:solidFill>
                  <a:srgbClr val="F1F0EE"/>
                </a:solidFill>
                <a:latin typeface="Calibri"/>
                <a:ea typeface="Calibri"/>
                <a:cs typeface="Calibri"/>
                <a:sym typeface="Calibri"/>
              </a:rPr>
              <a:t>You cannot improve what you have never measured.</a:t>
            </a:r>
            <a:endParaRPr b="0" i="0" sz="3200" u="none" cap="none" strike="noStrike">
              <a:solidFill>
                <a:schemeClr val="dk1"/>
              </a:solidFill>
              <a:latin typeface="Calibri"/>
              <a:ea typeface="Calibri"/>
              <a:cs typeface="Calibri"/>
              <a:sym typeface="Calibri"/>
            </a:endParaRPr>
          </a:p>
        </p:txBody>
      </p:sp>
      <p:sp>
        <p:nvSpPr>
          <p:cNvPr id="251" name="Google Shape;251;p11"/>
          <p:cNvSpPr/>
          <p:nvPr/>
        </p:nvSpPr>
        <p:spPr>
          <a:xfrm>
            <a:off x="581475" y="2645052"/>
            <a:ext cx="6400800" cy="26370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1F0EE"/>
              </a:buClr>
              <a:buSzPts val="2000"/>
              <a:buFont typeface="Calibri"/>
              <a:buNone/>
            </a:pPr>
            <a:r>
              <a:rPr b="1" i="0" lang="en-US" sz="2000" u="none" cap="none" strike="noStrike">
                <a:solidFill>
                  <a:srgbClr val="F1F0EE"/>
                </a:solidFill>
                <a:latin typeface="Calibri"/>
                <a:ea typeface="Calibri"/>
                <a:cs typeface="Calibri"/>
                <a:sym typeface="Calibri"/>
              </a:rPr>
              <a:t>Most failed AI projects fail before the model runs.</a:t>
            </a:r>
            <a:endParaRPr b="0" i="0" sz="20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F1F0EE"/>
              </a:buClr>
              <a:buSzPts val="2000"/>
              <a:buFont typeface="Calibri"/>
              <a:buNone/>
            </a:pPr>
            <a:r>
              <a:rPr b="0" i="0" lang="en-US" sz="2000" u="none" cap="none" strike="noStrike">
                <a:solidFill>
                  <a:srgbClr val="F1F0EE"/>
                </a:solidFill>
                <a:latin typeface="Calibri"/>
                <a:ea typeface="Calibri"/>
                <a:cs typeface="Calibri"/>
                <a:sym typeface="Calibri"/>
              </a:rPr>
              <a:t>Someone bought AI to fix a process they did not understand.</a:t>
            </a:r>
            <a:endParaRPr b="0" i="0" sz="20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F1F0EE"/>
              </a:buClr>
              <a:buSzPts val="2000"/>
              <a:buFont typeface="Calibri"/>
              <a:buNone/>
            </a:pPr>
            <a:r>
              <a:rPr b="0" i="0" lang="en-US" sz="2000" u="none" cap="none" strike="noStrike">
                <a:solidFill>
                  <a:srgbClr val="F1F0EE"/>
                </a:solidFill>
                <a:latin typeface="Calibri"/>
                <a:ea typeface="Calibri"/>
                <a:cs typeface="Calibri"/>
                <a:sym typeface="Calibri"/>
              </a:rPr>
              <a:t>Measured against a baseline they invented retrospectively.</a:t>
            </a:r>
            <a:endParaRPr b="0" i="0" sz="20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2BCFCF"/>
              </a:buClr>
              <a:buSzPts val="2000"/>
              <a:buFont typeface="Calibri"/>
              <a:buNone/>
            </a:pPr>
            <a:r>
              <a:rPr b="0" i="1" lang="en-US" sz="2000" u="none" cap="none" strike="noStrike">
                <a:solidFill>
                  <a:srgbClr val="2BCFCF"/>
                </a:solidFill>
                <a:latin typeface="Calibri"/>
                <a:ea typeface="Calibri"/>
                <a:cs typeface="Calibri"/>
                <a:sym typeface="Calibri"/>
              </a:rPr>
              <a:t>Map the process. Measure it end-to-end. Then evaluate.</a:t>
            </a:r>
            <a:endParaRPr b="0" i="0" sz="2000" u="none" cap="none" strike="noStrike">
              <a:solidFill>
                <a:schemeClr val="dk1"/>
              </a:solidFill>
              <a:latin typeface="Calibri"/>
              <a:ea typeface="Calibri"/>
              <a:cs typeface="Calibri"/>
              <a:sym typeface="Calibri"/>
            </a:endParaRPr>
          </a:p>
        </p:txBody>
      </p:sp>
      <p:sp>
        <p:nvSpPr>
          <p:cNvPr id="252" name="Google Shape;252;p11"/>
          <p:cNvSpPr/>
          <p:nvPr/>
        </p:nvSpPr>
        <p:spPr>
          <a:xfrm>
            <a:off x="7589520" y="1554480"/>
            <a:ext cx="4023360" cy="41148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7589520" y="1737360"/>
            <a:ext cx="4023360" cy="1554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11000"/>
              <a:buFont typeface="Calibri"/>
              <a:buNone/>
            </a:pPr>
            <a:r>
              <a:rPr b="1" i="0" lang="en-US" sz="11000" u="none" cap="none" strike="noStrike">
                <a:solidFill>
                  <a:srgbClr val="2BCFCF"/>
                </a:solidFill>
                <a:latin typeface="Calibri"/>
                <a:ea typeface="Calibri"/>
                <a:cs typeface="Calibri"/>
                <a:sym typeface="Calibri"/>
              </a:rPr>
              <a:t>70%</a:t>
            </a:r>
            <a:endParaRPr b="0" i="0" sz="11000" u="none" cap="none" strike="noStrike">
              <a:solidFill>
                <a:schemeClr val="dk1"/>
              </a:solidFill>
              <a:latin typeface="Calibri"/>
              <a:ea typeface="Calibri"/>
              <a:cs typeface="Calibri"/>
              <a:sym typeface="Calibri"/>
            </a:endParaRPr>
          </a:p>
        </p:txBody>
      </p:sp>
      <p:sp>
        <p:nvSpPr>
          <p:cNvPr id="254" name="Google Shape;254;p11"/>
          <p:cNvSpPr/>
          <p:nvPr/>
        </p:nvSpPr>
        <p:spPr>
          <a:xfrm>
            <a:off x="7863840" y="3383280"/>
            <a:ext cx="347472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of AI project failures trace to data and process problems, not algorithms.</a:t>
            </a:r>
            <a:endParaRPr b="0" i="0" sz="1600" u="none" cap="none" strike="noStrike">
              <a:solidFill>
                <a:schemeClr val="dk1"/>
              </a:solidFill>
              <a:latin typeface="Calibri"/>
              <a:ea typeface="Calibri"/>
              <a:cs typeface="Calibri"/>
              <a:sym typeface="Calibri"/>
            </a:endParaRPr>
          </a:p>
        </p:txBody>
      </p:sp>
      <p:sp>
        <p:nvSpPr>
          <p:cNvPr id="255" name="Google Shape;255;p11"/>
          <p:cNvSpPr/>
          <p:nvPr/>
        </p:nvSpPr>
        <p:spPr>
          <a:xfrm>
            <a:off x="7863840" y="5212080"/>
            <a:ext cx="3474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1000"/>
              <a:buFont typeface="Calibri"/>
              <a:buNone/>
            </a:pPr>
            <a:r>
              <a:rPr b="0" i="1" lang="en-US" sz="1000" u="sng" cap="none" strike="noStrike">
                <a:solidFill>
                  <a:srgbClr val="A8B5C2"/>
                </a:solidFill>
                <a:latin typeface="Calibri"/>
                <a:ea typeface="Calibri"/>
                <a:cs typeface="Calibri"/>
                <a:sym typeface="Calibri"/>
                <a:hlinkClick r:id="rId3"/>
              </a:rPr>
              <a:t>Gartner, Deloitte, McKinsey</a:t>
            </a:r>
            <a:endParaRPr b="0" i="0" sz="1000" u="none" cap="none" strike="noStrike">
              <a:solidFill>
                <a:schemeClr val="dk1"/>
              </a:solidFill>
              <a:latin typeface="Calibri"/>
              <a:ea typeface="Calibri"/>
              <a:cs typeface="Calibri"/>
              <a:sym typeface="Calibri"/>
            </a:endParaRPr>
          </a:p>
        </p:txBody>
      </p:sp>
      <p:sp>
        <p:nvSpPr>
          <p:cNvPr id="256" name="Google Shape;256;p11"/>
          <p:cNvSpPr/>
          <p:nvPr/>
        </p:nvSpPr>
        <p:spPr>
          <a:xfrm>
            <a:off x="457200" y="6446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100"/>
              <a:buFont typeface="Calibri"/>
              <a:buNone/>
            </a:pPr>
            <a:r>
              <a:rPr b="1" i="0" lang="en-US" sz="1100" u="none" cap="none" strike="noStrike">
                <a:solidFill>
                  <a:srgbClr val="F1F0EE"/>
                </a:solidFill>
                <a:latin typeface="Calibri"/>
                <a:ea typeface="Calibri"/>
                <a:cs typeface="Calibri"/>
                <a:sym typeface="Calibri"/>
              </a:rPr>
              <a:t>WeDo</a:t>
            </a:r>
            <a:r>
              <a:rPr b="1" i="0" lang="en-US" sz="1100" u="none" cap="none" strike="noStrike">
                <a:solidFill>
                  <a:srgbClr val="2BCFCF"/>
                </a:solidFill>
                <a:latin typeface="Calibri"/>
                <a:ea typeface="Calibri"/>
                <a:cs typeface="Calibri"/>
                <a:sym typeface="Calibri"/>
              </a:rPr>
              <a:t>AI</a:t>
            </a:r>
            <a:endParaRPr b="0" i="0" sz="1100" u="none" cap="none" strike="noStrike">
              <a:solidFill>
                <a:schemeClr val="dk1"/>
              </a:solidFill>
              <a:latin typeface="Calibri"/>
              <a:ea typeface="Calibri"/>
              <a:cs typeface="Calibri"/>
              <a:sym typeface="Calibri"/>
            </a:endParaRPr>
          </a:p>
        </p:txBody>
      </p:sp>
      <p:sp>
        <p:nvSpPr>
          <p:cNvPr id="257" name="Google Shape;257;p11"/>
          <p:cNvSpPr/>
          <p:nvPr/>
        </p:nvSpPr>
        <p:spPr>
          <a:xfrm>
            <a:off x="11064240" y="644652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000"/>
              <a:buFont typeface="Calibri"/>
              <a:buNone/>
            </a:pPr>
            <a:r>
              <a:rPr b="0" i="0" lang="en-US" sz="1000" u="none" cap="none" strike="noStrike">
                <a:solidFill>
                  <a:srgbClr val="A8B5C2"/>
                </a:solidFill>
                <a:latin typeface="Calibri"/>
                <a:ea typeface="Calibri"/>
                <a:cs typeface="Calibri"/>
                <a:sym typeface="Calibri"/>
              </a:rPr>
              <a:t>9 / 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320" name="Shape 320"/>
        <p:cNvGrpSpPr/>
        <p:nvPr/>
      </p:nvGrpSpPr>
      <p:grpSpPr>
        <a:xfrm>
          <a:off x="0" y="0"/>
          <a:ext cx="0" cy="0"/>
          <a:chOff x="0" y="0"/>
          <a:chExt cx="0" cy="0"/>
        </a:xfrm>
      </p:grpSpPr>
      <p:sp>
        <p:nvSpPr>
          <p:cNvPr id="321" name="Google Shape;321;p14"/>
          <p:cNvSpPr/>
          <p:nvPr/>
        </p:nvSpPr>
        <p:spPr>
          <a:xfrm>
            <a:off x="640080" y="1280160"/>
            <a:ext cx="2743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2800"/>
              <a:buFont typeface="Calibri"/>
              <a:buNone/>
            </a:pPr>
            <a:r>
              <a:rPr b="1" i="0" lang="en-US" sz="2800" u="none" cap="none" strike="noStrike">
                <a:solidFill>
                  <a:srgbClr val="A8B5C2"/>
                </a:solidFill>
                <a:latin typeface="Calibri"/>
                <a:ea typeface="Calibri"/>
                <a:cs typeface="Calibri"/>
                <a:sym typeface="Calibri"/>
              </a:rPr>
              <a:t>04</a:t>
            </a:r>
            <a:endParaRPr b="0" i="0" sz="2800" u="none" cap="none" strike="noStrike">
              <a:solidFill>
                <a:schemeClr val="dk1"/>
              </a:solidFill>
              <a:latin typeface="Calibri"/>
              <a:ea typeface="Calibri"/>
              <a:cs typeface="Calibri"/>
              <a:sym typeface="Calibri"/>
            </a:endParaRPr>
          </a:p>
        </p:txBody>
      </p:sp>
      <p:sp>
        <p:nvSpPr>
          <p:cNvPr id="322" name="Google Shape;322;p14"/>
          <p:cNvSpPr/>
          <p:nvPr/>
        </p:nvSpPr>
        <p:spPr>
          <a:xfrm>
            <a:off x="640080" y="2286000"/>
            <a:ext cx="1088136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7000"/>
              <a:buFont typeface="Calibri"/>
              <a:buNone/>
            </a:pPr>
            <a:r>
              <a:rPr b="1" i="0" lang="en-US" sz="7000" u="none" cap="none" strike="noStrike">
                <a:solidFill>
                  <a:srgbClr val="F1F0EE"/>
                </a:solidFill>
                <a:latin typeface="Calibri"/>
                <a:ea typeface="Calibri"/>
                <a:cs typeface="Calibri"/>
                <a:sym typeface="Calibri"/>
              </a:rPr>
              <a:t xml:space="preserve">Three </a:t>
            </a:r>
            <a:r>
              <a:rPr b="1" i="0" lang="en-US" sz="7000" u="none" cap="none" strike="noStrike">
                <a:solidFill>
                  <a:srgbClr val="2BCFCF"/>
                </a:solidFill>
                <a:latin typeface="Calibri"/>
                <a:ea typeface="Calibri"/>
                <a:cs typeface="Calibri"/>
                <a:sym typeface="Calibri"/>
              </a:rPr>
              <a:t>lenses</a:t>
            </a:r>
            <a:r>
              <a:rPr b="1" i="0" lang="en-US" sz="7000" u="none" cap="none" strike="noStrike">
                <a:solidFill>
                  <a:srgbClr val="F1F0EE"/>
                </a:solidFill>
                <a:latin typeface="Calibri"/>
                <a:ea typeface="Calibri"/>
                <a:cs typeface="Calibri"/>
                <a:sym typeface="Calibri"/>
              </a:rPr>
              <a:t>.</a:t>
            </a:r>
            <a:endParaRPr b="0" i="0" sz="7000" u="none" cap="none" strike="noStrike">
              <a:solidFill>
                <a:schemeClr val="dk1"/>
              </a:solidFill>
              <a:latin typeface="Calibri"/>
              <a:ea typeface="Calibri"/>
              <a:cs typeface="Calibri"/>
              <a:sym typeface="Calibri"/>
            </a:endParaRPr>
          </a:p>
        </p:txBody>
      </p:sp>
      <p:sp>
        <p:nvSpPr>
          <p:cNvPr id="323" name="Google Shape;323;p14"/>
          <p:cNvSpPr/>
          <p:nvPr/>
        </p:nvSpPr>
        <p:spPr>
          <a:xfrm>
            <a:off x="640080" y="4206240"/>
            <a:ext cx="94183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B5C2"/>
              </a:buClr>
              <a:buSzPts val="2200"/>
              <a:buFont typeface="Calibri"/>
              <a:buNone/>
            </a:pPr>
            <a:r>
              <a:rPr b="0" i="1" lang="en-US" sz="2200" u="none" cap="none" strike="noStrike">
                <a:solidFill>
                  <a:srgbClr val="A8B5C2"/>
                </a:solidFill>
                <a:latin typeface="Calibri"/>
                <a:ea typeface="Calibri"/>
                <a:cs typeface="Calibri"/>
                <a:sym typeface="Calibri"/>
              </a:rPr>
              <a:t>Assuming readiness is in place, and assuming this problem actually needs AI: here is how to pressure-test the proposal.</a:t>
            </a:r>
            <a:endParaRPr b="0" i="0" sz="2200" u="none" cap="none" strike="noStrike">
              <a:solidFill>
                <a:schemeClr val="dk1"/>
              </a:solidFill>
              <a:latin typeface="Calibri"/>
              <a:ea typeface="Calibri"/>
              <a:cs typeface="Calibri"/>
              <a:sym typeface="Calibri"/>
            </a:endParaRPr>
          </a:p>
        </p:txBody>
      </p:sp>
      <p:sp>
        <p:nvSpPr>
          <p:cNvPr id="324" name="Google Shape;324;p14"/>
          <p:cNvSpPr/>
          <p:nvPr/>
        </p:nvSpPr>
        <p:spPr>
          <a:xfrm>
            <a:off x="10698480" y="603504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1" i="0" lang="en-US" sz="1600" u="none" cap="none" strike="noStrike">
                <a:solidFill>
                  <a:srgbClr val="F1F0EE"/>
                </a:solidFill>
                <a:latin typeface="Calibri"/>
                <a:ea typeface="Calibri"/>
                <a:cs typeface="Calibri"/>
                <a:sym typeface="Calibri"/>
              </a:rPr>
              <a:t>WeDo</a:t>
            </a:r>
            <a:r>
              <a:rPr b="1" i="0" lang="en-US" sz="1600" u="none" cap="none" strike="noStrike">
                <a:solidFill>
                  <a:srgbClr val="2BCFCF"/>
                </a:solidFill>
                <a:latin typeface="Calibri"/>
                <a:ea typeface="Calibri"/>
                <a:cs typeface="Calibri"/>
                <a:sym typeface="Calibri"/>
              </a:rPr>
              <a:t>AI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329" name="Shape 329"/>
        <p:cNvGrpSpPr/>
        <p:nvPr/>
      </p:nvGrpSpPr>
      <p:grpSpPr>
        <a:xfrm>
          <a:off x="0" y="0"/>
          <a:ext cx="0" cy="0"/>
          <a:chOff x="0" y="0"/>
          <a:chExt cx="0" cy="0"/>
        </a:xfrm>
      </p:grpSpPr>
      <p:sp>
        <p:nvSpPr>
          <p:cNvPr id="330" name="Google Shape;330;p15"/>
          <p:cNvSpPr/>
          <p:nvPr/>
        </p:nvSpPr>
        <p:spPr>
          <a:xfrm>
            <a:off x="640080" y="45720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3200"/>
              <a:buFont typeface="Calibri"/>
              <a:buNone/>
            </a:pPr>
            <a:r>
              <a:rPr b="1" i="0" lang="en-US" sz="3200" u="none" cap="none" strike="noStrike">
                <a:solidFill>
                  <a:srgbClr val="F1F0EE"/>
                </a:solidFill>
                <a:latin typeface="Calibri"/>
                <a:ea typeface="Calibri"/>
                <a:cs typeface="Calibri"/>
                <a:sym typeface="Calibri"/>
              </a:rPr>
              <a:t>Three lenses. One coherent test.</a:t>
            </a:r>
            <a:endParaRPr b="0" i="0" sz="3200" u="none" cap="none" strike="noStrike">
              <a:solidFill>
                <a:schemeClr val="dk1"/>
              </a:solidFill>
              <a:latin typeface="Calibri"/>
              <a:ea typeface="Calibri"/>
              <a:cs typeface="Calibri"/>
              <a:sym typeface="Calibri"/>
            </a:endParaRPr>
          </a:p>
        </p:txBody>
      </p:sp>
      <p:sp>
        <p:nvSpPr>
          <p:cNvPr id="331" name="Google Shape;331;p15"/>
          <p:cNvSpPr/>
          <p:nvPr/>
        </p:nvSpPr>
        <p:spPr>
          <a:xfrm>
            <a:off x="8077200" y="1554480"/>
            <a:ext cx="3444240" cy="420624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8351520" y="1783080"/>
            <a:ext cx="289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3200"/>
              <a:buFont typeface="Calibri"/>
              <a:buNone/>
            </a:pPr>
            <a:r>
              <a:rPr b="1" i="0" lang="en-US" sz="3200" u="none" cap="none" strike="noStrike">
                <a:solidFill>
                  <a:srgbClr val="2BCFCF"/>
                </a:solidFill>
                <a:latin typeface="Calibri"/>
                <a:ea typeface="Calibri"/>
                <a:cs typeface="Calibri"/>
                <a:sym typeface="Calibri"/>
              </a:rPr>
              <a:t>03</a:t>
            </a:r>
            <a:endParaRPr b="0" i="0" sz="3200" u="none" cap="none" strike="noStrike">
              <a:solidFill>
                <a:schemeClr val="dk1"/>
              </a:solidFill>
              <a:latin typeface="Calibri"/>
              <a:ea typeface="Calibri"/>
              <a:cs typeface="Calibri"/>
              <a:sym typeface="Calibri"/>
            </a:endParaRPr>
          </a:p>
        </p:txBody>
      </p:sp>
      <p:sp>
        <p:nvSpPr>
          <p:cNvPr id="333" name="Google Shape;333;p15"/>
          <p:cNvSpPr/>
          <p:nvPr/>
        </p:nvSpPr>
        <p:spPr>
          <a:xfrm>
            <a:off x="9406128" y="2514600"/>
            <a:ext cx="292608" cy="548640"/>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5"/>
          <p:cNvSpPr/>
          <p:nvPr/>
        </p:nvSpPr>
        <p:spPr>
          <a:xfrm>
            <a:off x="9899904" y="2770632"/>
            <a:ext cx="292608" cy="292608"/>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5" name="Google Shape;335;p15"/>
          <p:cNvCxnSpPr/>
          <p:nvPr/>
        </p:nvCxnSpPr>
        <p:spPr>
          <a:xfrm>
            <a:off x="9332976" y="3063240"/>
            <a:ext cx="932688" cy="914"/>
          </a:xfrm>
          <a:prstGeom prst="straightConnector1">
            <a:avLst/>
          </a:prstGeom>
          <a:noFill/>
          <a:ln cap="flat" cmpd="sng" w="12700">
            <a:solidFill>
              <a:srgbClr val="A8B5C2"/>
            </a:solidFill>
            <a:prstDash val="solid"/>
            <a:round/>
            <a:headEnd len="sm" w="sm" type="none"/>
            <a:tailEnd len="sm" w="sm" type="none"/>
          </a:ln>
        </p:spPr>
      </p:cxnSp>
      <p:sp>
        <p:nvSpPr>
          <p:cNvPr id="336" name="Google Shape;336;p15"/>
          <p:cNvSpPr/>
          <p:nvPr/>
        </p:nvSpPr>
        <p:spPr>
          <a:xfrm>
            <a:off x="8351520" y="3337560"/>
            <a:ext cx="2895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400"/>
              <a:buFont typeface="Calibri"/>
              <a:buNone/>
            </a:pPr>
            <a:r>
              <a:rPr b="1" i="0" lang="en-US" sz="1400" u="none" cap="none" strike="noStrike">
                <a:solidFill>
                  <a:srgbClr val="F1F0EE"/>
                </a:solidFill>
                <a:latin typeface="Calibri"/>
                <a:ea typeface="Calibri"/>
                <a:cs typeface="Calibri"/>
                <a:sym typeface="Calibri"/>
              </a:rPr>
              <a:t>UNIT ECONOMICS</a:t>
            </a:r>
            <a:endParaRPr b="0" i="0" sz="1400" u="none" cap="none" strike="noStrike">
              <a:solidFill>
                <a:schemeClr val="dk1"/>
              </a:solidFill>
              <a:latin typeface="Calibri"/>
              <a:ea typeface="Calibri"/>
              <a:cs typeface="Calibri"/>
              <a:sym typeface="Calibri"/>
            </a:endParaRPr>
          </a:p>
        </p:txBody>
      </p:sp>
      <p:sp>
        <p:nvSpPr>
          <p:cNvPr id="337" name="Google Shape;337;p15"/>
          <p:cNvSpPr/>
          <p:nvPr/>
        </p:nvSpPr>
        <p:spPr>
          <a:xfrm>
            <a:off x="8351520" y="3794760"/>
            <a:ext cx="2895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1600"/>
              <a:buFont typeface="Calibri"/>
              <a:buNone/>
            </a:pPr>
            <a:r>
              <a:rPr b="0" i="1" lang="en-US" sz="1600" u="none" cap="none" strike="noStrike">
                <a:solidFill>
                  <a:srgbClr val="A8B5C2"/>
                </a:solidFill>
                <a:latin typeface="Calibri"/>
                <a:ea typeface="Calibri"/>
                <a:cs typeface="Calibri"/>
                <a:sym typeface="Calibri"/>
              </a:rPr>
              <a:t>Stand alone</a:t>
            </a:r>
            <a:endParaRPr b="0" i="0" sz="1600" u="none" cap="none" strike="noStrike">
              <a:solidFill>
                <a:schemeClr val="dk1"/>
              </a:solidFill>
              <a:latin typeface="Calibri"/>
              <a:ea typeface="Calibri"/>
              <a:cs typeface="Calibri"/>
              <a:sym typeface="Calibri"/>
            </a:endParaRPr>
          </a:p>
        </p:txBody>
      </p:sp>
      <p:sp>
        <p:nvSpPr>
          <p:cNvPr id="338" name="Google Shape;338;p15"/>
          <p:cNvSpPr/>
          <p:nvPr/>
        </p:nvSpPr>
        <p:spPr>
          <a:xfrm>
            <a:off x="8351520" y="4251960"/>
            <a:ext cx="2895600" cy="13258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Can this proposal justify itself on its own merits, in dollars or minutes per task?</a:t>
            </a:r>
            <a:endParaRPr b="0" i="0" sz="1600" u="none" cap="none" strike="noStrike">
              <a:solidFill>
                <a:schemeClr val="dk1"/>
              </a:solidFill>
              <a:latin typeface="Calibri"/>
              <a:ea typeface="Calibri"/>
              <a:cs typeface="Calibri"/>
              <a:sym typeface="Calibri"/>
            </a:endParaRPr>
          </a:p>
        </p:txBody>
      </p:sp>
      <p:sp>
        <p:nvSpPr>
          <p:cNvPr id="339" name="Google Shape;339;p15"/>
          <p:cNvSpPr/>
          <p:nvPr/>
        </p:nvSpPr>
        <p:spPr>
          <a:xfrm>
            <a:off x="4358640" y="1554480"/>
            <a:ext cx="3444240" cy="420624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4632960" y="1783080"/>
            <a:ext cx="289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3200"/>
              <a:buFont typeface="Calibri"/>
              <a:buNone/>
            </a:pPr>
            <a:r>
              <a:rPr b="1" i="0" lang="en-US" sz="3200" u="none" cap="none" strike="noStrike">
                <a:solidFill>
                  <a:srgbClr val="2BCFCF"/>
                </a:solidFill>
                <a:latin typeface="Calibri"/>
                <a:ea typeface="Calibri"/>
                <a:cs typeface="Calibri"/>
                <a:sym typeface="Calibri"/>
              </a:rPr>
              <a:t>02</a:t>
            </a:r>
            <a:endParaRPr b="0" i="0" sz="3200" u="none" cap="none" strike="noStrike">
              <a:solidFill>
                <a:schemeClr val="dk1"/>
              </a:solidFill>
              <a:latin typeface="Calibri"/>
              <a:ea typeface="Calibri"/>
              <a:cs typeface="Calibri"/>
              <a:sym typeface="Calibri"/>
            </a:endParaRPr>
          </a:p>
        </p:txBody>
      </p:sp>
      <p:sp>
        <p:nvSpPr>
          <p:cNvPr id="341" name="Google Shape;341;p15"/>
          <p:cNvSpPr/>
          <p:nvPr/>
        </p:nvSpPr>
        <p:spPr>
          <a:xfrm>
            <a:off x="5692140" y="2468880"/>
            <a:ext cx="777240" cy="146304"/>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5762092" y="2660904"/>
            <a:ext cx="637337" cy="146304"/>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a:off x="5832043" y="2852928"/>
            <a:ext cx="497434" cy="146304"/>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6542532" y="2468880"/>
            <a:ext cx="146304" cy="201168"/>
          </a:xfrm>
          <a:prstGeom prst="upArrow">
            <a:avLst>
              <a:gd fmla="val 50000" name="adj1"/>
              <a:gd fmla="val 50000" name="adj2"/>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4632960" y="3337560"/>
            <a:ext cx="2895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400"/>
              <a:buFont typeface="Calibri"/>
              <a:buNone/>
            </a:pPr>
            <a:r>
              <a:rPr b="1" i="0" lang="en-US" sz="1400" u="none" cap="none" strike="noStrike">
                <a:solidFill>
                  <a:srgbClr val="F1F0EE"/>
                </a:solidFill>
                <a:latin typeface="Calibri"/>
                <a:ea typeface="Calibri"/>
                <a:cs typeface="Calibri"/>
                <a:sym typeface="Calibri"/>
              </a:rPr>
              <a:t>KNOWLEDGE FOUNDATION</a:t>
            </a:r>
            <a:endParaRPr b="0" i="0" sz="1400" u="none" cap="none" strike="noStrike">
              <a:solidFill>
                <a:schemeClr val="dk1"/>
              </a:solidFill>
              <a:latin typeface="Calibri"/>
              <a:ea typeface="Calibri"/>
              <a:cs typeface="Calibri"/>
              <a:sym typeface="Calibri"/>
            </a:endParaRPr>
          </a:p>
        </p:txBody>
      </p:sp>
      <p:sp>
        <p:nvSpPr>
          <p:cNvPr id="346" name="Google Shape;346;p15"/>
          <p:cNvSpPr/>
          <p:nvPr/>
        </p:nvSpPr>
        <p:spPr>
          <a:xfrm>
            <a:off x="4632960" y="3794760"/>
            <a:ext cx="2895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1600"/>
              <a:buFont typeface="Calibri"/>
              <a:buNone/>
            </a:pPr>
            <a:r>
              <a:rPr b="0" i="1" lang="en-US" sz="1600" u="none" cap="none" strike="noStrike">
                <a:solidFill>
                  <a:srgbClr val="A8B5C2"/>
                </a:solidFill>
                <a:latin typeface="Calibri"/>
                <a:ea typeface="Calibri"/>
                <a:cs typeface="Calibri"/>
                <a:sym typeface="Calibri"/>
              </a:rPr>
              <a:t>Compound</a:t>
            </a:r>
            <a:endParaRPr b="0" i="0" sz="1600" u="none" cap="none" strike="noStrike">
              <a:solidFill>
                <a:schemeClr val="dk1"/>
              </a:solidFill>
              <a:latin typeface="Calibri"/>
              <a:ea typeface="Calibri"/>
              <a:cs typeface="Calibri"/>
              <a:sym typeface="Calibri"/>
            </a:endParaRPr>
          </a:p>
        </p:txBody>
      </p:sp>
      <p:sp>
        <p:nvSpPr>
          <p:cNvPr id="347" name="Google Shape;347;p15"/>
          <p:cNvSpPr/>
          <p:nvPr/>
        </p:nvSpPr>
        <p:spPr>
          <a:xfrm>
            <a:off x="4632960" y="4251960"/>
            <a:ext cx="2895600" cy="13258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Does it build a reusable foundation that other use cases can leverage, or a silo that dies?</a:t>
            </a:r>
            <a:endParaRPr b="0" i="0" sz="1600" u="none" cap="none" strike="noStrike">
              <a:solidFill>
                <a:schemeClr val="dk1"/>
              </a:solidFill>
              <a:latin typeface="Calibri"/>
              <a:ea typeface="Calibri"/>
              <a:cs typeface="Calibri"/>
              <a:sym typeface="Calibri"/>
            </a:endParaRPr>
          </a:p>
        </p:txBody>
      </p:sp>
      <p:sp>
        <p:nvSpPr>
          <p:cNvPr id="348" name="Google Shape;348;p15"/>
          <p:cNvSpPr/>
          <p:nvPr/>
        </p:nvSpPr>
        <p:spPr>
          <a:xfrm>
            <a:off x="640080" y="1554480"/>
            <a:ext cx="3444240" cy="420624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914400" y="1783080"/>
            <a:ext cx="289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3200"/>
              <a:buFont typeface="Calibri"/>
              <a:buNone/>
            </a:pPr>
            <a:r>
              <a:rPr b="1" i="0" lang="en-US" sz="3200" u="none" cap="none" strike="noStrike">
                <a:solidFill>
                  <a:srgbClr val="2BCFCF"/>
                </a:solidFill>
                <a:latin typeface="Calibri"/>
                <a:ea typeface="Calibri"/>
                <a:cs typeface="Calibri"/>
                <a:sym typeface="Calibri"/>
              </a:rPr>
              <a:t>01</a:t>
            </a:r>
            <a:endParaRPr b="0" i="0" sz="3200" u="none" cap="none" strike="noStrike">
              <a:solidFill>
                <a:schemeClr val="dk1"/>
              </a:solidFill>
              <a:latin typeface="Calibri"/>
              <a:ea typeface="Calibri"/>
              <a:cs typeface="Calibri"/>
              <a:sym typeface="Calibri"/>
            </a:endParaRPr>
          </a:p>
        </p:txBody>
      </p:sp>
      <p:cxnSp>
        <p:nvCxnSpPr>
          <p:cNvPr id="350" name="Google Shape;350;p15"/>
          <p:cNvCxnSpPr/>
          <p:nvPr/>
        </p:nvCxnSpPr>
        <p:spPr>
          <a:xfrm>
            <a:off x="2362200" y="2496312"/>
            <a:ext cx="914" cy="292608"/>
          </a:xfrm>
          <a:prstGeom prst="straightConnector1">
            <a:avLst/>
          </a:prstGeom>
          <a:noFill/>
          <a:ln cap="flat" cmpd="sng" w="15225">
            <a:solidFill>
              <a:srgbClr val="A8B5C2"/>
            </a:solidFill>
            <a:prstDash val="solid"/>
            <a:round/>
            <a:headEnd len="sm" w="sm" type="none"/>
            <a:tailEnd len="sm" w="sm" type="none"/>
          </a:ln>
        </p:spPr>
      </p:cxnSp>
      <p:cxnSp>
        <p:nvCxnSpPr>
          <p:cNvPr id="351" name="Google Shape;351;p15"/>
          <p:cNvCxnSpPr/>
          <p:nvPr/>
        </p:nvCxnSpPr>
        <p:spPr>
          <a:xfrm>
            <a:off x="2362200" y="2788920"/>
            <a:ext cx="292608" cy="914"/>
          </a:xfrm>
          <a:prstGeom prst="straightConnector1">
            <a:avLst/>
          </a:prstGeom>
          <a:noFill/>
          <a:ln cap="flat" cmpd="sng" w="15225">
            <a:solidFill>
              <a:srgbClr val="A8B5C2"/>
            </a:solidFill>
            <a:prstDash val="solid"/>
            <a:round/>
            <a:headEnd len="sm" w="sm" type="none"/>
            <a:tailEnd len="sm" w="sm" type="none"/>
          </a:ln>
        </p:spPr>
      </p:cxnSp>
      <p:cxnSp>
        <p:nvCxnSpPr>
          <p:cNvPr id="352" name="Google Shape;352;p15"/>
          <p:cNvCxnSpPr/>
          <p:nvPr/>
        </p:nvCxnSpPr>
        <p:spPr>
          <a:xfrm>
            <a:off x="2362200" y="2788920"/>
            <a:ext cx="914" cy="292608"/>
          </a:xfrm>
          <a:prstGeom prst="straightConnector1">
            <a:avLst/>
          </a:prstGeom>
          <a:noFill/>
          <a:ln cap="flat" cmpd="sng" w="15225">
            <a:solidFill>
              <a:srgbClr val="A8B5C2"/>
            </a:solidFill>
            <a:prstDash val="solid"/>
            <a:round/>
            <a:headEnd len="sm" w="sm" type="none"/>
            <a:tailEnd len="sm" w="sm" type="none"/>
          </a:ln>
        </p:spPr>
      </p:cxnSp>
      <p:cxnSp>
        <p:nvCxnSpPr>
          <p:cNvPr id="353" name="Google Shape;353;p15"/>
          <p:cNvCxnSpPr/>
          <p:nvPr/>
        </p:nvCxnSpPr>
        <p:spPr>
          <a:xfrm>
            <a:off x="2069592" y="2788920"/>
            <a:ext cx="292608" cy="914"/>
          </a:xfrm>
          <a:prstGeom prst="straightConnector1">
            <a:avLst/>
          </a:prstGeom>
          <a:noFill/>
          <a:ln cap="flat" cmpd="sng" w="15225">
            <a:solidFill>
              <a:srgbClr val="A8B5C2"/>
            </a:solidFill>
            <a:prstDash val="solid"/>
            <a:round/>
            <a:headEnd len="sm" w="sm" type="none"/>
            <a:tailEnd len="sm" w="sm" type="none"/>
          </a:ln>
        </p:spPr>
      </p:cxnSp>
      <p:sp>
        <p:nvSpPr>
          <p:cNvPr id="354" name="Google Shape;354;p15"/>
          <p:cNvSpPr/>
          <p:nvPr/>
        </p:nvSpPr>
        <p:spPr>
          <a:xfrm>
            <a:off x="2289048" y="2423160"/>
            <a:ext cx="146304" cy="146304"/>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2581656" y="2715768"/>
            <a:ext cx="146304" cy="146304"/>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2289048" y="3008376"/>
            <a:ext cx="146304" cy="146304"/>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5"/>
          <p:cNvSpPr/>
          <p:nvPr/>
        </p:nvSpPr>
        <p:spPr>
          <a:xfrm>
            <a:off x="1996440" y="2715768"/>
            <a:ext cx="146304" cy="146304"/>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2274418" y="2701138"/>
            <a:ext cx="175565" cy="175565"/>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914400" y="3337560"/>
            <a:ext cx="2895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1400"/>
              <a:buFont typeface="Calibri"/>
              <a:buNone/>
            </a:pPr>
            <a:r>
              <a:rPr b="1" i="0" lang="en-US" sz="1400" u="none" cap="none" strike="noStrike">
                <a:solidFill>
                  <a:srgbClr val="F1F0EE"/>
                </a:solidFill>
                <a:latin typeface="Calibri"/>
                <a:ea typeface="Calibri"/>
                <a:cs typeface="Calibri"/>
                <a:sym typeface="Calibri"/>
              </a:rPr>
              <a:t>ROADMAP FIT</a:t>
            </a:r>
            <a:endParaRPr b="0" i="0" sz="1400" u="none" cap="none" strike="noStrike">
              <a:solidFill>
                <a:schemeClr val="dk1"/>
              </a:solidFill>
              <a:latin typeface="Calibri"/>
              <a:ea typeface="Calibri"/>
              <a:cs typeface="Calibri"/>
              <a:sym typeface="Calibri"/>
            </a:endParaRPr>
          </a:p>
        </p:txBody>
      </p:sp>
      <p:sp>
        <p:nvSpPr>
          <p:cNvPr id="360" name="Google Shape;360;p15"/>
          <p:cNvSpPr/>
          <p:nvPr/>
        </p:nvSpPr>
        <p:spPr>
          <a:xfrm>
            <a:off x="914400" y="3794760"/>
            <a:ext cx="2895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1600"/>
              <a:buFont typeface="Calibri"/>
              <a:buNone/>
            </a:pPr>
            <a:r>
              <a:rPr b="0" i="1" lang="en-US" sz="1600" u="none" cap="none" strike="noStrike">
                <a:solidFill>
                  <a:srgbClr val="A8B5C2"/>
                </a:solidFill>
                <a:latin typeface="Calibri"/>
                <a:ea typeface="Calibri"/>
                <a:cs typeface="Calibri"/>
                <a:sym typeface="Calibri"/>
              </a:rPr>
              <a:t>Connect</a:t>
            </a:r>
            <a:endParaRPr b="0" i="0" sz="1600" u="none" cap="none" strike="noStrike">
              <a:solidFill>
                <a:schemeClr val="dk1"/>
              </a:solidFill>
              <a:latin typeface="Calibri"/>
              <a:ea typeface="Calibri"/>
              <a:cs typeface="Calibri"/>
              <a:sym typeface="Calibri"/>
            </a:endParaRPr>
          </a:p>
        </p:txBody>
      </p:sp>
      <p:sp>
        <p:nvSpPr>
          <p:cNvPr id="361" name="Google Shape;361;p15"/>
          <p:cNvSpPr/>
          <p:nvPr/>
        </p:nvSpPr>
        <p:spPr>
          <a:xfrm>
            <a:off x="914400" y="4251960"/>
            <a:ext cx="2895600" cy="13258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Does it connect to the bigger picture, or is it another disconnected pilot?</a:t>
            </a:r>
            <a:endParaRPr b="0" i="0" sz="1600" u="none" cap="none" strike="noStrike">
              <a:solidFill>
                <a:schemeClr val="dk1"/>
              </a:solidFill>
              <a:latin typeface="Calibri"/>
              <a:ea typeface="Calibri"/>
              <a:cs typeface="Calibri"/>
              <a:sym typeface="Calibri"/>
            </a:endParaRPr>
          </a:p>
        </p:txBody>
      </p:sp>
      <p:sp>
        <p:nvSpPr>
          <p:cNvPr id="362" name="Google Shape;362;p15"/>
          <p:cNvSpPr/>
          <p:nvPr/>
        </p:nvSpPr>
        <p:spPr>
          <a:xfrm>
            <a:off x="640080" y="5943600"/>
            <a:ext cx="10881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1500"/>
              <a:buFont typeface="Calibri"/>
              <a:buNone/>
            </a:pPr>
            <a:r>
              <a:rPr b="0" i="1" lang="en-US" sz="1500" u="none" cap="none" strike="noStrike">
                <a:solidFill>
                  <a:srgbClr val="2BCFCF"/>
                </a:solidFill>
                <a:latin typeface="Calibri"/>
                <a:ea typeface="Calibri"/>
                <a:cs typeface="Calibri"/>
                <a:sym typeface="Calibri"/>
              </a:rPr>
              <a:t>All three have to be true to progress. Fail any one and the proposal isn’t ready.</a:t>
            </a:r>
            <a:endParaRPr b="0" i="0" sz="1500" u="none" cap="none" strike="noStrike">
              <a:solidFill>
                <a:schemeClr val="dk1"/>
              </a:solidFill>
              <a:latin typeface="Calibri"/>
              <a:ea typeface="Calibri"/>
              <a:cs typeface="Calibri"/>
              <a:sym typeface="Calibri"/>
            </a:endParaRPr>
          </a:p>
        </p:txBody>
      </p:sp>
      <p:sp>
        <p:nvSpPr>
          <p:cNvPr id="363" name="Google Shape;363;p15"/>
          <p:cNvSpPr/>
          <p:nvPr/>
        </p:nvSpPr>
        <p:spPr>
          <a:xfrm>
            <a:off x="457200" y="6446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100"/>
              <a:buFont typeface="Calibri"/>
              <a:buNone/>
            </a:pPr>
            <a:r>
              <a:rPr b="1" i="0" lang="en-US" sz="1100" u="none" cap="none" strike="noStrike">
                <a:solidFill>
                  <a:srgbClr val="F1F0EE"/>
                </a:solidFill>
                <a:latin typeface="Calibri"/>
                <a:ea typeface="Calibri"/>
                <a:cs typeface="Calibri"/>
                <a:sym typeface="Calibri"/>
              </a:rPr>
              <a:t>WeDo</a:t>
            </a:r>
            <a:r>
              <a:rPr b="1" i="0" lang="en-US" sz="1100" u="none" cap="none" strike="noStrike">
                <a:solidFill>
                  <a:srgbClr val="2BCFCF"/>
                </a:solidFill>
                <a:latin typeface="Calibri"/>
                <a:ea typeface="Calibri"/>
                <a:cs typeface="Calibri"/>
                <a:sym typeface="Calibri"/>
              </a:rPr>
              <a:t>AI</a:t>
            </a:r>
            <a:endParaRPr b="0" i="0" sz="1100" u="none" cap="none" strike="noStrike">
              <a:solidFill>
                <a:schemeClr val="dk1"/>
              </a:solidFill>
              <a:latin typeface="Calibri"/>
              <a:ea typeface="Calibri"/>
              <a:cs typeface="Calibri"/>
              <a:sym typeface="Calibri"/>
            </a:endParaRPr>
          </a:p>
        </p:txBody>
      </p:sp>
      <p:sp>
        <p:nvSpPr>
          <p:cNvPr id="364" name="Google Shape;364;p15"/>
          <p:cNvSpPr/>
          <p:nvPr/>
        </p:nvSpPr>
        <p:spPr>
          <a:xfrm>
            <a:off x="11064240" y="644652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000"/>
              <a:buFont typeface="Calibri"/>
              <a:buNone/>
            </a:pPr>
            <a:r>
              <a:rPr b="0" i="0" lang="en-US" sz="1000" u="none" cap="none" strike="noStrike">
                <a:solidFill>
                  <a:srgbClr val="A8B5C2"/>
                </a:solidFill>
                <a:latin typeface="Calibri"/>
                <a:ea typeface="Calibri"/>
                <a:cs typeface="Calibri"/>
                <a:sym typeface="Calibri"/>
              </a:rPr>
              <a:t>11 / 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433" name="Shape 433"/>
        <p:cNvGrpSpPr/>
        <p:nvPr/>
      </p:nvGrpSpPr>
      <p:grpSpPr>
        <a:xfrm>
          <a:off x="0" y="0"/>
          <a:ext cx="0" cy="0"/>
          <a:chOff x="0" y="0"/>
          <a:chExt cx="0" cy="0"/>
        </a:xfrm>
      </p:grpSpPr>
      <p:sp>
        <p:nvSpPr>
          <p:cNvPr id="434" name="Google Shape;434;p18"/>
          <p:cNvSpPr/>
          <p:nvPr/>
        </p:nvSpPr>
        <p:spPr>
          <a:xfrm>
            <a:off x="640080" y="45720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3200"/>
              <a:buFont typeface="Calibri"/>
              <a:buNone/>
            </a:pPr>
            <a:r>
              <a:rPr b="1" i="0" lang="en-US" sz="3200" u="none" cap="none" strike="noStrike">
                <a:solidFill>
                  <a:srgbClr val="F1F0EE"/>
                </a:solidFill>
                <a:latin typeface="Calibri"/>
                <a:ea typeface="Calibri"/>
                <a:cs typeface="Calibri"/>
                <a:sym typeface="Calibri"/>
              </a:rPr>
              <a:t>Lens 01.  Roadmap fit.</a:t>
            </a:r>
            <a:endParaRPr b="0" i="0" sz="3200" u="none" cap="none" strike="noStrike">
              <a:solidFill>
                <a:schemeClr val="dk1"/>
              </a:solidFill>
              <a:latin typeface="Calibri"/>
              <a:ea typeface="Calibri"/>
              <a:cs typeface="Calibri"/>
              <a:sym typeface="Calibri"/>
            </a:endParaRPr>
          </a:p>
        </p:txBody>
      </p:sp>
      <p:sp>
        <p:nvSpPr>
          <p:cNvPr id="435" name="Google Shape;435;p18"/>
          <p:cNvSpPr/>
          <p:nvPr/>
        </p:nvSpPr>
        <p:spPr>
          <a:xfrm>
            <a:off x="640080" y="1554480"/>
            <a:ext cx="6766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1" i="0" lang="en-US" sz="1300" u="none" cap="none" strike="noStrike">
                <a:solidFill>
                  <a:srgbClr val="2BCFCF"/>
                </a:solidFill>
                <a:latin typeface="Calibri"/>
                <a:ea typeface="Calibri"/>
                <a:cs typeface="Calibri"/>
                <a:sym typeface="Calibri"/>
              </a:rPr>
              <a:t>THE QUESTION</a:t>
            </a:r>
            <a:endParaRPr b="0" i="0" sz="1300" u="none" cap="none" strike="noStrike">
              <a:solidFill>
                <a:schemeClr val="dk1"/>
              </a:solidFill>
              <a:latin typeface="Calibri"/>
              <a:ea typeface="Calibri"/>
              <a:cs typeface="Calibri"/>
              <a:sym typeface="Calibri"/>
            </a:endParaRPr>
          </a:p>
        </p:txBody>
      </p:sp>
      <p:sp>
        <p:nvSpPr>
          <p:cNvPr id="436" name="Google Shape;436;p18"/>
          <p:cNvSpPr/>
          <p:nvPr/>
        </p:nvSpPr>
        <p:spPr>
          <a:xfrm>
            <a:off x="640080" y="1920240"/>
            <a:ext cx="67665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900"/>
              <a:buFont typeface="Calibri"/>
              <a:buNone/>
            </a:pPr>
            <a:r>
              <a:rPr b="1" i="0" lang="en-US" sz="1900" u="none" cap="none" strike="noStrike">
                <a:solidFill>
                  <a:srgbClr val="F1F0EE"/>
                </a:solidFill>
                <a:latin typeface="Calibri"/>
                <a:ea typeface="Calibri"/>
                <a:cs typeface="Calibri"/>
                <a:sym typeface="Calibri"/>
              </a:rPr>
              <a:t>How does this connect to the bigger picture? Where else in your business could this intelligence be used?</a:t>
            </a:r>
            <a:endParaRPr b="0" i="0" sz="1900" u="none" cap="none" strike="noStrike">
              <a:solidFill>
                <a:schemeClr val="dk1"/>
              </a:solidFill>
              <a:latin typeface="Calibri"/>
              <a:ea typeface="Calibri"/>
              <a:cs typeface="Calibri"/>
              <a:sym typeface="Calibri"/>
            </a:endParaRPr>
          </a:p>
        </p:txBody>
      </p:sp>
      <p:sp>
        <p:nvSpPr>
          <p:cNvPr id="437" name="Google Shape;437;p18"/>
          <p:cNvSpPr/>
          <p:nvPr/>
        </p:nvSpPr>
        <p:spPr>
          <a:xfrm>
            <a:off x="640080" y="3200400"/>
            <a:ext cx="6766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1" i="0" lang="en-US" sz="1300" u="none" cap="none" strike="noStrike">
                <a:solidFill>
                  <a:srgbClr val="2BCFCF"/>
                </a:solidFill>
                <a:latin typeface="Calibri"/>
                <a:ea typeface="Calibri"/>
                <a:cs typeface="Calibri"/>
                <a:sym typeface="Calibri"/>
              </a:rPr>
              <a:t>WHY IT MATTERS</a:t>
            </a:r>
            <a:endParaRPr b="0" i="0" sz="1300" u="none" cap="none" strike="noStrike">
              <a:solidFill>
                <a:schemeClr val="dk1"/>
              </a:solidFill>
              <a:latin typeface="Calibri"/>
              <a:ea typeface="Calibri"/>
              <a:cs typeface="Calibri"/>
              <a:sym typeface="Calibri"/>
            </a:endParaRPr>
          </a:p>
        </p:txBody>
      </p:sp>
      <p:sp>
        <p:nvSpPr>
          <p:cNvPr id="438" name="Google Shape;438;p18"/>
          <p:cNvSpPr/>
          <p:nvPr/>
        </p:nvSpPr>
        <p:spPr>
          <a:xfrm>
            <a:off x="640080" y="3566160"/>
            <a:ext cx="67665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Each AI initiative either contributes to a system that gets smarter, or it adds another disconnected pilot. There is no third option.</a:t>
            </a:r>
            <a:endParaRPr b="0" i="0" sz="1600" u="none" cap="none" strike="noStrike">
              <a:solidFill>
                <a:schemeClr val="dk1"/>
              </a:solidFill>
              <a:latin typeface="Calibri"/>
              <a:ea typeface="Calibri"/>
              <a:cs typeface="Calibri"/>
              <a:sym typeface="Calibri"/>
            </a:endParaRPr>
          </a:p>
        </p:txBody>
      </p:sp>
      <p:cxnSp>
        <p:nvCxnSpPr>
          <p:cNvPr id="439" name="Google Shape;439;p18"/>
          <p:cNvCxnSpPr/>
          <p:nvPr/>
        </p:nvCxnSpPr>
        <p:spPr>
          <a:xfrm>
            <a:off x="1280160" y="5029200"/>
            <a:ext cx="1280160" cy="914"/>
          </a:xfrm>
          <a:prstGeom prst="straightConnector1">
            <a:avLst/>
          </a:prstGeom>
          <a:noFill/>
          <a:ln cap="flat" cmpd="sng" w="19050">
            <a:solidFill>
              <a:srgbClr val="2BCFCF"/>
            </a:solidFill>
            <a:prstDash val="solid"/>
            <a:round/>
            <a:headEnd len="sm" w="sm" type="none"/>
            <a:tailEnd len="sm" w="sm" type="none"/>
          </a:ln>
        </p:spPr>
      </p:cxnSp>
      <p:cxnSp>
        <p:nvCxnSpPr>
          <p:cNvPr id="440" name="Google Shape;440;p18"/>
          <p:cNvCxnSpPr/>
          <p:nvPr/>
        </p:nvCxnSpPr>
        <p:spPr>
          <a:xfrm>
            <a:off x="1280160" y="5029200"/>
            <a:ext cx="914" cy="731520"/>
          </a:xfrm>
          <a:prstGeom prst="straightConnector1">
            <a:avLst/>
          </a:prstGeom>
          <a:noFill/>
          <a:ln cap="flat" cmpd="sng" w="19050">
            <a:solidFill>
              <a:srgbClr val="2BCFCF"/>
            </a:solidFill>
            <a:prstDash val="solid"/>
            <a:round/>
            <a:headEnd len="sm" w="sm" type="none"/>
            <a:tailEnd len="sm" w="sm" type="none"/>
          </a:ln>
        </p:spPr>
      </p:cxnSp>
      <p:cxnSp>
        <p:nvCxnSpPr>
          <p:cNvPr id="441" name="Google Shape;441;p18"/>
          <p:cNvCxnSpPr/>
          <p:nvPr/>
        </p:nvCxnSpPr>
        <p:spPr>
          <a:xfrm>
            <a:off x="1280160" y="5029200"/>
            <a:ext cx="1280160" cy="731520"/>
          </a:xfrm>
          <a:prstGeom prst="straightConnector1">
            <a:avLst/>
          </a:prstGeom>
          <a:noFill/>
          <a:ln cap="flat" cmpd="sng" w="19050">
            <a:solidFill>
              <a:srgbClr val="2BCFCF"/>
            </a:solidFill>
            <a:prstDash val="solid"/>
            <a:round/>
            <a:headEnd len="sm" w="sm" type="none"/>
            <a:tailEnd len="sm" w="sm" type="none"/>
          </a:ln>
        </p:spPr>
      </p:cxnSp>
      <p:cxnSp>
        <p:nvCxnSpPr>
          <p:cNvPr id="442" name="Google Shape;442;p18"/>
          <p:cNvCxnSpPr/>
          <p:nvPr/>
        </p:nvCxnSpPr>
        <p:spPr>
          <a:xfrm flipH="1">
            <a:off x="1280160" y="5029200"/>
            <a:ext cx="1280160" cy="731520"/>
          </a:xfrm>
          <a:prstGeom prst="straightConnector1">
            <a:avLst/>
          </a:prstGeom>
          <a:noFill/>
          <a:ln cap="flat" cmpd="sng" w="19050">
            <a:solidFill>
              <a:srgbClr val="2BCFCF"/>
            </a:solidFill>
            <a:prstDash val="solid"/>
            <a:round/>
            <a:headEnd len="sm" w="sm" type="none"/>
            <a:tailEnd len="sm" w="sm" type="none"/>
          </a:ln>
        </p:spPr>
      </p:cxnSp>
      <p:cxnSp>
        <p:nvCxnSpPr>
          <p:cNvPr id="443" name="Google Shape;443;p18"/>
          <p:cNvCxnSpPr/>
          <p:nvPr/>
        </p:nvCxnSpPr>
        <p:spPr>
          <a:xfrm>
            <a:off x="2560320" y="5029200"/>
            <a:ext cx="914" cy="731520"/>
          </a:xfrm>
          <a:prstGeom prst="straightConnector1">
            <a:avLst/>
          </a:prstGeom>
          <a:noFill/>
          <a:ln cap="flat" cmpd="sng" w="19050">
            <a:solidFill>
              <a:srgbClr val="2BCFCF"/>
            </a:solidFill>
            <a:prstDash val="solid"/>
            <a:round/>
            <a:headEnd len="sm" w="sm" type="none"/>
            <a:tailEnd len="sm" w="sm" type="none"/>
          </a:ln>
        </p:spPr>
      </p:cxnSp>
      <p:cxnSp>
        <p:nvCxnSpPr>
          <p:cNvPr id="444" name="Google Shape;444;p18"/>
          <p:cNvCxnSpPr/>
          <p:nvPr/>
        </p:nvCxnSpPr>
        <p:spPr>
          <a:xfrm>
            <a:off x="1280160" y="5760720"/>
            <a:ext cx="1280160" cy="914"/>
          </a:xfrm>
          <a:prstGeom prst="straightConnector1">
            <a:avLst/>
          </a:prstGeom>
          <a:noFill/>
          <a:ln cap="flat" cmpd="sng" w="19050">
            <a:solidFill>
              <a:srgbClr val="2BCFCF"/>
            </a:solidFill>
            <a:prstDash val="solid"/>
            <a:round/>
            <a:headEnd len="sm" w="sm" type="none"/>
            <a:tailEnd len="sm" w="sm" type="none"/>
          </a:ln>
        </p:spPr>
      </p:cxnSp>
      <p:sp>
        <p:nvSpPr>
          <p:cNvPr id="445" name="Google Shape;445;p18"/>
          <p:cNvSpPr/>
          <p:nvPr/>
        </p:nvSpPr>
        <p:spPr>
          <a:xfrm>
            <a:off x="1170432" y="4919472"/>
            <a:ext cx="219456" cy="219456"/>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8"/>
          <p:cNvSpPr/>
          <p:nvPr/>
        </p:nvSpPr>
        <p:spPr>
          <a:xfrm>
            <a:off x="2450592" y="4919472"/>
            <a:ext cx="219456" cy="219456"/>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8"/>
          <p:cNvSpPr/>
          <p:nvPr/>
        </p:nvSpPr>
        <p:spPr>
          <a:xfrm>
            <a:off x="1170432" y="5650992"/>
            <a:ext cx="219456" cy="219456"/>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8"/>
          <p:cNvSpPr/>
          <p:nvPr/>
        </p:nvSpPr>
        <p:spPr>
          <a:xfrm>
            <a:off x="2450592" y="5650992"/>
            <a:ext cx="219456" cy="219456"/>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8"/>
          <p:cNvSpPr/>
          <p:nvPr/>
        </p:nvSpPr>
        <p:spPr>
          <a:xfrm>
            <a:off x="1005840" y="6126480"/>
            <a:ext cx="1828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1200"/>
              <a:buFont typeface="Calibri"/>
              <a:buNone/>
            </a:pPr>
            <a:r>
              <a:rPr b="0" i="1" lang="en-US" sz="1200" u="none" cap="none" strike="noStrike">
                <a:solidFill>
                  <a:srgbClr val="A8B5C2"/>
                </a:solidFill>
                <a:latin typeface="Calibri"/>
                <a:ea typeface="Calibri"/>
                <a:cs typeface="Calibri"/>
                <a:sym typeface="Calibri"/>
              </a:rPr>
              <a:t>Connected: each pilot makes the next one stronger</a:t>
            </a:r>
            <a:endParaRPr b="0" i="0" sz="1200" u="none" cap="none" strike="noStrike">
              <a:solidFill>
                <a:schemeClr val="dk1"/>
              </a:solidFill>
              <a:latin typeface="Calibri"/>
              <a:ea typeface="Calibri"/>
              <a:cs typeface="Calibri"/>
              <a:sym typeface="Calibri"/>
            </a:endParaRPr>
          </a:p>
        </p:txBody>
      </p:sp>
      <p:sp>
        <p:nvSpPr>
          <p:cNvPr id="450" name="Google Shape;450;p18"/>
          <p:cNvSpPr/>
          <p:nvPr/>
        </p:nvSpPr>
        <p:spPr>
          <a:xfrm>
            <a:off x="4736592" y="4919472"/>
            <a:ext cx="219456" cy="219456"/>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8"/>
          <p:cNvSpPr/>
          <p:nvPr/>
        </p:nvSpPr>
        <p:spPr>
          <a:xfrm>
            <a:off x="6016752" y="4919472"/>
            <a:ext cx="219456" cy="219456"/>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8"/>
          <p:cNvSpPr/>
          <p:nvPr/>
        </p:nvSpPr>
        <p:spPr>
          <a:xfrm>
            <a:off x="4736592" y="5650992"/>
            <a:ext cx="219456" cy="219456"/>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8"/>
          <p:cNvSpPr/>
          <p:nvPr/>
        </p:nvSpPr>
        <p:spPr>
          <a:xfrm>
            <a:off x="6016752" y="5650992"/>
            <a:ext cx="219456" cy="219456"/>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8"/>
          <p:cNvSpPr/>
          <p:nvPr/>
        </p:nvSpPr>
        <p:spPr>
          <a:xfrm>
            <a:off x="4572000" y="6126480"/>
            <a:ext cx="1828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1200"/>
              <a:buFont typeface="Calibri"/>
              <a:buNone/>
            </a:pPr>
            <a:r>
              <a:rPr b="0" i="1" lang="en-US" sz="1200" u="none" cap="none" strike="noStrike">
                <a:solidFill>
                  <a:srgbClr val="A8B5C2"/>
                </a:solidFill>
                <a:latin typeface="Calibri"/>
                <a:ea typeface="Calibri"/>
                <a:cs typeface="Calibri"/>
                <a:sym typeface="Calibri"/>
              </a:rPr>
              <a:t>Disconnected: each pilot stands alone, then dies</a:t>
            </a:r>
            <a:endParaRPr b="0" i="0" sz="1200" u="none" cap="none" strike="noStrike">
              <a:solidFill>
                <a:schemeClr val="dk1"/>
              </a:solidFill>
              <a:latin typeface="Calibri"/>
              <a:ea typeface="Calibri"/>
              <a:cs typeface="Calibri"/>
              <a:sym typeface="Calibri"/>
            </a:endParaRPr>
          </a:p>
        </p:txBody>
      </p:sp>
      <p:sp>
        <p:nvSpPr>
          <p:cNvPr id="455" name="Google Shape;455;p18"/>
          <p:cNvSpPr/>
          <p:nvPr/>
        </p:nvSpPr>
        <p:spPr>
          <a:xfrm>
            <a:off x="7772400" y="1554480"/>
            <a:ext cx="3840480" cy="45720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8"/>
          <p:cNvSpPr/>
          <p:nvPr/>
        </p:nvSpPr>
        <p:spPr>
          <a:xfrm>
            <a:off x="7772400" y="1737360"/>
            <a:ext cx="3840480" cy="1554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11000"/>
              <a:buFont typeface="Calibri"/>
              <a:buNone/>
            </a:pPr>
            <a:r>
              <a:rPr b="1" i="0" lang="en-US" sz="11000" u="none" cap="none" strike="noStrike">
                <a:solidFill>
                  <a:srgbClr val="2BCFCF"/>
                </a:solidFill>
                <a:latin typeface="Calibri"/>
                <a:ea typeface="Calibri"/>
                <a:cs typeface="Calibri"/>
                <a:sym typeface="Calibri"/>
              </a:rPr>
              <a:t>74%</a:t>
            </a:r>
            <a:endParaRPr b="0" i="0" sz="11000" u="none" cap="none" strike="noStrike">
              <a:solidFill>
                <a:schemeClr val="dk1"/>
              </a:solidFill>
              <a:latin typeface="Calibri"/>
              <a:ea typeface="Calibri"/>
              <a:cs typeface="Calibri"/>
              <a:sym typeface="Calibri"/>
            </a:endParaRPr>
          </a:p>
        </p:txBody>
      </p:sp>
      <p:sp>
        <p:nvSpPr>
          <p:cNvPr id="457" name="Google Shape;457;p18"/>
          <p:cNvSpPr/>
          <p:nvPr/>
        </p:nvSpPr>
        <p:spPr>
          <a:xfrm>
            <a:off x="7955280" y="3383280"/>
            <a:ext cx="3474720" cy="12801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1F0EE"/>
              </a:buClr>
              <a:buSzPts val="1500"/>
              <a:buFont typeface="Calibri"/>
              <a:buNone/>
            </a:pPr>
            <a:r>
              <a:rPr b="0" i="0" lang="en-US" sz="1500" u="none" cap="none" strike="noStrike">
                <a:solidFill>
                  <a:srgbClr val="F1F0EE"/>
                </a:solidFill>
                <a:latin typeface="Calibri"/>
                <a:ea typeface="Calibri"/>
                <a:cs typeface="Calibri"/>
                <a:sym typeface="Calibri"/>
              </a:rPr>
              <a:t>of AI's economic value is captured by 20% of organisations.</a:t>
            </a:r>
            <a:endParaRPr b="0" i="0" sz="1500" u="none" cap="none" strike="noStrike">
              <a:solidFill>
                <a:schemeClr val="dk1"/>
              </a:solidFill>
              <a:latin typeface="Calibri"/>
              <a:ea typeface="Calibri"/>
              <a:cs typeface="Calibri"/>
              <a:sym typeface="Calibri"/>
            </a:endParaRPr>
          </a:p>
        </p:txBody>
      </p:sp>
      <p:sp>
        <p:nvSpPr>
          <p:cNvPr id="458" name="Google Shape;458;p18"/>
          <p:cNvSpPr/>
          <p:nvPr/>
        </p:nvSpPr>
        <p:spPr>
          <a:xfrm>
            <a:off x="7955280" y="4754880"/>
            <a:ext cx="3474720" cy="91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A8B5C2"/>
              </a:buClr>
              <a:buSzPts val="1200"/>
              <a:buFont typeface="Calibri"/>
              <a:buNone/>
            </a:pPr>
            <a:r>
              <a:rPr b="0" i="1" lang="en-US" sz="1200" u="none" cap="none" strike="noStrike">
                <a:solidFill>
                  <a:srgbClr val="A8B5C2"/>
                </a:solidFill>
                <a:latin typeface="Calibri"/>
                <a:ea typeface="Calibri"/>
                <a:cs typeface="Calibri"/>
                <a:sym typeface="Calibri"/>
              </a:rPr>
              <a:t>They tie outcomes to revenue, build governance before scaling, and treat AI as organisational redesign.</a:t>
            </a:r>
            <a:endParaRPr b="0" i="0" sz="1200" u="none" cap="none" strike="noStrike">
              <a:solidFill>
                <a:schemeClr val="dk1"/>
              </a:solidFill>
              <a:latin typeface="Calibri"/>
              <a:ea typeface="Calibri"/>
              <a:cs typeface="Calibri"/>
              <a:sym typeface="Calibri"/>
            </a:endParaRPr>
          </a:p>
        </p:txBody>
      </p:sp>
      <p:sp>
        <p:nvSpPr>
          <p:cNvPr id="459" name="Google Shape;459;p18"/>
          <p:cNvSpPr/>
          <p:nvPr/>
        </p:nvSpPr>
        <p:spPr>
          <a:xfrm>
            <a:off x="7955280" y="5760720"/>
            <a:ext cx="34747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900"/>
              <a:buFont typeface="Calibri"/>
              <a:buNone/>
            </a:pPr>
            <a:r>
              <a:rPr b="0" i="1" lang="en-US" sz="900" u="sng" cap="none" strike="noStrike">
                <a:solidFill>
                  <a:srgbClr val="A8B5C2"/>
                </a:solidFill>
                <a:latin typeface="Calibri"/>
                <a:ea typeface="Calibri"/>
                <a:cs typeface="Calibri"/>
                <a:sym typeface="Calibri"/>
                <a:hlinkClick r:id="rId3"/>
              </a:rPr>
              <a:t>PwC AI Performance Study, 2026</a:t>
            </a:r>
            <a:endParaRPr b="0" i="0" sz="900" u="none" cap="none" strike="noStrike">
              <a:solidFill>
                <a:schemeClr val="dk1"/>
              </a:solidFill>
              <a:latin typeface="Calibri"/>
              <a:ea typeface="Calibri"/>
              <a:cs typeface="Calibri"/>
              <a:sym typeface="Calibri"/>
            </a:endParaRPr>
          </a:p>
        </p:txBody>
      </p:sp>
      <p:sp>
        <p:nvSpPr>
          <p:cNvPr id="460" name="Google Shape;460;p18"/>
          <p:cNvSpPr/>
          <p:nvPr/>
        </p:nvSpPr>
        <p:spPr>
          <a:xfrm>
            <a:off x="457200" y="6446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100"/>
              <a:buFont typeface="Calibri"/>
              <a:buNone/>
            </a:pPr>
            <a:r>
              <a:rPr b="1" i="0" lang="en-US" sz="1100" u="none" cap="none" strike="noStrike">
                <a:solidFill>
                  <a:srgbClr val="F1F0EE"/>
                </a:solidFill>
                <a:latin typeface="Calibri"/>
                <a:ea typeface="Calibri"/>
                <a:cs typeface="Calibri"/>
                <a:sym typeface="Calibri"/>
              </a:rPr>
              <a:t>WeDo</a:t>
            </a:r>
            <a:r>
              <a:rPr b="1" i="0" lang="en-US" sz="1100" u="none" cap="none" strike="noStrike">
                <a:solidFill>
                  <a:srgbClr val="2BCFCF"/>
                </a:solidFill>
                <a:latin typeface="Calibri"/>
                <a:ea typeface="Calibri"/>
                <a:cs typeface="Calibri"/>
                <a:sym typeface="Calibri"/>
              </a:rPr>
              <a:t>AI</a:t>
            </a:r>
            <a:endParaRPr b="0" i="0" sz="1100" u="none" cap="none" strike="noStrike">
              <a:solidFill>
                <a:schemeClr val="dk1"/>
              </a:solidFill>
              <a:latin typeface="Calibri"/>
              <a:ea typeface="Calibri"/>
              <a:cs typeface="Calibri"/>
              <a:sym typeface="Calibri"/>
            </a:endParaRPr>
          </a:p>
        </p:txBody>
      </p:sp>
      <p:sp>
        <p:nvSpPr>
          <p:cNvPr id="461" name="Google Shape;461;p18"/>
          <p:cNvSpPr/>
          <p:nvPr/>
        </p:nvSpPr>
        <p:spPr>
          <a:xfrm>
            <a:off x="11064240" y="644652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000"/>
              <a:buFont typeface="Calibri"/>
              <a:buNone/>
            </a:pPr>
            <a:r>
              <a:rPr b="0" i="0" lang="en-US" sz="1000" u="none" cap="none" strike="noStrike">
                <a:solidFill>
                  <a:srgbClr val="A8B5C2"/>
                </a:solidFill>
                <a:latin typeface="Calibri"/>
                <a:ea typeface="Calibri"/>
                <a:cs typeface="Calibri"/>
                <a:sym typeface="Calibri"/>
              </a:rPr>
              <a:t>12 / 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394" name="Shape 394"/>
        <p:cNvGrpSpPr/>
        <p:nvPr/>
      </p:nvGrpSpPr>
      <p:grpSpPr>
        <a:xfrm>
          <a:off x="0" y="0"/>
          <a:ext cx="0" cy="0"/>
          <a:chOff x="0" y="0"/>
          <a:chExt cx="0" cy="0"/>
        </a:xfrm>
      </p:grpSpPr>
      <p:sp>
        <p:nvSpPr>
          <p:cNvPr id="395" name="Google Shape;395;p17"/>
          <p:cNvSpPr/>
          <p:nvPr/>
        </p:nvSpPr>
        <p:spPr>
          <a:xfrm>
            <a:off x="640080" y="45720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3200"/>
              <a:buFont typeface="Calibri"/>
              <a:buNone/>
            </a:pPr>
            <a:r>
              <a:rPr b="1" i="0" lang="en-US" sz="3200" u="none" cap="none" strike="noStrike">
                <a:solidFill>
                  <a:srgbClr val="F1F0EE"/>
                </a:solidFill>
                <a:latin typeface="Calibri"/>
                <a:ea typeface="Calibri"/>
                <a:cs typeface="Calibri"/>
                <a:sym typeface="Calibri"/>
              </a:rPr>
              <a:t>Lens 02.  Knowledge foundation.</a:t>
            </a:r>
            <a:endParaRPr b="0" i="0" sz="3200" u="none" cap="none" strike="noStrike">
              <a:solidFill>
                <a:schemeClr val="dk1"/>
              </a:solidFill>
              <a:latin typeface="Calibri"/>
              <a:ea typeface="Calibri"/>
              <a:cs typeface="Calibri"/>
              <a:sym typeface="Calibri"/>
            </a:endParaRPr>
          </a:p>
        </p:txBody>
      </p:sp>
      <p:sp>
        <p:nvSpPr>
          <p:cNvPr id="396" name="Google Shape;396;p17"/>
          <p:cNvSpPr/>
          <p:nvPr/>
        </p:nvSpPr>
        <p:spPr>
          <a:xfrm>
            <a:off x="640080" y="1554480"/>
            <a:ext cx="10881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1" i="0" lang="en-US" sz="1300" u="none" cap="none" strike="noStrike">
                <a:solidFill>
                  <a:srgbClr val="2BCFCF"/>
                </a:solidFill>
                <a:latin typeface="Calibri"/>
                <a:ea typeface="Calibri"/>
                <a:cs typeface="Calibri"/>
                <a:sym typeface="Calibri"/>
              </a:rPr>
              <a:t>THE QUESTION</a:t>
            </a:r>
            <a:endParaRPr b="0" i="0" sz="1300" u="none" cap="none" strike="noStrike">
              <a:solidFill>
                <a:schemeClr val="dk1"/>
              </a:solidFill>
              <a:latin typeface="Calibri"/>
              <a:ea typeface="Calibri"/>
              <a:cs typeface="Calibri"/>
              <a:sym typeface="Calibri"/>
            </a:endParaRPr>
          </a:p>
        </p:txBody>
      </p:sp>
      <p:sp>
        <p:nvSpPr>
          <p:cNvPr id="397" name="Google Shape;397;p17"/>
          <p:cNvSpPr/>
          <p:nvPr/>
        </p:nvSpPr>
        <p:spPr>
          <a:xfrm>
            <a:off x="640080" y="1920240"/>
            <a:ext cx="108813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2000"/>
              <a:buFont typeface="Calibri"/>
              <a:buNone/>
            </a:pPr>
            <a:r>
              <a:rPr b="1" i="0" lang="en-US" sz="2000" u="none" cap="none" strike="noStrike">
                <a:solidFill>
                  <a:srgbClr val="F1F0EE"/>
                </a:solidFill>
                <a:latin typeface="Calibri"/>
                <a:ea typeface="Calibri"/>
                <a:cs typeface="Calibri"/>
                <a:sym typeface="Calibri"/>
              </a:rPr>
              <a:t>Does this build a reusable knowledge foundation other use cases can leverage, or a silo that dies?</a:t>
            </a:r>
            <a:endParaRPr b="0" i="0" sz="2000" u="none" cap="none" strike="noStrike">
              <a:solidFill>
                <a:schemeClr val="dk1"/>
              </a:solidFill>
              <a:latin typeface="Calibri"/>
              <a:ea typeface="Calibri"/>
              <a:cs typeface="Calibri"/>
              <a:sym typeface="Calibri"/>
            </a:endParaRPr>
          </a:p>
        </p:txBody>
      </p:sp>
      <p:sp>
        <p:nvSpPr>
          <p:cNvPr id="398" name="Google Shape;398;p17"/>
          <p:cNvSpPr/>
          <p:nvPr/>
        </p:nvSpPr>
        <p:spPr>
          <a:xfrm>
            <a:off x="640080" y="3108960"/>
            <a:ext cx="3444240" cy="15544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7"/>
          <p:cNvSpPr/>
          <p:nvPr/>
        </p:nvSpPr>
        <p:spPr>
          <a:xfrm>
            <a:off x="914400" y="3291840"/>
            <a:ext cx="289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400"/>
              <a:buFont typeface="Calibri"/>
              <a:buNone/>
            </a:pPr>
            <a:r>
              <a:rPr b="1" i="0" lang="en-US" sz="1400" u="none" cap="none" strike="noStrike">
                <a:solidFill>
                  <a:srgbClr val="2BCFCF"/>
                </a:solidFill>
                <a:latin typeface="Calibri"/>
                <a:ea typeface="Calibri"/>
                <a:cs typeface="Calibri"/>
                <a:sym typeface="Calibri"/>
              </a:rPr>
              <a:t>VOICE</a:t>
            </a:r>
            <a:endParaRPr b="0" i="0" sz="1400" u="none" cap="none" strike="noStrike">
              <a:solidFill>
                <a:schemeClr val="dk1"/>
              </a:solidFill>
              <a:latin typeface="Calibri"/>
              <a:ea typeface="Calibri"/>
              <a:cs typeface="Calibri"/>
              <a:sym typeface="Calibri"/>
            </a:endParaRPr>
          </a:p>
        </p:txBody>
      </p:sp>
      <p:sp>
        <p:nvSpPr>
          <p:cNvPr id="400" name="Google Shape;400;p17"/>
          <p:cNvSpPr/>
          <p:nvPr/>
        </p:nvSpPr>
        <p:spPr>
          <a:xfrm>
            <a:off x="2092452" y="3794760"/>
            <a:ext cx="64008" cy="182880"/>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7"/>
          <p:cNvSpPr/>
          <p:nvPr/>
        </p:nvSpPr>
        <p:spPr>
          <a:xfrm>
            <a:off x="2211324" y="3730752"/>
            <a:ext cx="64008" cy="310896"/>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7"/>
          <p:cNvSpPr/>
          <p:nvPr/>
        </p:nvSpPr>
        <p:spPr>
          <a:xfrm>
            <a:off x="2330196" y="3703320"/>
            <a:ext cx="64008" cy="365760"/>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7"/>
          <p:cNvSpPr/>
          <p:nvPr/>
        </p:nvSpPr>
        <p:spPr>
          <a:xfrm>
            <a:off x="2449068" y="3767328"/>
            <a:ext cx="64008" cy="237744"/>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7"/>
          <p:cNvSpPr/>
          <p:nvPr/>
        </p:nvSpPr>
        <p:spPr>
          <a:xfrm>
            <a:off x="2567940" y="3813048"/>
            <a:ext cx="64008" cy="146304"/>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7"/>
          <p:cNvSpPr/>
          <p:nvPr/>
        </p:nvSpPr>
        <p:spPr>
          <a:xfrm>
            <a:off x="914400" y="4206240"/>
            <a:ext cx="2895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400"/>
              <a:buFont typeface="Calibri"/>
              <a:buNone/>
            </a:pPr>
            <a:r>
              <a:rPr b="0" i="0" lang="en-US" sz="1400" u="none" cap="none" strike="noStrike">
                <a:solidFill>
                  <a:srgbClr val="F1F0EE"/>
                </a:solidFill>
                <a:latin typeface="Calibri"/>
                <a:ea typeface="Calibri"/>
                <a:cs typeface="Calibri"/>
                <a:sym typeface="Calibri"/>
              </a:rPr>
              <a:t>Calls, transcripts, sentiment, intent, voice of customer</a:t>
            </a:r>
            <a:endParaRPr b="0" i="0" sz="1400" u="none" cap="none" strike="noStrike">
              <a:solidFill>
                <a:schemeClr val="dk1"/>
              </a:solidFill>
              <a:latin typeface="Calibri"/>
              <a:ea typeface="Calibri"/>
              <a:cs typeface="Calibri"/>
              <a:sym typeface="Calibri"/>
            </a:endParaRPr>
          </a:p>
        </p:txBody>
      </p:sp>
      <p:sp>
        <p:nvSpPr>
          <p:cNvPr id="406" name="Google Shape;406;p17"/>
          <p:cNvSpPr/>
          <p:nvPr/>
        </p:nvSpPr>
        <p:spPr>
          <a:xfrm>
            <a:off x="4358640" y="3108960"/>
            <a:ext cx="3444240" cy="15544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7"/>
          <p:cNvSpPr/>
          <p:nvPr/>
        </p:nvSpPr>
        <p:spPr>
          <a:xfrm>
            <a:off x="4632960" y="3291840"/>
            <a:ext cx="289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400"/>
              <a:buFont typeface="Calibri"/>
              <a:buNone/>
            </a:pPr>
            <a:r>
              <a:rPr b="1" i="0" lang="en-US" sz="1400" u="none" cap="none" strike="noStrike">
                <a:solidFill>
                  <a:srgbClr val="2BCFCF"/>
                </a:solidFill>
                <a:latin typeface="Calibri"/>
                <a:ea typeface="Calibri"/>
                <a:cs typeface="Calibri"/>
                <a:sym typeface="Calibri"/>
              </a:rPr>
              <a:t>DOCUMENTS</a:t>
            </a:r>
            <a:endParaRPr b="0" i="0" sz="1400" u="none" cap="none" strike="noStrike">
              <a:solidFill>
                <a:schemeClr val="dk1"/>
              </a:solidFill>
              <a:latin typeface="Calibri"/>
              <a:ea typeface="Calibri"/>
              <a:cs typeface="Calibri"/>
              <a:sym typeface="Calibri"/>
            </a:endParaRPr>
          </a:p>
        </p:txBody>
      </p:sp>
      <p:sp>
        <p:nvSpPr>
          <p:cNvPr id="408" name="Google Shape;408;p17"/>
          <p:cNvSpPr/>
          <p:nvPr/>
        </p:nvSpPr>
        <p:spPr>
          <a:xfrm>
            <a:off x="5934456" y="3703320"/>
            <a:ext cx="292608" cy="365760"/>
          </a:xfrm>
          <a:prstGeom prst="rect">
            <a:avLst/>
          </a:prstGeom>
          <a:solidFill>
            <a:srgbClr val="0B2A45"/>
          </a:solidFill>
          <a:ln cap="flat" cmpd="sng" w="15875">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9" name="Google Shape;409;p17"/>
          <p:cNvCxnSpPr/>
          <p:nvPr/>
        </p:nvCxnSpPr>
        <p:spPr>
          <a:xfrm>
            <a:off x="5980176" y="3776472"/>
            <a:ext cx="201168" cy="914"/>
          </a:xfrm>
          <a:prstGeom prst="straightConnector1">
            <a:avLst/>
          </a:prstGeom>
          <a:noFill/>
          <a:ln cap="flat" cmpd="sng" w="9525">
            <a:solidFill>
              <a:srgbClr val="2BCFCF"/>
            </a:solidFill>
            <a:prstDash val="solid"/>
            <a:round/>
            <a:headEnd len="sm" w="sm" type="none"/>
            <a:tailEnd len="sm" w="sm" type="none"/>
          </a:ln>
        </p:spPr>
      </p:cxnSp>
      <p:cxnSp>
        <p:nvCxnSpPr>
          <p:cNvPr id="410" name="Google Shape;410;p17"/>
          <p:cNvCxnSpPr/>
          <p:nvPr/>
        </p:nvCxnSpPr>
        <p:spPr>
          <a:xfrm>
            <a:off x="5980176" y="3840480"/>
            <a:ext cx="201168" cy="914"/>
          </a:xfrm>
          <a:prstGeom prst="straightConnector1">
            <a:avLst/>
          </a:prstGeom>
          <a:noFill/>
          <a:ln cap="flat" cmpd="sng" w="9525">
            <a:solidFill>
              <a:srgbClr val="2BCFCF"/>
            </a:solidFill>
            <a:prstDash val="solid"/>
            <a:round/>
            <a:headEnd len="sm" w="sm" type="none"/>
            <a:tailEnd len="sm" w="sm" type="none"/>
          </a:ln>
        </p:spPr>
      </p:cxnSp>
      <p:cxnSp>
        <p:nvCxnSpPr>
          <p:cNvPr id="411" name="Google Shape;411;p17"/>
          <p:cNvCxnSpPr/>
          <p:nvPr/>
        </p:nvCxnSpPr>
        <p:spPr>
          <a:xfrm>
            <a:off x="5980176" y="3904488"/>
            <a:ext cx="201168" cy="914"/>
          </a:xfrm>
          <a:prstGeom prst="straightConnector1">
            <a:avLst/>
          </a:prstGeom>
          <a:noFill/>
          <a:ln cap="flat" cmpd="sng" w="9525">
            <a:solidFill>
              <a:srgbClr val="2BCFCF"/>
            </a:solidFill>
            <a:prstDash val="solid"/>
            <a:round/>
            <a:headEnd len="sm" w="sm" type="none"/>
            <a:tailEnd len="sm" w="sm" type="none"/>
          </a:ln>
        </p:spPr>
      </p:cxnSp>
      <p:cxnSp>
        <p:nvCxnSpPr>
          <p:cNvPr id="412" name="Google Shape;412;p17"/>
          <p:cNvCxnSpPr/>
          <p:nvPr/>
        </p:nvCxnSpPr>
        <p:spPr>
          <a:xfrm>
            <a:off x="5980176" y="3968496"/>
            <a:ext cx="109728" cy="914"/>
          </a:xfrm>
          <a:prstGeom prst="straightConnector1">
            <a:avLst/>
          </a:prstGeom>
          <a:noFill/>
          <a:ln cap="flat" cmpd="sng" w="9525">
            <a:solidFill>
              <a:srgbClr val="2BCFCF"/>
            </a:solidFill>
            <a:prstDash val="solid"/>
            <a:round/>
            <a:headEnd len="sm" w="sm" type="none"/>
            <a:tailEnd len="sm" w="sm" type="none"/>
          </a:ln>
        </p:spPr>
      </p:cxnSp>
      <p:sp>
        <p:nvSpPr>
          <p:cNvPr id="413" name="Google Shape;413;p17"/>
          <p:cNvSpPr/>
          <p:nvPr/>
        </p:nvSpPr>
        <p:spPr>
          <a:xfrm>
            <a:off x="4632960" y="4206240"/>
            <a:ext cx="2895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400"/>
              <a:buFont typeface="Calibri"/>
              <a:buNone/>
            </a:pPr>
            <a:r>
              <a:rPr b="0" i="0" lang="en-US" sz="1400" u="none" cap="none" strike="noStrike">
                <a:solidFill>
                  <a:srgbClr val="F1F0EE"/>
                </a:solidFill>
                <a:latin typeface="Calibri"/>
                <a:ea typeface="Calibri"/>
                <a:cs typeface="Calibri"/>
                <a:sym typeface="Calibri"/>
              </a:rPr>
              <a:t>Contracts, complaints, policies, accuracy checks</a:t>
            </a:r>
            <a:endParaRPr b="0" i="0" sz="1400" u="none" cap="none" strike="noStrike">
              <a:solidFill>
                <a:schemeClr val="dk1"/>
              </a:solidFill>
              <a:latin typeface="Calibri"/>
              <a:ea typeface="Calibri"/>
              <a:cs typeface="Calibri"/>
              <a:sym typeface="Calibri"/>
            </a:endParaRPr>
          </a:p>
        </p:txBody>
      </p:sp>
      <p:sp>
        <p:nvSpPr>
          <p:cNvPr id="414" name="Google Shape;414;p17"/>
          <p:cNvSpPr/>
          <p:nvPr/>
        </p:nvSpPr>
        <p:spPr>
          <a:xfrm>
            <a:off x="8077200" y="3108960"/>
            <a:ext cx="3444240" cy="15544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7"/>
          <p:cNvSpPr/>
          <p:nvPr/>
        </p:nvSpPr>
        <p:spPr>
          <a:xfrm>
            <a:off x="8351520" y="3291840"/>
            <a:ext cx="289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400"/>
              <a:buFont typeface="Calibri"/>
              <a:buNone/>
            </a:pPr>
            <a:r>
              <a:rPr b="1" i="0" lang="en-US" sz="1400" u="none" cap="none" strike="noStrike">
                <a:solidFill>
                  <a:srgbClr val="2BCFCF"/>
                </a:solidFill>
                <a:latin typeface="Calibri"/>
                <a:ea typeface="Calibri"/>
                <a:cs typeface="Calibri"/>
                <a:sym typeface="Calibri"/>
              </a:rPr>
              <a:t>OPERATIONS</a:t>
            </a:r>
            <a:endParaRPr b="0" i="0" sz="1400" u="none" cap="none" strike="noStrike">
              <a:solidFill>
                <a:schemeClr val="dk1"/>
              </a:solidFill>
              <a:latin typeface="Calibri"/>
              <a:ea typeface="Calibri"/>
              <a:cs typeface="Calibri"/>
              <a:sym typeface="Calibri"/>
            </a:endParaRPr>
          </a:p>
        </p:txBody>
      </p:sp>
      <p:sp>
        <p:nvSpPr>
          <p:cNvPr id="416" name="Google Shape;416;p17"/>
          <p:cNvSpPr/>
          <p:nvPr/>
        </p:nvSpPr>
        <p:spPr>
          <a:xfrm>
            <a:off x="9547860" y="3867912"/>
            <a:ext cx="118872" cy="201168"/>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7"/>
          <p:cNvSpPr/>
          <p:nvPr/>
        </p:nvSpPr>
        <p:spPr>
          <a:xfrm>
            <a:off x="9739884" y="3739896"/>
            <a:ext cx="118872" cy="329184"/>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p:nvPr/>
        </p:nvSpPr>
        <p:spPr>
          <a:xfrm>
            <a:off x="9931908" y="3813048"/>
            <a:ext cx="118872" cy="256032"/>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9" name="Google Shape;419;p17"/>
          <p:cNvCxnSpPr/>
          <p:nvPr/>
        </p:nvCxnSpPr>
        <p:spPr>
          <a:xfrm>
            <a:off x="9511284" y="4069080"/>
            <a:ext cx="576072" cy="914"/>
          </a:xfrm>
          <a:prstGeom prst="straightConnector1">
            <a:avLst/>
          </a:prstGeom>
          <a:noFill/>
          <a:ln cap="flat" cmpd="sng" w="12700">
            <a:solidFill>
              <a:srgbClr val="A8B5C2"/>
            </a:solidFill>
            <a:prstDash val="solid"/>
            <a:round/>
            <a:headEnd len="sm" w="sm" type="none"/>
            <a:tailEnd len="sm" w="sm" type="none"/>
          </a:ln>
        </p:spPr>
      </p:cxnSp>
      <p:sp>
        <p:nvSpPr>
          <p:cNvPr id="420" name="Google Shape;420;p17"/>
          <p:cNvSpPr/>
          <p:nvPr/>
        </p:nvSpPr>
        <p:spPr>
          <a:xfrm>
            <a:off x="8351520" y="4206240"/>
            <a:ext cx="2895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400"/>
              <a:buFont typeface="Calibri"/>
              <a:buNone/>
            </a:pPr>
            <a:r>
              <a:rPr b="0" i="0" lang="en-US" sz="1400" u="none" cap="none" strike="noStrike">
                <a:solidFill>
                  <a:srgbClr val="F1F0EE"/>
                </a:solidFill>
                <a:latin typeface="Calibri"/>
                <a:ea typeface="Calibri"/>
                <a:cs typeface="Calibri"/>
                <a:sym typeface="Calibri"/>
              </a:rPr>
              <a:t>Outcomes, claims, finance, employee signals</a:t>
            </a:r>
            <a:endParaRPr b="0" i="0" sz="1400" u="none" cap="none" strike="noStrike">
              <a:solidFill>
                <a:schemeClr val="dk1"/>
              </a:solidFill>
              <a:latin typeface="Calibri"/>
              <a:ea typeface="Calibri"/>
              <a:cs typeface="Calibri"/>
              <a:sym typeface="Calibri"/>
            </a:endParaRPr>
          </a:p>
        </p:txBody>
      </p:sp>
      <p:cxnSp>
        <p:nvCxnSpPr>
          <p:cNvPr id="421" name="Google Shape;421;p17"/>
          <p:cNvCxnSpPr/>
          <p:nvPr/>
        </p:nvCxnSpPr>
        <p:spPr>
          <a:xfrm>
            <a:off x="2362200" y="4663440"/>
            <a:ext cx="3718560" cy="201168"/>
          </a:xfrm>
          <a:prstGeom prst="straightConnector1">
            <a:avLst/>
          </a:prstGeom>
          <a:noFill/>
          <a:ln cap="flat" cmpd="sng" w="19050">
            <a:solidFill>
              <a:srgbClr val="2BCFCF"/>
            </a:solidFill>
            <a:prstDash val="solid"/>
            <a:round/>
            <a:headEnd len="sm" w="sm" type="none"/>
            <a:tailEnd len="sm" w="sm" type="none"/>
          </a:ln>
        </p:spPr>
      </p:cxnSp>
      <p:cxnSp>
        <p:nvCxnSpPr>
          <p:cNvPr id="422" name="Google Shape;422;p17"/>
          <p:cNvCxnSpPr/>
          <p:nvPr/>
        </p:nvCxnSpPr>
        <p:spPr>
          <a:xfrm>
            <a:off x="6080760" y="4663440"/>
            <a:ext cx="914" cy="201168"/>
          </a:xfrm>
          <a:prstGeom prst="straightConnector1">
            <a:avLst/>
          </a:prstGeom>
          <a:noFill/>
          <a:ln cap="flat" cmpd="sng" w="19050">
            <a:solidFill>
              <a:srgbClr val="2BCFCF"/>
            </a:solidFill>
            <a:prstDash val="solid"/>
            <a:round/>
            <a:headEnd len="sm" w="sm" type="none"/>
            <a:tailEnd len="sm" w="sm" type="none"/>
          </a:ln>
        </p:spPr>
      </p:cxnSp>
      <p:cxnSp>
        <p:nvCxnSpPr>
          <p:cNvPr id="423" name="Google Shape;423;p17"/>
          <p:cNvCxnSpPr/>
          <p:nvPr/>
        </p:nvCxnSpPr>
        <p:spPr>
          <a:xfrm flipH="1">
            <a:off x="6080760" y="4663440"/>
            <a:ext cx="3718560" cy="201168"/>
          </a:xfrm>
          <a:prstGeom prst="straightConnector1">
            <a:avLst/>
          </a:prstGeom>
          <a:noFill/>
          <a:ln cap="flat" cmpd="sng" w="19050">
            <a:solidFill>
              <a:srgbClr val="2BCFCF"/>
            </a:solidFill>
            <a:prstDash val="solid"/>
            <a:round/>
            <a:headEnd len="sm" w="sm" type="none"/>
            <a:tailEnd len="sm" w="sm" type="none"/>
          </a:ln>
        </p:spPr>
      </p:cxnSp>
      <p:sp>
        <p:nvSpPr>
          <p:cNvPr id="424" name="Google Shape;424;p17"/>
          <p:cNvSpPr/>
          <p:nvPr/>
        </p:nvSpPr>
        <p:spPr>
          <a:xfrm>
            <a:off x="6007608" y="4791456"/>
            <a:ext cx="146304" cy="146304"/>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7"/>
          <p:cNvSpPr/>
          <p:nvPr/>
        </p:nvSpPr>
        <p:spPr>
          <a:xfrm>
            <a:off x="640080" y="4937760"/>
            <a:ext cx="108813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1700"/>
              <a:buFont typeface="Calibri"/>
              <a:buNone/>
            </a:pPr>
            <a:r>
              <a:rPr b="0" i="1" lang="en-US" sz="1700" u="none" cap="none" strike="noStrike">
                <a:solidFill>
                  <a:srgbClr val="2BCFCF"/>
                </a:solidFill>
                <a:latin typeface="Calibri"/>
                <a:ea typeface="Calibri"/>
                <a:cs typeface="Calibri"/>
                <a:sym typeface="Calibri"/>
              </a:rPr>
              <a:t>Combined, they unlock use cases none of them deliver alone.</a:t>
            </a:r>
            <a:endParaRPr b="0" i="0" sz="1700" u="none" cap="none" strike="noStrike">
              <a:solidFill>
                <a:schemeClr val="dk1"/>
              </a:solidFill>
              <a:latin typeface="Calibri"/>
              <a:ea typeface="Calibri"/>
              <a:cs typeface="Calibri"/>
              <a:sym typeface="Calibri"/>
            </a:endParaRPr>
          </a:p>
        </p:txBody>
      </p:sp>
      <p:sp>
        <p:nvSpPr>
          <p:cNvPr id="426" name="Google Shape;426;p17"/>
          <p:cNvSpPr/>
          <p:nvPr/>
        </p:nvSpPr>
        <p:spPr>
          <a:xfrm>
            <a:off x="1371600" y="5394960"/>
            <a:ext cx="94183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1F0EE"/>
              </a:buClr>
              <a:buSzPts val="1400"/>
              <a:buFont typeface="Calibri"/>
              <a:buNone/>
            </a:pPr>
            <a:r>
              <a:rPr b="0" i="0" lang="en-US" sz="1400" u="none" cap="none" strike="noStrike">
                <a:solidFill>
                  <a:srgbClr val="F1F0EE"/>
                </a:solidFill>
                <a:latin typeface="Calibri"/>
                <a:ea typeface="Calibri"/>
                <a:cs typeface="Calibri"/>
                <a:sym typeface="Calibri"/>
              </a:rPr>
              <a:t>A churn signal lives across all three. None of them sees it alone.</a:t>
            </a:r>
            <a:endParaRPr b="0" i="0" sz="1400" u="none" cap="none" strike="noStrike">
              <a:solidFill>
                <a:schemeClr val="dk1"/>
              </a:solidFill>
              <a:latin typeface="Calibri"/>
              <a:ea typeface="Calibri"/>
              <a:cs typeface="Calibri"/>
              <a:sym typeface="Calibri"/>
            </a:endParaRPr>
          </a:p>
        </p:txBody>
      </p:sp>
      <p:sp>
        <p:nvSpPr>
          <p:cNvPr id="427" name="Google Shape;427;p17"/>
          <p:cNvSpPr/>
          <p:nvPr/>
        </p:nvSpPr>
        <p:spPr>
          <a:xfrm>
            <a:off x="457200" y="6446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100"/>
              <a:buFont typeface="Calibri"/>
              <a:buNone/>
            </a:pPr>
            <a:r>
              <a:rPr b="1" i="0" lang="en-US" sz="1100" u="none" cap="none" strike="noStrike">
                <a:solidFill>
                  <a:srgbClr val="F1F0EE"/>
                </a:solidFill>
                <a:latin typeface="Calibri"/>
                <a:ea typeface="Calibri"/>
                <a:cs typeface="Calibri"/>
                <a:sym typeface="Calibri"/>
              </a:rPr>
              <a:t>WeDo</a:t>
            </a:r>
            <a:r>
              <a:rPr b="1" i="0" lang="en-US" sz="1100" u="none" cap="none" strike="noStrike">
                <a:solidFill>
                  <a:srgbClr val="2BCFCF"/>
                </a:solidFill>
                <a:latin typeface="Calibri"/>
                <a:ea typeface="Calibri"/>
                <a:cs typeface="Calibri"/>
                <a:sym typeface="Calibri"/>
              </a:rPr>
              <a:t>AI</a:t>
            </a:r>
            <a:endParaRPr b="0" i="0" sz="1100" u="none" cap="none" strike="noStrike">
              <a:solidFill>
                <a:schemeClr val="dk1"/>
              </a:solidFill>
              <a:latin typeface="Calibri"/>
              <a:ea typeface="Calibri"/>
              <a:cs typeface="Calibri"/>
              <a:sym typeface="Calibri"/>
            </a:endParaRPr>
          </a:p>
        </p:txBody>
      </p:sp>
      <p:sp>
        <p:nvSpPr>
          <p:cNvPr id="428" name="Google Shape;428;p17"/>
          <p:cNvSpPr/>
          <p:nvPr/>
        </p:nvSpPr>
        <p:spPr>
          <a:xfrm>
            <a:off x="11064240" y="644652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000"/>
              <a:buFont typeface="Calibri"/>
              <a:buNone/>
            </a:pPr>
            <a:r>
              <a:rPr b="0" i="0" lang="en-US" sz="1000" u="none" cap="none" strike="noStrike">
                <a:solidFill>
                  <a:srgbClr val="A8B5C2"/>
                </a:solidFill>
                <a:latin typeface="Calibri"/>
                <a:ea typeface="Calibri"/>
                <a:cs typeface="Calibri"/>
                <a:sym typeface="Calibri"/>
              </a:rPr>
              <a:t>13 / 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369" name="Shape 369"/>
        <p:cNvGrpSpPr/>
        <p:nvPr/>
      </p:nvGrpSpPr>
      <p:grpSpPr>
        <a:xfrm>
          <a:off x="0" y="0"/>
          <a:ext cx="0" cy="0"/>
          <a:chOff x="0" y="0"/>
          <a:chExt cx="0" cy="0"/>
        </a:xfrm>
      </p:grpSpPr>
      <p:sp>
        <p:nvSpPr>
          <p:cNvPr id="370" name="Google Shape;370;p16"/>
          <p:cNvSpPr/>
          <p:nvPr/>
        </p:nvSpPr>
        <p:spPr>
          <a:xfrm>
            <a:off x="640080" y="45720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3200"/>
              <a:buFont typeface="Calibri"/>
              <a:buNone/>
            </a:pPr>
            <a:r>
              <a:rPr b="1" i="0" lang="en-US" sz="3200" u="none" cap="none" strike="noStrike">
                <a:solidFill>
                  <a:srgbClr val="F1F0EE"/>
                </a:solidFill>
                <a:latin typeface="Calibri"/>
                <a:ea typeface="Calibri"/>
                <a:cs typeface="Calibri"/>
                <a:sym typeface="Calibri"/>
              </a:rPr>
              <a:t>Lens 03.  Unit economics.</a:t>
            </a:r>
            <a:endParaRPr b="0" i="0" sz="3200" u="none" cap="none" strike="noStrike">
              <a:solidFill>
                <a:schemeClr val="dk1"/>
              </a:solidFill>
              <a:latin typeface="Calibri"/>
              <a:ea typeface="Calibri"/>
              <a:cs typeface="Calibri"/>
              <a:sym typeface="Calibri"/>
            </a:endParaRPr>
          </a:p>
        </p:txBody>
      </p:sp>
      <p:sp>
        <p:nvSpPr>
          <p:cNvPr id="371" name="Google Shape;371;p16"/>
          <p:cNvSpPr/>
          <p:nvPr/>
        </p:nvSpPr>
        <p:spPr>
          <a:xfrm>
            <a:off x="640080" y="155448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1" i="0" lang="en-US" sz="1300" u="none" cap="none" strike="noStrike">
                <a:solidFill>
                  <a:srgbClr val="2BCFCF"/>
                </a:solidFill>
                <a:latin typeface="Calibri"/>
                <a:ea typeface="Calibri"/>
                <a:cs typeface="Calibri"/>
                <a:sym typeface="Calibri"/>
              </a:rPr>
              <a:t>THE QUESTION</a:t>
            </a:r>
            <a:endParaRPr b="0" i="0" sz="1300" u="none" cap="none" strike="noStrike">
              <a:solidFill>
                <a:schemeClr val="dk1"/>
              </a:solidFill>
              <a:latin typeface="Calibri"/>
              <a:ea typeface="Calibri"/>
              <a:cs typeface="Calibri"/>
              <a:sym typeface="Calibri"/>
            </a:endParaRPr>
          </a:p>
        </p:txBody>
      </p:sp>
      <p:sp>
        <p:nvSpPr>
          <p:cNvPr id="372" name="Google Shape;372;p16"/>
          <p:cNvSpPr/>
          <p:nvPr/>
        </p:nvSpPr>
        <p:spPr>
          <a:xfrm>
            <a:off x="640080" y="1920240"/>
            <a:ext cx="64008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900"/>
              <a:buFont typeface="Calibri"/>
              <a:buNone/>
            </a:pPr>
            <a:r>
              <a:rPr b="1" i="0" lang="en-US" sz="1900" u="none" cap="none" strike="noStrike">
                <a:solidFill>
                  <a:srgbClr val="F1F0EE"/>
                </a:solidFill>
                <a:latin typeface="Calibri"/>
                <a:ea typeface="Calibri"/>
                <a:cs typeface="Calibri"/>
                <a:sym typeface="Calibri"/>
              </a:rPr>
              <a:t>Can you name what this changes per task, per transaction, per decision, in dollars or minutes? A number, not an adjective.</a:t>
            </a:r>
            <a:endParaRPr b="0" i="0" sz="1900" u="none" cap="none" strike="noStrike">
              <a:solidFill>
                <a:schemeClr val="dk1"/>
              </a:solidFill>
              <a:latin typeface="Calibri"/>
              <a:ea typeface="Calibri"/>
              <a:cs typeface="Calibri"/>
              <a:sym typeface="Calibri"/>
            </a:endParaRPr>
          </a:p>
        </p:txBody>
      </p:sp>
      <p:sp>
        <p:nvSpPr>
          <p:cNvPr id="373" name="Google Shape;373;p16"/>
          <p:cNvSpPr/>
          <p:nvPr/>
        </p:nvSpPr>
        <p:spPr>
          <a:xfrm>
            <a:off x="640080" y="338328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1" i="0" lang="en-US" sz="1300" u="none" cap="none" strike="noStrike">
                <a:solidFill>
                  <a:srgbClr val="2BCFCF"/>
                </a:solidFill>
                <a:latin typeface="Calibri"/>
                <a:ea typeface="Calibri"/>
                <a:cs typeface="Calibri"/>
                <a:sym typeface="Calibri"/>
              </a:rPr>
              <a:t>WHY IT CUTS THROUGH HYPE</a:t>
            </a:r>
            <a:endParaRPr b="0" i="0" sz="1300" u="none" cap="none" strike="noStrike">
              <a:solidFill>
                <a:schemeClr val="dk1"/>
              </a:solidFill>
              <a:latin typeface="Calibri"/>
              <a:ea typeface="Calibri"/>
              <a:cs typeface="Calibri"/>
              <a:sym typeface="Calibri"/>
            </a:endParaRPr>
          </a:p>
        </p:txBody>
      </p:sp>
      <p:sp>
        <p:nvSpPr>
          <p:cNvPr id="374" name="Google Shape;374;p16"/>
          <p:cNvSpPr/>
          <p:nvPr/>
        </p:nvSpPr>
        <p:spPr>
          <a:xfrm>
            <a:off x="640080" y="3749040"/>
            <a:ext cx="64008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Most pitches describe capability without committing to a unit. Forcing a unit kills most bad proposals before they leave the room.</a:t>
            </a:r>
            <a:endParaRPr b="0" i="0" sz="1600" u="none" cap="none" strike="noStrike">
              <a:solidFill>
                <a:schemeClr val="dk1"/>
              </a:solidFill>
              <a:latin typeface="Calibri"/>
              <a:ea typeface="Calibri"/>
              <a:cs typeface="Calibri"/>
              <a:sym typeface="Calibri"/>
            </a:endParaRPr>
          </a:p>
        </p:txBody>
      </p:sp>
      <p:sp>
        <p:nvSpPr>
          <p:cNvPr id="375" name="Google Shape;375;p16"/>
          <p:cNvSpPr/>
          <p:nvPr/>
        </p:nvSpPr>
        <p:spPr>
          <a:xfrm>
            <a:off x="640080" y="4937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100"/>
              <a:buFont typeface="Calibri"/>
              <a:buNone/>
            </a:pPr>
            <a:r>
              <a:rPr b="1" i="0" lang="en-US" sz="1100" u="none" cap="none" strike="noStrike">
                <a:solidFill>
                  <a:srgbClr val="2BCFCF"/>
                </a:solidFill>
                <a:latin typeface="Calibri"/>
                <a:ea typeface="Calibri"/>
                <a:cs typeface="Calibri"/>
                <a:sym typeface="Calibri"/>
              </a:rPr>
              <a:t>$ PER TASK</a:t>
            </a:r>
            <a:endParaRPr b="0" i="0" sz="1100" u="none" cap="none" strike="noStrike">
              <a:solidFill>
                <a:schemeClr val="dk1"/>
              </a:solidFill>
              <a:latin typeface="Calibri"/>
              <a:ea typeface="Calibri"/>
              <a:cs typeface="Calibri"/>
              <a:sym typeface="Calibri"/>
            </a:endParaRPr>
          </a:p>
        </p:txBody>
      </p:sp>
      <p:sp>
        <p:nvSpPr>
          <p:cNvPr id="376" name="Google Shape;376;p16"/>
          <p:cNvSpPr/>
          <p:nvPr/>
        </p:nvSpPr>
        <p:spPr>
          <a:xfrm>
            <a:off x="1280160" y="5257800"/>
            <a:ext cx="640080" cy="457200"/>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a:off x="1280160" y="5257800"/>
            <a:ext cx="640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A45"/>
              </a:buClr>
              <a:buSzPts val="1400"/>
              <a:buFont typeface="Calibri"/>
              <a:buNone/>
            </a:pPr>
            <a:r>
              <a:rPr b="1" i="0" lang="en-US" sz="1400" u="none" cap="none" strike="noStrike">
                <a:solidFill>
                  <a:srgbClr val="0B2A45"/>
                </a:solidFill>
                <a:latin typeface="Calibri"/>
                <a:ea typeface="Calibri"/>
                <a:cs typeface="Calibri"/>
                <a:sym typeface="Calibri"/>
              </a:rPr>
              <a:t>$15</a:t>
            </a:r>
            <a:endParaRPr b="0" i="0" sz="1400" u="none" cap="none" strike="noStrike">
              <a:solidFill>
                <a:schemeClr val="dk1"/>
              </a:solidFill>
              <a:latin typeface="Calibri"/>
              <a:ea typeface="Calibri"/>
              <a:cs typeface="Calibri"/>
              <a:sym typeface="Calibri"/>
            </a:endParaRPr>
          </a:p>
        </p:txBody>
      </p:sp>
      <p:sp>
        <p:nvSpPr>
          <p:cNvPr id="378" name="Google Shape;378;p16"/>
          <p:cNvSpPr/>
          <p:nvPr/>
        </p:nvSpPr>
        <p:spPr>
          <a:xfrm>
            <a:off x="1005840" y="5760720"/>
            <a:ext cx="11887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1100"/>
              <a:buFont typeface="Calibri"/>
              <a:buNone/>
            </a:pPr>
            <a:r>
              <a:rPr b="0" i="0" lang="en-US" sz="1100" u="none" cap="none" strike="noStrike">
                <a:solidFill>
                  <a:srgbClr val="A8B5C2"/>
                </a:solidFill>
                <a:latin typeface="Calibri"/>
                <a:ea typeface="Calibri"/>
                <a:cs typeface="Calibri"/>
                <a:sym typeface="Calibri"/>
              </a:rPr>
              <a:t>Today</a:t>
            </a:r>
            <a:endParaRPr b="0" i="0" sz="1100" u="none" cap="none" strike="noStrike">
              <a:solidFill>
                <a:schemeClr val="dk1"/>
              </a:solidFill>
              <a:latin typeface="Calibri"/>
              <a:ea typeface="Calibri"/>
              <a:cs typeface="Calibri"/>
              <a:sym typeface="Calibri"/>
            </a:endParaRPr>
          </a:p>
        </p:txBody>
      </p:sp>
      <p:sp>
        <p:nvSpPr>
          <p:cNvPr id="379" name="Google Shape;379;p16"/>
          <p:cNvSpPr/>
          <p:nvPr/>
        </p:nvSpPr>
        <p:spPr>
          <a:xfrm>
            <a:off x="3291840" y="5468112"/>
            <a:ext cx="640080" cy="246888"/>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6"/>
          <p:cNvSpPr/>
          <p:nvPr/>
        </p:nvSpPr>
        <p:spPr>
          <a:xfrm>
            <a:off x="3291840" y="5468112"/>
            <a:ext cx="64008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A45"/>
              </a:buClr>
              <a:buSzPts val="1300"/>
              <a:buFont typeface="Calibri"/>
              <a:buNone/>
            </a:pPr>
            <a:r>
              <a:rPr b="1" i="0" lang="en-US" sz="1300" u="none" cap="none" strike="noStrike">
                <a:solidFill>
                  <a:srgbClr val="0B2A45"/>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81" name="Google Shape;381;p16"/>
          <p:cNvSpPr/>
          <p:nvPr/>
        </p:nvSpPr>
        <p:spPr>
          <a:xfrm>
            <a:off x="3017520" y="5760720"/>
            <a:ext cx="11887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1100"/>
              <a:buFont typeface="Calibri"/>
              <a:buNone/>
            </a:pPr>
            <a:r>
              <a:rPr b="0" i="0" lang="en-US" sz="1100" u="none" cap="none" strike="noStrike">
                <a:solidFill>
                  <a:srgbClr val="2BCFCF"/>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cxnSp>
        <p:nvCxnSpPr>
          <p:cNvPr id="382" name="Google Shape;382;p16"/>
          <p:cNvCxnSpPr/>
          <p:nvPr/>
        </p:nvCxnSpPr>
        <p:spPr>
          <a:xfrm>
            <a:off x="1097280" y="5715000"/>
            <a:ext cx="3017520" cy="914"/>
          </a:xfrm>
          <a:prstGeom prst="straightConnector1">
            <a:avLst/>
          </a:prstGeom>
          <a:noFill/>
          <a:ln cap="flat" cmpd="sng" w="12700">
            <a:solidFill>
              <a:srgbClr val="A8B5C2"/>
            </a:solidFill>
            <a:prstDash val="solid"/>
            <a:round/>
            <a:headEnd len="sm" w="sm" type="none"/>
            <a:tailEnd len="sm" w="sm" type="none"/>
          </a:ln>
        </p:spPr>
      </p:cxnSp>
      <p:sp>
        <p:nvSpPr>
          <p:cNvPr id="383" name="Google Shape;383;p16"/>
          <p:cNvSpPr/>
          <p:nvPr/>
        </p:nvSpPr>
        <p:spPr>
          <a:xfrm>
            <a:off x="4389120" y="52578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1200"/>
              <a:buFont typeface="Calibri"/>
              <a:buNone/>
            </a:pPr>
            <a:r>
              <a:rPr b="0" i="1" lang="en-US" sz="1200" u="none" cap="none" strike="noStrike">
                <a:solidFill>
                  <a:srgbClr val="A8B5C2"/>
                </a:solidFill>
                <a:latin typeface="Calibri"/>
                <a:ea typeface="Calibri"/>
                <a:cs typeface="Calibri"/>
                <a:sym typeface="Calibri"/>
              </a:rPr>
              <a:t>If they can't name the after number, it isn't real.</a:t>
            </a:r>
            <a:endParaRPr b="0" i="0" sz="1200" u="none" cap="none" strike="noStrike">
              <a:solidFill>
                <a:schemeClr val="dk1"/>
              </a:solidFill>
              <a:latin typeface="Calibri"/>
              <a:ea typeface="Calibri"/>
              <a:cs typeface="Calibri"/>
              <a:sym typeface="Calibri"/>
            </a:endParaRPr>
          </a:p>
        </p:txBody>
      </p:sp>
      <p:sp>
        <p:nvSpPr>
          <p:cNvPr id="384" name="Google Shape;384;p16"/>
          <p:cNvSpPr/>
          <p:nvPr/>
        </p:nvSpPr>
        <p:spPr>
          <a:xfrm>
            <a:off x="7589520" y="1554480"/>
            <a:ext cx="4023360" cy="45720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7772400" y="17373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1" i="0" lang="en-US" sz="1300" u="none" cap="none" strike="noStrike">
                <a:solidFill>
                  <a:srgbClr val="2BCFCF"/>
                </a:solidFill>
                <a:latin typeface="Calibri"/>
                <a:ea typeface="Calibri"/>
                <a:cs typeface="Calibri"/>
                <a:sym typeface="Calibri"/>
              </a:rPr>
              <a:t>THE TRAP</a:t>
            </a:r>
            <a:endParaRPr b="0" i="0" sz="1300" u="none" cap="none" strike="noStrike">
              <a:solidFill>
                <a:schemeClr val="dk1"/>
              </a:solidFill>
              <a:latin typeface="Calibri"/>
              <a:ea typeface="Calibri"/>
              <a:cs typeface="Calibri"/>
              <a:sym typeface="Calibri"/>
            </a:endParaRPr>
          </a:p>
        </p:txBody>
      </p:sp>
      <p:sp>
        <p:nvSpPr>
          <p:cNvPr id="386" name="Google Shape;386;p16"/>
          <p:cNvSpPr/>
          <p:nvPr/>
        </p:nvSpPr>
        <p:spPr>
          <a:xfrm>
            <a:off x="7772400" y="2194560"/>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800"/>
              <a:buFont typeface="Calibri"/>
              <a:buNone/>
            </a:pPr>
            <a:r>
              <a:rPr b="1" i="1" lang="en-US" sz="1800" u="none" cap="none" strike="noStrike">
                <a:solidFill>
                  <a:srgbClr val="F1F0EE"/>
                </a:solidFill>
                <a:latin typeface="Calibri"/>
                <a:ea typeface="Calibri"/>
                <a:cs typeface="Calibri"/>
                <a:sym typeface="Calibri"/>
              </a:rPr>
              <a:t>"Deflects 30% of tickets."</a:t>
            </a:r>
            <a:endParaRPr b="0" i="0" sz="1800" u="none" cap="none" strike="noStrike">
              <a:solidFill>
                <a:schemeClr val="dk1"/>
              </a:solidFill>
              <a:latin typeface="Calibri"/>
              <a:ea typeface="Calibri"/>
              <a:cs typeface="Calibri"/>
              <a:sym typeface="Calibri"/>
            </a:endParaRPr>
          </a:p>
        </p:txBody>
      </p:sp>
      <p:sp>
        <p:nvSpPr>
          <p:cNvPr id="387" name="Google Shape;387;p16"/>
          <p:cNvSpPr/>
          <p:nvPr/>
        </p:nvSpPr>
        <p:spPr>
          <a:xfrm>
            <a:off x="7772400" y="2834640"/>
            <a:ext cx="365760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CFCF"/>
              </a:buClr>
              <a:buSzPts val="1300"/>
              <a:buFont typeface="Calibri"/>
              <a:buNone/>
            </a:pPr>
            <a:r>
              <a:rPr b="0" i="1" lang="en-US" sz="1300" u="none" cap="none" strike="noStrike">
                <a:solidFill>
                  <a:srgbClr val="2BCFCF"/>
                </a:solidFill>
                <a:latin typeface="Calibri"/>
                <a:ea typeface="Calibri"/>
                <a:cs typeface="Calibri"/>
                <a:sym typeface="Calibri"/>
              </a:rPr>
              <a:t>Deflects to where?</a:t>
            </a:r>
            <a:endParaRPr b="0" i="0" sz="13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F1F0EE"/>
              </a:buClr>
              <a:buSzPts val="1300"/>
              <a:buFont typeface="Calibri"/>
              <a:buNone/>
            </a:pPr>
            <a:r>
              <a:rPr b="0" i="0" lang="en-US" sz="1300" u="none" cap="none" strike="noStrike">
                <a:solidFill>
                  <a:srgbClr val="F1F0EE"/>
                </a:solidFill>
                <a:latin typeface="Calibri"/>
                <a:ea typeface="Calibri"/>
                <a:cs typeface="Calibri"/>
                <a:sym typeface="Calibri"/>
              </a:rPr>
              <a:t>Remaining tickets are harder.</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1F0EE"/>
              </a:buClr>
              <a:buSzPts val="1300"/>
              <a:buFont typeface="Calibri"/>
              <a:buNone/>
            </a:pPr>
            <a:r>
              <a:rPr b="0" i="0" lang="en-US" sz="1300" u="none" cap="none" strike="noStrike">
                <a:solidFill>
                  <a:srgbClr val="F1F0EE"/>
                </a:solidFill>
                <a:latin typeface="Calibri"/>
                <a:ea typeface="Calibri"/>
                <a:cs typeface="Calibri"/>
                <a:sym typeface="Calibri"/>
              </a:rPr>
              <a:t>Agents get slower.</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1F0EE"/>
              </a:buClr>
              <a:buSzPts val="1300"/>
              <a:buFont typeface="Calibri"/>
              <a:buNone/>
            </a:pPr>
            <a:r>
              <a:rPr b="0" i="0" lang="en-US" sz="1300" u="none" cap="none" strike="noStrike">
                <a:solidFill>
                  <a:srgbClr val="F1F0EE"/>
                </a:solidFill>
                <a:latin typeface="Calibri"/>
                <a:ea typeface="Calibri"/>
                <a:cs typeface="Calibri"/>
                <a:sym typeface="Calibri"/>
              </a:rPr>
              <a:t>Easy questions that built morale are gone.</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1F0EE"/>
              </a:buClr>
              <a:buSzPts val="1300"/>
              <a:buFont typeface="Calibri"/>
              <a:buNone/>
            </a:pPr>
            <a:r>
              <a:rPr b="0" i="0" lang="en-US" sz="1300" u="none" cap="none" strike="noStrike">
                <a:solidFill>
                  <a:srgbClr val="F1F0EE"/>
                </a:solidFill>
                <a:latin typeface="Calibri"/>
                <a:ea typeface="Calibri"/>
                <a:cs typeface="Calibri"/>
                <a:sym typeface="Calibri"/>
              </a:rPr>
              <a:t>CSAT drops. The unit might be net negative.</a:t>
            </a:r>
            <a:endParaRPr b="0" i="0" sz="1300" u="none" cap="none" strike="noStrike">
              <a:solidFill>
                <a:schemeClr val="dk1"/>
              </a:solidFill>
              <a:latin typeface="Calibri"/>
              <a:ea typeface="Calibri"/>
              <a:cs typeface="Calibri"/>
              <a:sym typeface="Calibri"/>
            </a:endParaRPr>
          </a:p>
        </p:txBody>
      </p:sp>
      <p:sp>
        <p:nvSpPr>
          <p:cNvPr id="388" name="Google Shape;388;p16"/>
          <p:cNvSpPr/>
          <p:nvPr/>
        </p:nvSpPr>
        <p:spPr>
          <a:xfrm>
            <a:off x="457200" y="6446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100"/>
              <a:buFont typeface="Calibri"/>
              <a:buNone/>
            </a:pPr>
            <a:r>
              <a:rPr b="1" i="0" lang="en-US" sz="1100" u="none" cap="none" strike="noStrike">
                <a:solidFill>
                  <a:srgbClr val="F1F0EE"/>
                </a:solidFill>
                <a:latin typeface="Calibri"/>
                <a:ea typeface="Calibri"/>
                <a:cs typeface="Calibri"/>
                <a:sym typeface="Calibri"/>
              </a:rPr>
              <a:t>WeDo</a:t>
            </a:r>
            <a:r>
              <a:rPr b="1" i="0" lang="en-US" sz="1100" u="none" cap="none" strike="noStrike">
                <a:solidFill>
                  <a:srgbClr val="2BCFCF"/>
                </a:solidFill>
                <a:latin typeface="Calibri"/>
                <a:ea typeface="Calibri"/>
                <a:cs typeface="Calibri"/>
                <a:sym typeface="Calibri"/>
              </a:rPr>
              <a:t>AI</a:t>
            </a:r>
            <a:endParaRPr b="0" i="0" sz="1100" u="none" cap="none" strike="noStrike">
              <a:solidFill>
                <a:schemeClr val="dk1"/>
              </a:solidFill>
              <a:latin typeface="Calibri"/>
              <a:ea typeface="Calibri"/>
              <a:cs typeface="Calibri"/>
              <a:sym typeface="Calibri"/>
            </a:endParaRPr>
          </a:p>
        </p:txBody>
      </p:sp>
      <p:sp>
        <p:nvSpPr>
          <p:cNvPr id="389" name="Google Shape;389;p16"/>
          <p:cNvSpPr/>
          <p:nvPr/>
        </p:nvSpPr>
        <p:spPr>
          <a:xfrm>
            <a:off x="11064240" y="644652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000"/>
              <a:buFont typeface="Calibri"/>
              <a:buNone/>
            </a:pPr>
            <a:r>
              <a:rPr b="0" i="0" lang="en-US" sz="1000" u="none" cap="none" strike="noStrike">
                <a:solidFill>
                  <a:srgbClr val="A8B5C2"/>
                </a:solidFill>
                <a:latin typeface="Calibri"/>
                <a:ea typeface="Calibri"/>
                <a:cs typeface="Calibri"/>
                <a:sym typeface="Calibri"/>
              </a:rPr>
              <a:t>14 / 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466" name="Shape 466"/>
        <p:cNvGrpSpPr/>
        <p:nvPr/>
      </p:nvGrpSpPr>
      <p:grpSpPr>
        <a:xfrm>
          <a:off x="0" y="0"/>
          <a:ext cx="0" cy="0"/>
          <a:chOff x="0" y="0"/>
          <a:chExt cx="0" cy="0"/>
        </a:xfrm>
      </p:grpSpPr>
      <p:sp>
        <p:nvSpPr>
          <p:cNvPr id="467" name="Google Shape;467;p19"/>
          <p:cNvSpPr/>
          <p:nvPr/>
        </p:nvSpPr>
        <p:spPr>
          <a:xfrm>
            <a:off x="640080" y="1280160"/>
            <a:ext cx="2743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2800"/>
              <a:buFont typeface="Calibri"/>
              <a:buNone/>
            </a:pPr>
            <a:r>
              <a:rPr b="1" i="0" lang="en-US" sz="2800" u="none" cap="none" strike="noStrike">
                <a:solidFill>
                  <a:srgbClr val="A8B5C2"/>
                </a:solidFill>
                <a:latin typeface="Calibri"/>
                <a:ea typeface="Calibri"/>
                <a:cs typeface="Calibri"/>
                <a:sym typeface="Calibri"/>
              </a:rPr>
              <a:t>05</a:t>
            </a:r>
            <a:endParaRPr b="0" i="0" sz="2800" u="none" cap="none" strike="noStrike">
              <a:solidFill>
                <a:schemeClr val="dk1"/>
              </a:solidFill>
              <a:latin typeface="Calibri"/>
              <a:ea typeface="Calibri"/>
              <a:cs typeface="Calibri"/>
              <a:sym typeface="Calibri"/>
            </a:endParaRPr>
          </a:p>
        </p:txBody>
      </p:sp>
      <p:sp>
        <p:nvSpPr>
          <p:cNvPr id="468" name="Google Shape;468;p19"/>
          <p:cNvSpPr/>
          <p:nvPr/>
        </p:nvSpPr>
        <p:spPr>
          <a:xfrm>
            <a:off x="640080" y="2286000"/>
            <a:ext cx="1088136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5600"/>
              <a:buFont typeface="Calibri"/>
              <a:buNone/>
            </a:pPr>
            <a:r>
              <a:rPr b="1" i="0" lang="en-US" sz="5600" u="none" cap="none" strike="noStrike">
                <a:solidFill>
                  <a:srgbClr val="F1F0EE"/>
                </a:solidFill>
                <a:latin typeface="Calibri"/>
                <a:ea typeface="Calibri"/>
                <a:cs typeface="Calibri"/>
                <a:sym typeface="Calibri"/>
              </a:rPr>
              <a:t xml:space="preserve">Five questions to ask on </a:t>
            </a:r>
            <a:r>
              <a:rPr b="1" i="0" lang="en-US" sz="5600" u="none" cap="none" strike="noStrike">
                <a:solidFill>
                  <a:srgbClr val="2BCFCF"/>
                </a:solidFill>
                <a:latin typeface="Calibri"/>
                <a:ea typeface="Calibri"/>
                <a:cs typeface="Calibri"/>
                <a:sym typeface="Calibri"/>
              </a:rPr>
              <a:t>Monday</a:t>
            </a:r>
            <a:r>
              <a:rPr b="1" i="0" lang="en-US" sz="5600" u="none" cap="none" strike="noStrike">
                <a:solidFill>
                  <a:srgbClr val="F1F0EE"/>
                </a:solidFill>
                <a:latin typeface="Calibri"/>
                <a:ea typeface="Calibri"/>
                <a:cs typeface="Calibri"/>
                <a:sym typeface="Calibri"/>
              </a:rPr>
              <a:t>.</a:t>
            </a:r>
            <a:endParaRPr b="0" i="0" sz="5600" u="none" cap="none" strike="noStrike">
              <a:solidFill>
                <a:schemeClr val="dk1"/>
              </a:solidFill>
              <a:latin typeface="Calibri"/>
              <a:ea typeface="Calibri"/>
              <a:cs typeface="Calibri"/>
              <a:sym typeface="Calibri"/>
            </a:endParaRPr>
          </a:p>
        </p:txBody>
      </p:sp>
      <p:sp>
        <p:nvSpPr>
          <p:cNvPr id="469" name="Google Shape;469;p19"/>
          <p:cNvSpPr/>
          <p:nvPr/>
        </p:nvSpPr>
        <p:spPr>
          <a:xfrm>
            <a:off x="640080" y="4206240"/>
            <a:ext cx="94183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B5C2"/>
              </a:buClr>
              <a:buSzPts val="2200"/>
              <a:buFont typeface="Calibri"/>
              <a:buNone/>
            </a:pPr>
            <a:r>
              <a:rPr b="0" i="1" lang="en-US" sz="2200" u="none" cap="none" strike="noStrike">
                <a:solidFill>
                  <a:srgbClr val="A8B5C2"/>
                </a:solidFill>
                <a:latin typeface="Calibri"/>
                <a:ea typeface="Calibri"/>
                <a:cs typeface="Calibri"/>
                <a:sym typeface="Calibri"/>
              </a:rPr>
              <a:t>Real questions, not rhetorical ones.</a:t>
            </a:r>
            <a:endParaRPr b="0" i="0" sz="2200" u="none" cap="none" strike="noStrike">
              <a:solidFill>
                <a:schemeClr val="dk1"/>
              </a:solidFill>
              <a:latin typeface="Calibri"/>
              <a:ea typeface="Calibri"/>
              <a:cs typeface="Calibri"/>
              <a:sym typeface="Calibri"/>
            </a:endParaRPr>
          </a:p>
        </p:txBody>
      </p:sp>
      <p:sp>
        <p:nvSpPr>
          <p:cNvPr id="470" name="Google Shape;470;p19"/>
          <p:cNvSpPr/>
          <p:nvPr/>
        </p:nvSpPr>
        <p:spPr>
          <a:xfrm>
            <a:off x="10698480" y="603504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1" i="0" lang="en-US" sz="1600" u="none" cap="none" strike="noStrike">
                <a:solidFill>
                  <a:srgbClr val="F1F0EE"/>
                </a:solidFill>
                <a:latin typeface="Calibri"/>
                <a:ea typeface="Calibri"/>
                <a:cs typeface="Calibri"/>
                <a:sym typeface="Calibri"/>
              </a:rPr>
              <a:t>WeDo</a:t>
            </a:r>
            <a:r>
              <a:rPr b="1" i="0" lang="en-US" sz="1600" u="none" cap="none" strike="noStrike">
                <a:solidFill>
                  <a:srgbClr val="2BCFCF"/>
                </a:solidFill>
                <a:latin typeface="Calibri"/>
                <a:ea typeface="Calibri"/>
                <a:cs typeface="Calibri"/>
                <a:sym typeface="Calibri"/>
              </a:rPr>
              <a:t>AI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475" name="Shape 475"/>
        <p:cNvGrpSpPr/>
        <p:nvPr/>
      </p:nvGrpSpPr>
      <p:grpSpPr>
        <a:xfrm>
          <a:off x="0" y="0"/>
          <a:ext cx="0" cy="0"/>
          <a:chOff x="0" y="0"/>
          <a:chExt cx="0" cy="0"/>
        </a:xfrm>
      </p:grpSpPr>
      <p:sp>
        <p:nvSpPr>
          <p:cNvPr id="476" name="Google Shape;476;p20"/>
          <p:cNvSpPr/>
          <p:nvPr/>
        </p:nvSpPr>
        <p:spPr>
          <a:xfrm>
            <a:off x="640080" y="45720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3200"/>
              <a:buFont typeface="Calibri"/>
              <a:buNone/>
            </a:pPr>
            <a:r>
              <a:rPr b="1" i="0" lang="en-US" sz="3200" u="none" cap="none" strike="noStrike">
                <a:solidFill>
                  <a:srgbClr val="F1F0EE"/>
                </a:solidFill>
                <a:latin typeface="Calibri"/>
                <a:ea typeface="Calibri"/>
                <a:cs typeface="Calibri"/>
                <a:sym typeface="Calibri"/>
              </a:rPr>
              <a:t>The five questions.</a:t>
            </a:r>
            <a:endParaRPr b="0" i="0" sz="3200" u="none" cap="none" strike="noStrike">
              <a:solidFill>
                <a:schemeClr val="dk1"/>
              </a:solidFill>
              <a:latin typeface="Calibri"/>
              <a:ea typeface="Calibri"/>
              <a:cs typeface="Calibri"/>
              <a:sym typeface="Calibri"/>
            </a:endParaRPr>
          </a:p>
        </p:txBody>
      </p:sp>
      <p:sp>
        <p:nvSpPr>
          <p:cNvPr id="477" name="Google Shape;477;p20"/>
          <p:cNvSpPr/>
          <p:nvPr/>
        </p:nvSpPr>
        <p:spPr>
          <a:xfrm>
            <a:off x="640080" y="1463040"/>
            <a:ext cx="777240" cy="8686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0"/>
          <p:cNvSpPr/>
          <p:nvPr/>
        </p:nvSpPr>
        <p:spPr>
          <a:xfrm>
            <a:off x="640080" y="1463040"/>
            <a:ext cx="77724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3600"/>
              <a:buFont typeface="Calibri"/>
              <a:buNone/>
            </a:pPr>
            <a:r>
              <a:rPr b="1" i="0" lang="en-US" sz="3600" u="none" cap="none" strike="noStrike">
                <a:solidFill>
                  <a:srgbClr val="2BCFCF"/>
                </a:solidFill>
                <a:latin typeface="Calibri"/>
                <a:ea typeface="Calibri"/>
                <a:cs typeface="Calibri"/>
                <a:sym typeface="Calibri"/>
              </a:rPr>
              <a:t>1</a:t>
            </a:r>
            <a:endParaRPr b="0" i="0" sz="3600" u="none" cap="none" strike="noStrike">
              <a:solidFill>
                <a:schemeClr val="dk1"/>
              </a:solidFill>
              <a:latin typeface="Calibri"/>
              <a:ea typeface="Calibri"/>
              <a:cs typeface="Calibri"/>
              <a:sym typeface="Calibri"/>
            </a:endParaRPr>
          </a:p>
        </p:txBody>
      </p:sp>
      <p:sp>
        <p:nvSpPr>
          <p:cNvPr id="479" name="Google Shape;479;p20"/>
          <p:cNvSpPr/>
          <p:nvPr/>
        </p:nvSpPr>
        <p:spPr>
          <a:xfrm>
            <a:off x="1577340" y="1837944"/>
            <a:ext cx="118872" cy="118872"/>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0" name="Google Shape;480;p20"/>
          <p:cNvCxnSpPr/>
          <p:nvPr/>
        </p:nvCxnSpPr>
        <p:spPr>
          <a:xfrm>
            <a:off x="1696212" y="1897380"/>
            <a:ext cx="73152" cy="914"/>
          </a:xfrm>
          <a:prstGeom prst="straightConnector1">
            <a:avLst/>
          </a:prstGeom>
          <a:noFill/>
          <a:ln cap="flat" cmpd="sng" w="12700">
            <a:solidFill>
              <a:srgbClr val="2BCFCF"/>
            </a:solidFill>
            <a:prstDash val="solid"/>
            <a:round/>
            <a:headEnd len="sm" w="sm" type="none"/>
            <a:tailEnd len="sm" w="sm" type="none"/>
          </a:ln>
        </p:spPr>
      </p:cxnSp>
      <p:sp>
        <p:nvSpPr>
          <p:cNvPr id="481" name="Google Shape;481;p20"/>
          <p:cNvSpPr/>
          <p:nvPr/>
        </p:nvSpPr>
        <p:spPr>
          <a:xfrm>
            <a:off x="1769364" y="1837944"/>
            <a:ext cx="118872" cy="118872"/>
          </a:xfrm>
          <a:prstGeom prst="rect">
            <a:avLst/>
          </a:prstGeom>
          <a:solidFill>
            <a:srgbClr val="0B2A45"/>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2" name="Google Shape;482;p20"/>
          <p:cNvCxnSpPr/>
          <p:nvPr/>
        </p:nvCxnSpPr>
        <p:spPr>
          <a:xfrm>
            <a:off x="1888236" y="1897380"/>
            <a:ext cx="73152" cy="914"/>
          </a:xfrm>
          <a:prstGeom prst="straightConnector1">
            <a:avLst/>
          </a:prstGeom>
          <a:noFill/>
          <a:ln cap="flat" cmpd="sng" w="12700">
            <a:solidFill>
              <a:srgbClr val="2BCFCF"/>
            </a:solidFill>
            <a:prstDash val="solid"/>
            <a:round/>
            <a:headEnd len="sm" w="sm" type="none"/>
            <a:tailEnd len="sm" w="sm" type="none"/>
          </a:ln>
        </p:spPr>
      </p:cxnSp>
      <p:sp>
        <p:nvSpPr>
          <p:cNvPr id="483" name="Google Shape;483;p20"/>
          <p:cNvSpPr/>
          <p:nvPr/>
        </p:nvSpPr>
        <p:spPr>
          <a:xfrm>
            <a:off x="1961388" y="1837944"/>
            <a:ext cx="118872" cy="118872"/>
          </a:xfrm>
          <a:prstGeom prst="rect">
            <a:avLst/>
          </a:prstGeom>
          <a:solidFill>
            <a:srgbClr val="0B2A45"/>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0"/>
          <p:cNvSpPr/>
          <p:nvPr/>
        </p:nvSpPr>
        <p:spPr>
          <a:xfrm>
            <a:off x="2194560" y="155448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100"/>
              <a:buFont typeface="Calibri"/>
              <a:buNone/>
            </a:pPr>
            <a:r>
              <a:rPr b="1" i="0" lang="en-US" sz="1100" u="none" cap="none" strike="noStrike">
                <a:solidFill>
                  <a:srgbClr val="2BCFCF"/>
                </a:solidFill>
                <a:latin typeface="Calibri"/>
                <a:ea typeface="Calibri"/>
                <a:cs typeface="Calibri"/>
                <a:sym typeface="Calibri"/>
              </a:rPr>
              <a:t>PROCESS</a:t>
            </a:r>
            <a:endParaRPr b="0" i="0" sz="1100" u="none" cap="none" strike="noStrike">
              <a:solidFill>
                <a:schemeClr val="dk1"/>
              </a:solidFill>
              <a:latin typeface="Calibri"/>
              <a:ea typeface="Calibri"/>
              <a:cs typeface="Calibri"/>
              <a:sym typeface="Calibri"/>
            </a:endParaRPr>
          </a:p>
        </p:txBody>
      </p:sp>
      <p:sp>
        <p:nvSpPr>
          <p:cNvPr id="485" name="Google Shape;485;p20"/>
          <p:cNvSpPr/>
          <p:nvPr/>
        </p:nvSpPr>
        <p:spPr>
          <a:xfrm>
            <a:off x="2194560" y="1828800"/>
            <a:ext cx="94183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Do we understand our end-to-end process?</a:t>
            </a:r>
            <a:endParaRPr b="0" i="0" sz="1600" u="none" cap="none" strike="noStrike">
              <a:solidFill>
                <a:schemeClr val="dk1"/>
              </a:solidFill>
              <a:latin typeface="Calibri"/>
              <a:ea typeface="Calibri"/>
              <a:cs typeface="Calibri"/>
              <a:sym typeface="Calibri"/>
            </a:endParaRPr>
          </a:p>
        </p:txBody>
      </p:sp>
      <p:sp>
        <p:nvSpPr>
          <p:cNvPr id="486" name="Google Shape;486;p20"/>
          <p:cNvSpPr/>
          <p:nvPr/>
        </p:nvSpPr>
        <p:spPr>
          <a:xfrm>
            <a:off x="640080" y="2423160"/>
            <a:ext cx="777240" cy="8686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0"/>
          <p:cNvSpPr/>
          <p:nvPr/>
        </p:nvSpPr>
        <p:spPr>
          <a:xfrm>
            <a:off x="640080" y="2423160"/>
            <a:ext cx="77724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3600"/>
              <a:buFont typeface="Calibri"/>
              <a:buNone/>
            </a:pPr>
            <a:r>
              <a:rPr b="1" i="0" lang="en-US" sz="3600" u="none" cap="none" strike="noStrike">
                <a:solidFill>
                  <a:srgbClr val="2BCFCF"/>
                </a:solidFill>
                <a:latin typeface="Calibri"/>
                <a:ea typeface="Calibri"/>
                <a:cs typeface="Calibri"/>
                <a:sym typeface="Calibri"/>
              </a:rPr>
              <a:t>2</a:t>
            </a:r>
            <a:endParaRPr b="0" i="0" sz="3600" u="none" cap="none" strike="noStrike">
              <a:solidFill>
                <a:schemeClr val="dk1"/>
              </a:solidFill>
              <a:latin typeface="Calibri"/>
              <a:ea typeface="Calibri"/>
              <a:cs typeface="Calibri"/>
              <a:sym typeface="Calibri"/>
            </a:endParaRPr>
          </a:p>
        </p:txBody>
      </p:sp>
      <p:sp>
        <p:nvSpPr>
          <p:cNvPr id="488" name="Google Shape;488;p20"/>
          <p:cNvSpPr/>
          <p:nvPr/>
        </p:nvSpPr>
        <p:spPr>
          <a:xfrm>
            <a:off x="1627632" y="2656332"/>
            <a:ext cx="402336" cy="402336"/>
          </a:xfrm>
          <a:prstGeom prst="ellipse">
            <a:avLst/>
          </a:prstGeom>
          <a:solidFill>
            <a:srgbClr val="0B2A45"/>
          </a:solidFill>
          <a:ln cap="flat" cmpd="sng" w="15875">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0"/>
          <p:cNvSpPr/>
          <p:nvPr/>
        </p:nvSpPr>
        <p:spPr>
          <a:xfrm>
            <a:off x="1700784" y="2729484"/>
            <a:ext cx="256032" cy="256032"/>
          </a:xfrm>
          <a:prstGeom prst="ellipse">
            <a:avLst/>
          </a:prstGeom>
          <a:solidFill>
            <a:srgbClr val="0B2A45"/>
          </a:solidFill>
          <a:ln cap="flat" cmpd="sng" w="15875">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0"/>
          <p:cNvSpPr/>
          <p:nvPr/>
        </p:nvSpPr>
        <p:spPr>
          <a:xfrm>
            <a:off x="1764792" y="2793492"/>
            <a:ext cx="128016" cy="128016"/>
          </a:xfrm>
          <a:prstGeom prst="ellipse">
            <a:avLst/>
          </a:prstGeom>
          <a:solidFill>
            <a:srgbClr val="2BCFCF"/>
          </a:solidFill>
          <a:ln cap="flat" cmpd="sng" w="15875">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0"/>
          <p:cNvSpPr/>
          <p:nvPr/>
        </p:nvSpPr>
        <p:spPr>
          <a:xfrm>
            <a:off x="2194560" y="251460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100"/>
              <a:buFont typeface="Calibri"/>
              <a:buNone/>
            </a:pPr>
            <a:r>
              <a:rPr b="1" i="0" lang="en-US" sz="1100" u="none" cap="none" strike="noStrike">
                <a:solidFill>
                  <a:srgbClr val="2BCFCF"/>
                </a:solidFill>
                <a:latin typeface="Calibri"/>
                <a:ea typeface="Calibri"/>
                <a:cs typeface="Calibri"/>
                <a:sym typeface="Calibri"/>
              </a:rPr>
              <a:t>PROBLEM FIT</a:t>
            </a:r>
            <a:endParaRPr b="0" i="0" sz="1100" u="none" cap="none" strike="noStrike">
              <a:solidFill>
                <a:schemeClr val="dk1"/>
              </a:solidFill>
              <a:latin typeface="Calibri"/>
              <a:ea typeface="Calibri"/>
              <a:cs typeface="Calibri"/>
              <a:sym typeface="Calibri"/>
            </a:endParaRPr>
          </a:p>
        </p:txBody>
      </p:sp>
      <p:sp>
        <p:nvSpPr>
          <p:cNvPr id="492" name="Google Shape;492;p20"/>
          <p:cNvSpPr/>
          <p:nvPr/>
        </p:nvSpPr>
        <p:spPr>
          <a:xfrm>
            <a:off x="2194560" y="2788920"/>
            <a:ext cx="94183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What specific problem are we solving, who notices when it is solved, and could we solve it without AI?</a:t>
            </a:r>
            <a:endParaRPr b="0" i="0" sz="1600" u="none" cap="none" strike="noStrike">
              <a:solidFill>
                <a:schemeClr val="dk1"/>
              </a:solidFill>
              <a:latin typeface="Calibri"/>
              <a:ea typeface="Calibri"/>
              <a:cs typeface="Calibri"/>
              <a:sym typeface="Calibri"/>
            </a:endParaRPr>
          </a:p>
        </p:txBody>
      </p:sp>
      <p:sp>
        <p:nvSpPr>
          <p:cNvPr id="493" name="Google Shape;493;p20"/>
          <p:cNvSpPr/>
          <p:nvPr/>
        </p:nvSpPr>
        <p:spPr>
          <a:xfrm>
            <a:off x="640080" y="3383280"/>
            <a:ext cx="777240" cy="8686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0"/>
          <p:cNvSpPr/>
          <p:nvPr/>
        </p:nvSpPr>
        <p:spPr>
          <a:xfrm>
            <a:off x="640080" y="3383280"/>
            <a:ext cx="77724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3600"/>
              <a:buFont typeface="Calibri"/>
              <a:buNone/>
            </a:pPr>
            <a:r>
              <a:rPr b="1" i="0" lang="en-US" sz="3600" u="none" cap="none" strike="noStrike">
                <a:solidFill>
                  <a:srgbClr val="2BCFCF"/>
                </a:solidFill>
                <a:latin typeface="Calibri"/>
                <a:ea typeface="Calibri"/>
                <a:cs typeface="Calibri"/>
                <a:sym typeface="Calibri"/>
              </a:rPr>
              <a:t>3</a:t>
            </a:r>
            <a:endParaRPr b="0" i="0" sz="3600" u="none" cap="none" strike="noStrike">
              <a:solidFill>
                <a:schemeClr val="dk1"/>
              </a:solidFill>
              <a:latin typeface="Calibri"/>
              <a:ea typeface="Calibri"/>
              <a:cs typeface="Calibri"/>
              <a:sym typeface="Calibri"/>
            </a:endParaRPr>
          </a:p>
        </p:txBody>
      </p:sp>
      <p:sp>
        <p:nvSpPr>
          <p:cNvPr id="495" name="Google Shape;495;p20"/>
          <p:cNvSpPr/>
          <p:nvPr/>
        </p:nvSpPr>
        <p:spPr>
          <a:xfrm>
            <a:off x="1682496" y="5573268"/>
            <a:ext cx="109728" cy="329184"/>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0"/>
          <p:cNvSpPr/>
          <p:nvPr/>
        </p:nvSpPr>
        <p:spPr>
          <a:xfrm>
            <a:off x="1865376" y="5664708"/>
            <a:ext cx="109728" cy="237744"/>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0"/>
          <p:cNvSpPr/>
          <p:nvPr/>
        </p:nvSpPr>
        <p:spPr>
          <a:xfrm>
            <a:off x="2194560" y="539496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100"/>
              <a:buFont typeface="Calibri"/>
              <a:buNone/>
            </a:pPr>
            <a:r>
              <a:rPr b="1" i="0" lang="en-US" sz="1100" u="none" cap="none" strike="noStrike">
                <a:solidFill>
                  <a:srgbClr val="2BCFCF"/>
                </a:solidFill>
                <a:latin typeface="Calibri"/>
                <a:ea typeface="Calibri"/>
                <a:cs typeface="Calibri"/>
                <a:sym typeface="Calibri"/>
              </a:rPr>
              <a:t>UNIT ECONOMICS</a:t>
            </a:r>
            <a:endParaRPr b="0" i="0" sz="1100" u="none" cap="none" strike="noStrike">
              <a:solidFill>
                <a:schemeClr val="dk1"/>
              </a:solidFill>
              <a:latin typeface="Calibri"/>
              <a:ea typeface="Calibri"/>
              <a:cs typeface="Calibri"/>
              <a:sym typeface="Calibri"/>
            </a:endParaRPr>
          </a:p>
        </p:txBody>
      </p:sp>
      <p:sp>
        <p:nvSpPr>
          <p:cNvPr id="498" name="Google Shape;498;p20"/>
          <p:cNvSpPr/>
          <p:nvPr/>
        </p:nvSpPr>
        <p:spPr>
          <a:xfrm>
            <a:off x="2194560" y="5669280"/>
            <a:ext cx="94183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What is the cost or value per transaction today, in dollars, and what does it become after?</a:t>
            </a:r>
            <a:endParaRPr b="0" i="0" sz="1600" u="none" cap="none" strike="noStrike">
              <a:solidFill>
                <a:schemeClr val="dk1"/>
              </a:solidFill>
              <a:latin typeface="Calibri"/>
              <a:ea typeface="Calibri"/>
              <a:cs typeface="Calibri"/>
              <a:sym typeface="Calibri"/>
            </a:endParaRPr>
          </a:p>
        </p:txBody>
      </p:sp>
      <p:sp>
        <p:nvSpPr>
          <p:cNvPr id="499" name="Google Shape;499;p20"/>
          <p:cNvSpPr/>
          <p:nvPr/>
        </p:nvSpPr>
        <p:spPr>
          <a:xfrm>
            <a:off x="640080" y="4343400"/>
            <a:ext cx="777240" cy="8686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0"/>
          <p:cNvSpPr/>
          <p:nvPr/>
        </p:nvSpPr>
        <p:spPr>
          <a:xfrm>
            <a:off x="640080" y="4343400"/>
            <a:ext cx="77724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3600"/>
              <a:buFont typeface="Calibri"/>
              <a:buNone/>
            </a:pPr>
            <a:r>
              <a:rPr b="1" i="0" lang="en-US" sz="3600" u="none" cap="none" strike="noStrike">
                <a:solidFill>
                  <a:srgbClr val="2BCFCF"/>
                </a:solidFill>
                <a:latin typeface="Calibri"/>
                <a:ea typeface="Calibri"/>
                <a:cs typeface="Calibri"/>
                <a:sym typeface="Calibri"/>
              </a:rPr>
              <a:t>4</a:t>
            </a:r>
            <a:endParaRPr b="0" i="0" sz="3600" u="none" cap="none" strike="noStrike">
              <a:solidFill>
                <a:schemeClr val="dk1"/>
              </a:solidFill>
              <a:latin typeface="Calibri"/>
              <a:ea typeface="Calibri"/>
              <a:cs typeface="Calibri"/>
              <a:sym typeface="Calibri"/>
            </a:endParaRPr>
          </a:p>
        </p:txBody>
      </p:sp>
      <p:sp>
        <p:nvSpPr>
          <p:cNvPr id="501" name="Google Shape;501;p20"/>
          <p:cNvSpPr/>
          <p:nvPr/>
        </p:nvSpPr>
        <p:spPr>
          <a:xfrm>
            <a:off x="1664208" y="4645152"/>
            <a:ext cx="329184" cy="64008"/>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0"/>
          <p:cNvSpPr/>
          <p:nvPr/>
        </p:nvSpPr>
        <p:spPr>
          <a:xfrm>
            <a:off x="1693835" y="4745736"/>
            <a:ext cx="269931" cy="64008"/>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0"/>
          <p:cNvSpPr/>
          <p:nvPr/>
        </p:nvSpPr>
        <p:spPr>
          <a:xfrm>
            <a:off x="1723461" y="4846320"/>
            <a:ext cx="210678" cy="64008"/>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0"/>
          <p:cNvSpPr/>
          <p:nvPr/>
        </p:nvSpPr>
        <p:spPr>
          <a:xfrm>
            <a:off x="2194560" y="443484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100"/>
              <a:buFont typeface="Calibri"/>
              <a:buNone/>
            </a:pPr>
            <a:r>
              <a:rPr b="1" i="0" lang="en-US" sz="1100" u="none" cap="none" strike="noStrike">
                <a:solidFill>
                  <a:srgbClr val="2BCFCF"/>
                </a:solidFill>
                <a:latin typeface="Calibri"/>
                <a:ea typeface="Calibri"/>
                <a:cs typeface="Calibri"/>
                <a:sym typeface="Calibri"/>
              </a:rPr>
              <a:t>FOUNDATION</a:t>
            </a:r>
            <a:endParaRPr b="0" i="0" sz="1100" u="none" cap="none" strike="noStrike">
              <a:solidFill>
                <a:schemeClr val="dk1"/>
              </a:solidFill>
              <a:latin typeface="Calibri"/>
              <a:ea typeface="Calibri"/>
              <a:cs typeface="Calibri"/>
              <a:sym typeface="Calibri"/>
            </a:endParaRPr>
          </a:p>
        </p:txBody>
      </p:sp>
      <p:sp>
        <p:nvSpPr>
          <p:cNvPr id="505" name="Google Shape;505;p20"/>
          <p:cNvSpPr/>
          <p:nvPr/>
        </p:nvSpPr>
        <p:spPr>
          <a:xfrm>
            <a:off x="2194560" y="4709160"/>
            <a:ext cx="94183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Does this build reusable capability that other use cases can leverage, or is it a silo?</a:t>
            </a:r>
            <a:endParaRPr b="0" i="0" sz="1600" u="none" cap="none" strike="noStrike">
              <a:solidFill>
                <a:schemeClr val="dk1"/>
              </a:solidFill>
              <a:latin typeface="Calibri"/>
              <a:ea typeface="Calibri"/>
              <a:cs typeface="Calibri"/>
              <a:sym typeface="Calibri"/>
            </a:endParaRPr>
          </a:p>
        </p:txBody>
      </p:sp>
      <p:sp>
        <p:nvSpPr>
          <p:cNvPr id="506" name="Google Shape;506;p20"/>
          <p:cNvSpPr/>
          <p:nvPr/>
        </p:nvSpPr>
        <p:spPr>
          <a:xfrm>
            <a:off x="640080" y="5303520"/>
            <a:ext cx="777240" cy="86868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0"/>
          <p:cNvSpPr/>
          <p:nvPr/>
        </p:nvSpPr>
        <p:spPr>
          <a:xfrm>
            <a:off x="640080" y="5303520"/>
            <a:ext cx="77724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3600"/>
              <a:buFont typeface="Calibri"/>
              <a:buNone/>
            </a:pPr>
            <a:r>
              <a:rPr b="1" i="0" lang="en-US" sz="3600" u="none" cap="none" strike="noStrike">
                <a:solidFill>
                  <a:srgbClr val="2BCFCF"/>
                </a:solidFill>
                <a:latin typeface="Calibri"/>
                <a:ea typeface="Calibri"/>
                <a:cs typeface="Calibri"/>
                <a:sym typeface="Calibri"/>
              </a:rPr>
              <a:t>5</a:t>
            </a:r>
            <a:endParaRPr b="0" i="0" sz="3600" u="none" cap="none" strike="noStrike">
              <a:solidFill>
                <a:schemeClr val="dk1"/>
              </a:solidFill>
              <a:latin typeface="Calibri"/>
              <a:ea typeface="Calibri"/>
              <a:cs typeface="Calibri"/>
              <a:sym typeface="Calibri"/>
            </a:endParaRPr>
          </a:p>
        </p:txBody>
      </p:sp>
      <p:cxnSp>
        <p:nvCxnSpPr>
          <p:cNvPr id="508" name="Google Shape;508;p20"/>
          <p:cNvCxnSpPr/>
          <p:nvPr/>
        </p:nvCxnSpPr>
        <p:spPr>
          <a:xfrm>
            <a:off x="1828800" y="3653028"/>
            <a:ext cx="914" cy="164592"/>
          </a:xfrm>
          <a:prstGeom prst="straightConnector1">
            <a:avLst/>
          </a:prstGeom>
          <a:noFill/>
          <a:ln cap="flat" cmpd="sng" w="12700">
            <a:solidFill>
              <a:srgbClr val="A8B5C2"/>
            </a:solidFill>
            <a:prstDash val="solid"/>
            <a:round/>
            <a:headEnd len="sm" w="sm" type="none"/>
            <a:tailEnd len="sm" w="sm" type="none"/>
          </a:ln>
        </p:spPr>
      </p:cxnSp>
      <p:sp>
        <p:nvSpPr>
          <p:cNvPr id="509" name="Google Shape;509;p20"/>
          <p:cNvSpPr/>
          <p:nvPr/>
        </p:nvSpPr>
        <p:spPr>
          <a:xfrm>
            <a:off x="1787652" y="3611880"/>
            <a:ext cx="82296" cy="82296"/>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0" name="Google Shape;510;p20"/>
          <p:cNvCxnSpPr/>
          <p:nvPr/>
        </p:nvCxnSpPr>
        <p:spPr>
          <a:xfrm>
            <a:off x="1828800" y="3817620"/>
            <a:ext cx="164592" cy="914"/>
          </a:xfrm>
          <a:prstGeom prst="straightConnector1">
            <a:avLst/>
          </a:prstGeom>
          <a:noFill/>
          <a:ln cap="flat" cmpd="sng" w="12700">
            <a:solidFill>
              <a:srgbClr val="A8B5C2"/>
            </a:solidFill>
            <a:prstDash val="solid"/>
            <a:round/>
            <a:headEnd len="sm" w="sm" type="none"/>
            <a:tailEnd len="sm" w="sm" type="none"/>
          </a:ln>
        </p:spPr>
      </p:cxnSp>
      <p:sp>
        <p:nvSpPr>
          <p:cNvPr id="511" name="Google Shape;511;p20"/>
          <p:cNvSpPr/>
          <p:nvPr/>
        </p:nvSpPr>
        <p:spPr>
          <a:xfrm>
            <a:off x="1952244" y="3776472"/>
            <a:ext cx="82296" cy="82296"/>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2" name="Google Shape;512;p20"/>
          <p:cNvCxnSpPr/>
          <p:nvPr/>
        </p:nvCxnSpPr>
        <p:spPr>
          <a:xfrm>
            <a:off x="1828800" y="3817620"/>
            <a:ext cx="914" cy="164592"/>
          </a:xfrm>
          <a:prstGeom prst="straightConnector1">
            <a:avLst/>
          </a:prstGeom>
          <a:noFill/>
          <a:ln cap="flat" cmpd="sng" w="12700">
            <a:solidFill>
              <a:srgbClr val="A8B5C2"/>
            </a:solidFill>
            <a:prstDash val="solid"/>
            <a:round/>
            <a:headEnd len="sm" w="sm" type="none"/>
            <a:tailEnd len="sm" w="sm" type="none"/>
          </a:ln>
        </p:spPr>
      </p:cxnSp>
      <p:sp>
        <p:nvSpPr>
          <p:cNvPr id="513" name="Google Shape;513;p20"/>
          <p:cNvSpPr/>
          <p:nvPr/>
        </p:nvSpPr>
        <p:spPr>
          <a:xfrm>
            <a:off x="1787652" y="3941064"/>
            <a:ext cx="82296" cy="82296"/>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4" name="Google Shape;514;p20"/>
          <p:cNvCxnSpPr/>
          <p:nvPr/>
        </p:nvCxnSpPr>
        <p:spPr>
          <a:xfrm>
            <a:off x="1664208" y="3817620"/>
            <a:ext cx="164592" cy="914"/>
          </a:xfrm>
          <a:prstGeom prst="straightConnector1">
            <a:avLst/>
          </a:prstGeom>
          <a:noFill/>
          <a:ln cap="flat" cmpd="sng" w="12700">
            <a:solidFill>
              <a:srgbClr val="A8B5C2"/>
            </a:solidFill>
            <a:prstDash val="solid"/>
            <a:round/>
            <a:headEnd len="sm" w="sm" type="none"/>
            <a:tailEnd len="sm" w="sm" type="none"/>
          </a:ln>
        </p:spPr>
      </p:cxnSp>
      <p:sp>
        <p:nvSpPr>
          <p:cNvPr id="515" name="Google Shape;515;p20"/>
          <p:cNvSpPr/>
          <p:nvPr/>
        </p:nvSpPr>
        <p:spPr>
          <a:xfrm>
            <a:off x="1623060" y="3776472"/>
            <a:ext cx="82296" cy="82296"/>
          </a:xfrm>
          <a:prstGeom prst="ellipse">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0"/>
          <p:cNvSpPr/>
          <p:nvPr/>
        </p:nvSpPr>
        <p:spPr>
          <a:xfrm>
            <a:off x="1771193" y="3760013"/>
            <a:ext cx="115214" cy="115214"/>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0"/>
          <p:cNvSpPr/>
          <p:nvPr/>
        </p:nvSpPr>
        <p:spPr>
          <a:xfrm>
            <a:off x="2194560" y="347472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1100"/>
              <a:buFont typeface="Calibri"/>
              <a:buNone/>
            </a:pPr>
            <a:r>
              <a:rPr b="1" i="0" lang="en-US" sz="1100" u="none" cap="none" strike="noStrike">
                <a:solidFill>
                  <a:srgbClr val="2BCFCF"/>
                </a:solidFill>
                <a:latin typeface="Calibri"/>
                <a:ea typeface="Calibri"/>
                <a:cs typeface="Calibri"/>
                <a:sym typeface="Calibri"/>
              </a:rPr>
              <a:t>BIGGER PICTURE</a:t>
            </a:r>
            <a:endParaRPr b="0" i="0" sz="1100" u="none" cap="none" strike="noStrike">
              <a:solidFill>
                <a:schemeClr val="dk1"/>
              </a:solidFill>
              <a:latin typeface="Calibri"/>
              <a:ea typeface="Calibri"/>
              <a:cs typeface="Calibri"/>
              <a:sym typeface="Calibri"/>
            </a:endParaRPr>
          </a:p>
        </p:txBody>
      </p:sp>
      <p:sp>
        <p:nvSpPr>
          <p:cNvPr id="518" name="Google Shape;518;p20"/>
          <p:cNvSpPr/>
          <p:nvPr/>
        </p:nvSpPr>
        <p:spPr>
          <a:xfrm>
            <a:off x="2194560" y="3749040"/>
            <a:ext cx="94183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0" i="0" lang="en-US" sz="1600" u="none" cap="none" strike="noStrike">
                <a:solidFill>
                  <a:srgbClr val="F1F0EE"/>
                </a:solidFill>
                <a:latin typeface="Calibri"/>
                <a:ea typeface="Calibri"/>
                <a:cs typeface="Calibri"/>
                <a:sym typeface="Calibri"/>
              </a:rPr>
              <a:t>How does this connect to the bigger picture and the other things we are building?</a:t>
            </a:r>
            <a:endParaRPr b="0" i="0" sz="1600" u="none" cap="none" strike="noStrike">
              <a:solidFill>
                <a:schemeClr val="dk1"/>
              </a:solidFill>
              <a:latin typeface="Calibri"/>
              <a:ea typeface="Calibri"/>
              <a:cs typeface="Calibri"/>
              <a:sym typeface="Calibri"/>
            </a:endParaRPr>
          </a:p>
        </p:txBody>
      </p:sp>
      <p:sp>
        <p:nvSpPr>
          <p:cNvPr id="519" name="Google Shape;519;p20"/>
          <p:cNvSpPr/>
          <p:nvPr/>
        </p:nvSpPr>
        <p:spPr>
          <a:xfrm>
            <a:off x="640080" y="6217920"/>
            <a:ext cx="10881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1300"/>
              <a:buFont typeface="Calibri"/>
              <a:buNone/>
            </a:pPr>
            <a:r>
              <a:rPr b="0" i="1" lang="en-US" sz="1300" u="none" cap="none" strike="noStrike">
                <a:solidFill>
                  <a:srgbClr val="A8B5C2"/>
                </a:solidFill>
                <a:latin typeface="Calibri"/>
                <a:ea typeface="Calibri"/>
                <a:cs typeface="Calibri"/>
                <a:sym typeface="Calibri"/>
              </a:rPr>
              <a:t>Start with question 1. Map one end-to-end process before you ask the others. Photograph this slide.</a:t>
            </a:r>
            <a:endParaRPr b="0" i="0" sz="1300" u="none" cap="none" strike="noStrike">
              <a:solidFill>
                <a:schemeClr val="dk1"/>
              </a:solidFill>
              <a:latin typeface="Calibri"/>
              <a:ea typeface="Calibri"/>
              <a:cs typeface="Calibri"/>
              <a:sym typeface="Calibri"/>
            </a:endParaRPr>
          </a:p>
        </p:txBody>
      </p:sp>
      <p:sp>
        <p:nvSpPr>
          <p:cNvPr id="520" name="Google Shape;520;p20"/>
          <p:cNvSpPr/>
          <p:nvPr/>
        </p:nvSpPr>
        <p:spPr>
          <a:xfrm>
            <a:off x="457200" y="6446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100"/>
              <a:buFont typeface="Calibri"/>
              <a:buNone/>
            </a:pPr>
            <a:r>
              <a:rPr b="1" i="0" lang="en-US" sz="1100" u="none" cap="none" strike="noStrike">
                <a:solidFill>
                  <a:srgbClr val="F1F0EE"/>
                </a:solidFill>
                <a:latin typeface="Calibri"/>
                <a:ea typeface="Calibri"/>
                <a:cs typeface="Calibri"/>
                <a:sym typeface="Calibri"/>
              </a:rPr>
              <a:t>WeDo</a:t>
            </a:r>
            <a:r>
              <a:rPr b="1" i="0" lang="en-US" sz="1100" u="none" cap="none" strike="noStrike">
                <a:solidFill>
                  <a:srgbClr val="2BCFCF"/>
                </a:solidFill>
                <a:latin typeface="Calibri"/>
                <a:ea typeface="Calibri"/>
                <a:cs typeface="Calibri"/>
                <a:sym typeface="Calibri"/>
              </a:rPr>
              <a:t>AI</a:t>
            </a:r>
            <a:endParaRPr b="0" i="0" sz="1100" u="none" cap="none" strike="noStrike">
              <a:solidFill>
                <a:schemeClr val="dk1"/>
              </a:solidFill>
              <a:latin typeface="Calibri"/>
              <a:ea typeface="Calibri"/>
              <a:cs typeface="Calibri"/>
              <a:sym typeface="Calibri"/>
            </a:endParaRPr>
          </a:p>
        </p:txBody>
      </p:sp>
      <p:sp>
        <p:nvSpPr>
          <p:cNvPr id="521" name="Google Shape;521;p20"/>
          <p:cNvSpPr/>
          <p:nvPr/>
        </p:nvSpPr>
        <p:spPr>
          <a:xfrm>
            <a:off x="11064240" y="644652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000"/>
              <a:buFont typeface="Calibri"/>
              <a:buNone/>
            </a:pPr>
            <a:r>
              <a:rPr b="0" i="0" lang="en-US" sz="1000" u="none" cap="none" strike="noStrike">
                <a:solidFill>
                  <a:srgbClr val="A8B5C2"/>
                </a:solidFill>
                <a:latin typeface="Calibri"/>
                <a:ea typeface="Calibri"/>
                <a:cs typeface="Calibri"/>
                <a:sym typeface="Calibri"/>
              </a:rPr>
              <a:t>16 / 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526" name="Shape 526"/>
        <p:cNvGrpSpPr/>
        <p:nvPr/>
      </p:nvGrpSpPr>
      <p:grpSpPr>
        <a:xfrm>
          <a:off x="0" y="0"/>
          <a:ext cx="0" cy="0"/>
          <a:chOff x="0" y="0"/>
          <a:chExt cx="0" cy="0"/>
        </a:xfrm>
      </p:grpSpPr>
      <p:sp>
        <p:nvSpPr>
          <p:cNvPr id="527" name="Google Shape;527;p21"/>
          <p:cNvSpPr/>
          <p:nvPr/>
        </p:nvSpPr>
        <p:spPr>
          <a:xfrm>
            <a:off x="640080" y="1280160"/>
            <a:ext cx="2743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5C2"/>
              </a:buClr>
              <a:buSzPts val="2800"/>
              <a:buFont typeface="Calibri"/>
              <a:buNone/>
            </a:pPr>
            <a:r>
              <a:rPr b="1" i="0" lang="en-US" sz="2800" u="none" cap="none" strike="noStrike">
                <a:solidFill>
                  <a:srgbClr val="A8B5C2"/>
                </a:solidFill>
                <a:latin typeface="Calibri"/>
                <a:ea typeface="Calibri"/>
                <a:cs typeface="Calibri"/>
                <a:sym typeface="Calibri"/>
              </a:rPr>
              <a:t>06</a:t>
            </a:r>
            <a:endParaRPr b="0" i="0" sz="2800" u="none" cap="none" strike="noStrike">
              <a:solidFill>
                <a:schemeClr val="dk1"/>
              </a:solidFill>
              <a:latin typeface="Calibri"/>
              <a:ea typeface="Calibri"/>
              <a:cs typeface="Calibri"/>
              <a:sym typeface="Calibri"/>
            </a:endParaRPr>
          </a:p>
        </p:txBody>
      </p:sp>
      <p:sp>
        <p:nvSpPr>
          <p:cNvPr id="528" name="Google Shape;528;p21"/>
          <p:cNvSpPr/>
          <p:nvPr/>
        </p:nvSpPr>
        <p:spPr>
          <a:xfrm>
            <a:off x="640080" y="2286000"/>
            <a:ext cx="1088136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6400"/>
              <a:buFont typeface="Calibri"/>
              <a:buNone/>
            </a:pPr>
            <a:r>
              <a:rPr b="1" i="0" lang="en-US" sz="6400" u="none" cap="none" strike="noStrike">
                <a:solidFill>
                  <a:srgbClr val="F1F0EE"/>
                </a:solidFill>
                <a:latin typeface="Calibri"/>
                <a:ea typeface="Calibri"/>
                <a:cs typeface="Calibri"/>
                <a:sym typeface="Calibri"/>
              </a:rPr>
              <a:t xml:space="preserve">Where this is </a:t>
            </a:r>
            <a:r>
              <a:rPr b="1" i="0" lang="en-US" sz="6400" u="none" cap="none" strike="noStrike">
                <a:solidFill>
                  <a:srgbClr val="2BCFCF"/>
                </a:solidFill>
                <a:latin typeface="Calibri"/>
                <a:ea typeface="Calibri"/>
                <a:cs typeface="Calibri"/>
                <a:sym typeface="Calibri"/>
              </a:rPr>
              <a:t>heading</a:t>
            </a:r>
            <a:r>
              <a:rPr b="1" i="0" lang="en-US" sz="6400" u="none" cap="none" strike="noStrike">
                <a:solidFill>
                  <a:srgbClr val="F1F0EE"/>
                </a:solidFill>
                <a:latin typeface="Calibri"/>
                <a:ea typeface="Calibri"/>
                <a:cs typeface="Calibri"/>
                <a:sym typeface="Calibri"/>
              </a:rPr>
              <a:t>.</a:t>
            </a:r>
            <a:endParaRPr b="0" i="0" sz="6400" u="none" cap="none" strike="noStrike">
              <a:solidFill>
                <a:schemeClr val="dk1"/>
              </a:solidFill>
              <a:latin typeface="Calibri"/>
              <a:ea typeface="Calibri"/>
              <a:cs typeface="Calibri"/>
              <a:sym typeface="Calibri"/>
            </a:endParaRPr>
          </a:p>
        </p:txBody>
      </p:sp>
      <p:sp>
        <p:nvSpPr>
          <p:cNvPr id="529" name="Google Shape;529;p21"/>
          <p:cNvSpPr/>
          <p:nvPr/>
        </p:nvSpPr>
        <p:spPr>
          <a:xfrm>
            <a:off x="640080" y="4206240"/>
            <a:ext cx="94183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B5C2"/>
              </a:buClr>
              <a:buSzPts val="2200"/>
              <a:buFont typeface="Calibri"/>
              <a:buNone/>
            </a:pPr>
            <a:r>
              <a:rPr b="0" i="1" lang="en-US" sz="2200" u="none" cap="none" strike="noStrike">
                <a:solidFill>
                  <a:srgbClr val="A8B5C2"/>
                </a:solidFill>
                <a:latin typeface="Calibri"/>
                <a:ea typeface="Calibri"/>
                <a:cs typeface="Calibri"/>
                <a:sym typeface="Calibri"/>
              </a:rPr>
              <a:t>Three observations. Grounded, not speculative.</a:t>
            </a:r>
            <a:endParaRPr b="0" i="0" sz="2200" u="none" cap="none" strike="noStrike">
              <a:solidFill>
                <a:schemeClr val="dk1"/>
              </a:solidFill>
              <a:latin typeface="Calibri"/>
              <a:ea typeface="Calibri"/>
              <a:cs typeface="Calibri"/>
              <a:sym typeface="Calibri"/>
            </a:endParaRPr>
          </a:p>
        </p:txBody>
      </p:sp>
      <p:sp>
        <p:nvSpPr>
          <p:cNvPr id="530" name="Google Shape;530;p21"/>
          <p:cNvSpPr/>
          <p:nvPr/>
        </p:nvSpPr>
        <p:spPr>
          <a:xfrm>
            <a:off x="10698480" y="603504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1" i="0" lang="en-US" sz="1600" u="none" cap="none" strike="noStrike">
                <a:solidFill>
                  <a:srgbClr val="F1F0EE"/>
                </a:solidFill>
                <a:latin typeface="Calibri"/>
                <a:ea typeface="Calibri"/>
                <a:cs typeface="Calibri"/>
                <a:sym typeface="Calibri"/>
              </a:rPr>
              <a:t>WeDo</a:t>
            </a:r>
            <a:r>
              <a:rPr b="1" i="0" lang="en-US" sz="1600" u="none" cap="none" strike="noStrike">
                <a:solidFill>
                  <a:srgbClr val="2BCFCF"/>
                </a:solidFill>
                <a:latin typeface="Calibri"/>
                <a:ea typeface="Calibri"/>
                <a:cs typeface="Calibri"/>
                <a:sym typeface="Calibri"/>
              </a:rPr>
              <a:t>AI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535" name="Shape 535"/>
        <p:cNvGrpSpPr/>
        <p:nvPr/>
      </p:nvGrpSpPr>
      <p:grpSpPr>
        <a:xfrm>
          <a:off x="0" y="0"/>
          <a:ext cx="0" cy="0"/>
          <a:chOff x="0" y="0"/>
          <a:chExt cx="0" cy="0"/>
        </a:xfrm>
      </p:grpSpPr>
      <p:sp>
        <p:nvSpPr>
          <p:cNvPr id="536" name="Google Shape;536;p22"/>
          <p:cNvSpPr/>
          <p:nvPr/>
        </p:nvSpPr>
        <p:spPr>
          <a:xfrm>
            <a:off x="640080" y="457200"/>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3200"/>
              <a:buFont typeface="Calibri"/>
              <a:buNone/>
            </a:pPr>
            <a:r>
              <a:rPr b="1" i="0" lang="en-US" sz="3200" u="none" cap="none" strike="noStrike">
                <a:solidFill>
                  <a:srgbClr val="F1F0EE"/>
                </a:solidFill>
                <a:latin typeface="Calibri"/>
                <a:ea typeface="Calibri"/>
                <a:cs typeface="Calibri"/>
                <a:sym typeface="Calibri"/>
              </a:rPr>
              <a:t>Three things I think are true.</a:t>
            </a:r>
            <a:endParaRPr b="0" i="0" sz="3200" u="none" cap="none" strike="noStrike">
              <a:solidFill>
                <a:schemeClr val="dk1"/>
              </a:solidFill>
              <a:latin typeface="Calibri"/>
              <a:ea typeface="Calibri"/>
              <a:cs typeface="Calibri"/>
              <a:sym typeface="Calibri"/>
            </a:endParaRPr>
          </a:p>
        </p:txBody>
      </p:sp>
      <p:sp>
        <p:nvSpPr>
          <p:cNvPr id="537" name="Google Shape;537;p22"/>
          <p:cNvSpPr/>
          <p:nvPr/>
        </p:nvSpPr>
        <p:spPr>
          <a:xfrm>
            <a:off x="640080" y="1463040"/>
            <a:ext cx="3444240" cy="45720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2"/>
          <p:cNvSpPr/>
          <p:nvPr/>
        </p:nvSpPr>
        <p:spPr>
          <a:xfrm>
            <a:off x="914400" y="1737360"/>
            <a:ext cx="2895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2600"/>
              <a:buFont typeface="Calibri"/>
              <a:buNone/>
            </a:pPr>
            <a:r>
              <a:rPr b="1" i="0" lang="en-US" sz="2600" u="none" cap="none" strike="noStrike">
                <a:solidFill>
                  <a:srgbClr val="2BCFCF"/>
                </a:solidFill>
                <a:latin typeface="Calibri"/>
                <a:ea typeface="Calibri"/>
                <a:cs typeface="Calibri"/>
                <a:sym typeface="Calibri"/>
              </a:rPr>
              <a:t>01</a:t>
            </a:r>
            <a:endParaRPr b="0" i="0" sz="2600" u="none" cap="none" strike="noStrike">
              <a:solidFill>
                <a:schemeClr val="dk1"/>
              </a:solidFill>
              <a:latin typeface="Calibri"/>
              <a:ea typeface="Calibri"/>
              <a:cs typeface="Calibri"/>
              <a:sym typeface="Calibri"/>
            </a:endParaRPr>
          </a:p>
        </p:txBody>
      </p:sp>
      <p:cxnSp>
        <p:nvCxnSpPr>
          <p:cNvPr id="539" name="Google Shape;539;p22"/>
          <p:cNvCxnSpPr/>
          <p:nvPr/>
        </p:nvCxnSpPr>
        <p:spPr>
          <a:xfrm flipH="1" rot="10800000">
            <a:off x="1978152" y="2587752"/>
            <a:ext cx="274320" cy="155448"/>
          </a:xfrm>
          <a:prstGeom prst="straightConnector1">
            <a:avLst/>
          </a:prstGeom>
          <a:noFill/>
          <a:ln cap="flat" cmpd="sng" w="25400">
            <a:solidFill>
              <a:srgbClr val="2BCFCF"/>
            </a:solidFill>
            <a:prstDash val="solid"/>
            <a:round/>
            <a:headEnd len="sm" w="sm" type="none"/>
            <a:tailEnd len="sm" w="sm" type="none"/>
          </a:ln>
        </p:spPr>
      </p:cxnSp>
      <p:cxnSp>
        <p:nvCxnSpPr>
          <p:cNvPr id="540" name="Google Shape;540;p22"/>
          <p:cNvCxnSpPr/>
          <p:nvPr/>
        </p:nvCxnSpPr>
        <p:spPr>
          <a:xfrm flipH="1" rot="10800000">
            <a:off x="2252472" y="2404872"/>
            <a:ext cx="274320" cy="182880"/>
          </a:xfrm>
          <a:prstGeom prst="straightConnector1">
            <a:avLst/>
          </a:prstGeom>
          <a:noFill/>
          <a:ln cap="flat" cmpd="sng" w="25400">
            <a:solidFill>
              <a:srgbClr val="2BCFCF"/>
            </a:solidFill>
            <a:prstDash val="solid"/>
            <a:round/>
            <a:headEnd len="sm" w="sm" type="none"/>
            <a:tailEnd len="sm" w="sm" type="none"/>
          </a:ln>
        </p:spPr>
      </p:cxnSp>
      <p:cxnSp>
        <p:nvCxnSpPr>
          <p:cNvPr id="541" name="Google Shape;541;p22"/>
          <p:cNvCxnSpPr/>
          <p:nvPr/>
        </p:nvCxnSpPr>
        <p:spPr>
          <a:xfrm flipH="1" rot="10800000">
            <a:off x="2526792" y="2167128"/>
            <a:ext cx="219456" cy="237744"/>
          </a:xfrm>
          <a:prstGeom prst="straightConnector1">
            <a:avLst/>
          </a:prstGeom>
          <a:noFill/>
          <a:ln cap="flat" cmpd="sng" w="25400">
            <a:solidFill>
              <a:srgbClr val="2BCFCF"/>
            </a:solidFill>
            <a:prstDash val="solid"/>
            <a:round/>
            <a:headEnd len="sm" w="sm" type="none"/>
            <a:tailEnd len="sm" w="sm" type="none"/>
          </a:ln>
        </p:spPr>
      </p:cxnSp>
      <p:sp>
        <p:nvSpPr>
          <p:cNvPr id="542" name="Google Shape;542;p22"/>
          <p:cNvSpPr/>
          <p:nvPr/>
        </p:nvSpPr>
        <p:spPr>
          <a:xfrm>
            <a:off x="2691384" y="2112264"/>
            <a:ext cx="109728" cy="109728"/>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3" name="Google Shape;543;p22"/>
          <p:cNvCxnSpPr/>
          <p:nvPr/>
        </p:nvCxnSpPr>
        <p:spPr>
          <a:xfrm>
            <a:off x="1950720" y="2788920"/>
            <a:ext cx="868680" cy="914"/>
          </a:xfrm>
          <a:prstGeom prst="straightConnector1">
            <a:avLst/>
          </a:prstGeom>
          <a:noFill/>
          <a:ln cap="flat" cmpd="sng" w="9525">
            <a:solidFill>
              <a:srgbClr val="A8B5C2"/>
            </a:solidFill>
            <a:prstDash val="solid"/>
            <a:round/>
            <a:headEnd len="sm" w="sm" type="none"/>
            <a:tailEnd len="sm" w="sm" type="none"/>
          </a:ln>
        </p:spPr>
      </p:cxnSp>
      <p:sp>
        <p:nvSpPr>
          <p:cNvPr id="544" name="Google Shape;544;p22"/>
          <p:cNvSpPr/>
          <p:nvPr/>
        </p:nvSpPr>
        <p:spPr>
          <a:xfrm>
            <a:off x="914400" y="2926080"/>
            <a:ext cx="2895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1" i="0" lang="en-US" sz="1600" u="none" cap="none" strike="noStrike">
                <a:solidFill>
                  <a:srgbClr val="F1F0EE"/>
                </a:solidFill>
                <a:latin typeface="Calibri"/>
                <a:ea typeface="Calibri"/>
                <a:cs typeface="Calibri"/>
                <a:sym typeface="Calibri"/>
              </a:rPr>
              <a:t>Transformative change is real. Readiness decides who benefits.</a:t>
            </a:r>
            <a:endParaRPr b="0" i="0" sz="1600" u="none" cap="none" strike="noStrike">
              <a:solidFill>
                <a:schemeClr val="dk1"/>
              </a:solidFill>
              <a:latin typeface="Calibri"/>
              <a:ea typeface="Calibri"/>
              <a:cs typeface="Calibri"/>
              <a:sym typeface="Calibri"/>
            </a:endParaRPr>
          </a:p>
        </p:txBody>
      </p:sp>
      <p:sp>
        <p:nvSpPr>
          <p:cNvPr id="545" name="Google Shape;545;p22"/>
          <p:cNvSpPr/>
          <p:nvPr/>
        </p:nvSpPr>
        <p:spPr>
          <a:xfrm>
            <a:off x="914400" y="3794760"/>
            <a:ext cx="2895600" cy="205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400"/>
              <a:buFont typeface="Calibri"/>
              <a:buNone/>
            </a:pPr>
            <a:r>
              <a:rPr b="0" i="0" lang="en-US" sz="1400" u="none" cap="none" strike="noStrike">
                <a:solidFill>
                  <a:srgbClr val="F1F0EE"/>
                </a:solidFill>
                <a:latin typeface="Calibri"/>
                <a:ea typeface="Calibri"/>
                <a:cs typeface="Calibri"/>
                <a:sym typeface="Calibri"/>
              </a:rPr>
              <a:t>Organisations with process clarity, data foundations, and educated teams are seeing meaningful returns. Those without are stalling. 79% of organisations report AI adoption challenges. 54% of C-suite say it is tearing the company apart.</a:t>
            </a:r>
            <a:endParaRPr b="0" i="0" sz="1400" u="none" cap="none" strike="noStrike">
              <a:solidFill>
                <a:schemeClr val="dk1"/>
              </a:solidFill>
              <a:latin typeface="Calibri"/>
              <a:ea typeface="Calibri"/>
              <a:cs typeface="Calibri"/>
              <a:sym typeface="Calibri"/>
            </a:endParaRPr>
          </a:p>
        </p:txBody>
      </p:sp>
      <p:sp>
        <p:nvSpPr>
          <p:cNvPr id="546" name="Google Shape;546;p22"/>
          <p:cNvSpPr/>
          <p:nvPr/>
        </p:nvSpPr>
        <p:spPr>
          <a:xfrm>
            <a:off x="4358640" y="1463040"/>
            <a:ext cx="3444240" cy="45720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2"/>
          <p:cNvSpPr/>
          <p:nvPr/>
        </p:nvSpPr>
        <p:spPr>
          <a:xfrm>
            <a:off x="4632960" y="1737360"/>
            <a:ext cx="2895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2600"/>
              <a:buFont typeface="Calibri"/>
              <a:buNone/>
            </a:pPr>
            <a:r>
              <a:rPr b="1" i="0" lang="en-US" sz="2600" u="none" cap="none" strike="noStrike">
                <a:solidFill>
                  <a:srgbClr val="2BCFCF"/>
                </a:solidFill>
                <a:latin typeface="Calibri"/>
                <a:ea typeface="Calibri"/>
                <a:cs typeface="Calibri"/>
                <a:sym typeface="Calibri"/>
              </a:rPr>
              <a:t>02</a:t>
            </a:r>
            <a:endParaRPr b="0" i="0" sz="2600" u="none" cap="none" strike="noStrike">
              <a:solidFill>
                <a:schemeClr val="dk1"/>
              </a:solidFill>
              <a:latin typeface="Calibri"/>
              <a:ea typeface="Calibri"/>
              <a:cs typeface="Calibri"/>
              <a:sym typeface="Calibri"/>
            </a:endParaRPr>
          </a:p>
        </p:txBody>
      </p:sp>
      <p:sp>
        <p:nvSpPr>
          <p:cNvPr id="548" name="Google Shape;548;p22"/>
          <p:cNvSpPr/>
          <p:nvPr/>
        </p:nvSpPr>
        <p:spPr>
          <a:xfrm>
            <a:off x="5998464" y="2331720"/>
            <a:ext cx="164592" cy="164592"/>
          </a:xfrm>
          <a:prstGeom prst="ellipse">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2"/>
          <p:cNvSpPr/>
          <p:nvPr/>
        </p:nvSpPr>
        <p:spPr>
          <a:xfrm>
            <a:off x="5934456" y="2532888"/>
            <a:ext cx="292608" cy="237744"/>
          </a:xfrm>
          <a:prstGeom prst="roundRect">
            <a:avLst>
              <a:gd fmla="val 19231" name="adj"/>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2"/>
          <p:cNvSpPr/>
          <p:nvPr/>
        </p:nvSpPr>
        <p:spPr>
          <a:xfrm>
            <a:off x="5660136" y="2468880"/>
            <a:ext cx="73152" cy="73152"/>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2"/>
          <p:cNvSpPr/>
          <p:nvPr/>
        </p:nvSpPr>
        <p:spPr>
          <a:xfrm>
            <a:off x="5632704" y="2697480"/>
            <a:ext cx="73152" cy="73152"/>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2"/>
          <p:cNvSpPr/>
          <p:nvPr/>
        </p:nvSpPr>
        <p:spPr>
          <a:xfrm>
            <a:off x="6428232" y="2468880"/>
            <a:ext cx="73152" cy="73152"/>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2"/>
          <p:cNvSpPr/>
          <p:nvPr/>
        </p:nvSpPr>
        <p:spPr>
          <a:xfrm>
            <a:off x="6455664" y="2697480"/>
            <a:ext cx="73152" cy="73152"/>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2"/>
          <p:cNvSpPr/>
          <p:nvPr/>
        </p:nvSpPr>
        <p:spPr>
          <a:xfrm>
            <a:off x="5769864" y="2313432"/>
            <a:ext cx="73152" cy="73152"/>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2"/>
          <p:cNvSpPr/>
          <p:nvPr/>
        </p:nvSpPr>
        <p:spPr>
          <a:xfrm>
            <a:off x="6318504" y="2313432"/>
            <a:ext cx="73152" cy="73152"/>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2"/>
          <p:cNvSpPr/>
          <p:nvPr/>
        </p:nvSpPr>
        <p:spPr>
          <a:xfrm>
            <a:off x="4632960" y="2926080"/>
            <a:ext cx="2895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1" i="0" lang="en-US" sz="1600" u="none" cap="none" strike="noStrike">
                <a:solidFill>
                  <a:srgbClr val="F1F0EE"/>
                </a:solidFill>
                <a:latin typeface="Calibri"/>
                <a:ea typeface="Calibri"/>
                <a:cs typeface="Calibri"/>
                <a:sym typeface="Calibri"/>
              </a:rPr>
              <a:t>Capability isn’t the constraint. Deployment is.</a:t>
            </a:r>
            <a:endParaRPr b="0" i="0" sz="1600" u="none" cap="none" strike="noStrike">
              <a:solidFill>
                <a:schemeClr val="dk1"/>
              </a:solidFill>
              <a:latin typeface="Calibri"/>
              <a:ea typeface="Calibri"/>
              <a:cs typeface="Calibri"/>
              <a:sym typeface="Calibri"/>
            </a:endParaRPr>
          </a:p>
        </p:txBody>
      </p:sp>
      <p:sp>
        <p:nvSpPr>
          <p:cNvPr id="557" name="Google Shape;557;p22"/>
          <p:cNvSpPr/>
          <p:nvPr/>
        </p:nvSpPr>
        <p:spPr>
          <a:xfrm>
            <a:off x="4632960" y="3794760"/>
            <a:ext cx="2895600" cy="205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400"/>
              <a:buFont typeface="Calibri"/>
              <a:buNone/>
            </a:pPr>
            <a:r>
              <a:rPr b="0" i="0" lang="en-US" sz="1400" u="none" cap="none" strike="noStrike">
                <a:solidFill>
                  <a:srgbClr val="F1F0EE"/>
                </a:solidFill>
                <a:latin typeface="Calibri"/>
                <a:ea typeface="Calibri"/>
                <a:cs typeface="Calibri"/>
                <a:sym typeface="Calibri"/>
              </a:rPr>
              <a:t>Models that do the work already exist. The gap is access, governance, integration, and a process worth measuring. These are leadership choices. The capability is the easy part.</a:t>
            </a:r>
            <a:endParaRPr b="0" i="0" sz="1400" u="none" cap="none" strike="noStrike">
              <a:solidFill>
                <a:schemeClr val="dk1"/>
              </a:solidFill>
              <a:latin typeface="Calibri"/>
              <a:ea typeface="Calibri"/>
              <a:cs typeface="Calibri"/>
              <a:sym typeface="Calibri"/>
            </a:endParaRPr>
          </a:p>
        </p:txBody>
      </p:sp>
      <p:sp>
        <p:nvSpPr>
          <p:cNvPr id="558" name="Google Shape;558;p22"/>
          <p:cNvSpPr/>
          <p:nvPr/>
        </p:nvSpPr>
        <p:spPr>
          <a:xfrm>
            <a:off x="8077200" y="1463040"/>
            <a:ext cx="3444240" cy="4572000"/>
          </a:xfrm>
          <a:prstGeom prst="rect">
            <a:avLst/>
          </a:prstGeom>
          <a:solidFill>
            <a:srgbClr val="07344F"/>
          </a:solidFill>
          <a:ln cap="flat" cmpd="sng" w="12700">
            <a:solidFill>
              <a:srgbClr val="073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2"/>
          <p:cNvSpPr/>
          <p:nvPr/>
        </p:nvSpPr>
        <p:spPr>
          <a:xfrm>
            <a:off x="8351520" y="1737360"/>
            <a:ext cx="2895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CFCF"/>
              </a:buClr>
              <a:buSzPts val="2600"/>
              <a:buFont typeface="Calibri"/>
              <a:buNone/>
            </a:pPr>
            <a:r>
              <a:rPr b="1" i="0" lang="en-US" sz="2600" u="none" cap="none" strike="noStrike">
                <a:solidFill>
                  <a:srgbClr val="2BCFCF"/>
                </a:solidFill>
                <a:latin typeface="Calibri"/>
                <a:ea typeface="Calibri"/>
                <a:cs typeface="Calibri"/>
                <a:sym typeface="Calibri"/>
              </a:rPr>
              <a:t>03</a:t>
            </a:r>
            <a:endParaRPr b="0" i="0" sz="2600" u="none" cap="none" strike="noStrike">
              <a:solidFill>
                <a:schemeClr val="dk1"/>
              </a:solidFill>
              <a:latin typeface="Calibri"/>
              <a:ea typeface="Calibri"/>
              <a:cs typeface="Calibri"/>
              <a:sym typeface="Calibri"/>
            </a:endParaRPr>
          </a:p>
        </p:txBody>
      </p:sp>
      <p:sp>
        <p:nvSpPr>
          <p:cNvPr id="560" name="Google Shape;560;p22"/>
          <p:cNvSpPr/>
          <p:nvPr/>
        </p:nvSpPr>
        <p:spPr>
          <a:xfrm>
            <a:off x="9497568" y="2670048"/>
            <a:ext cx="201168" cy="118872"/>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2"/>
          <p:cNvSpPr/>
          <p:nvPr/>
        </p:nvSpPr>
        <p:spPr>
          <a:xfrm>
            <a:off x="9698736" y="2551176"/>
            <a:ext cx="201168" cy="237744"/>
          </a:xfrm>
          <a:prstGeom prst="rect">
            <a:avLst/>
          </a:prstGeom>
          <a:solidFill>
            <a:srgbClr val="A8B5C2"/>
          </a:solidFill>
          <a:ln cap="flat" cmpd="sng" w="12700">
            <a:solidFill>
              <a:srgbClr val="A8B5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2"/>
          <p:cNvSpPr/>
          <p:nvPr/>
        </p:nvSpPr>
        <p:spPr>
          <a:xfrm>
            <a:off x="9899904" y="2432304"/>
            <a:ext cx="201168" cy="356616"/>
          </a:xfrm>
          <a:prstGeom prst="rect">
            <a:avLst/>
          </a:prstGeom>
          <a:solidFill>
            <a:srgbClr val="2BCFCF"/>
          </a:solidFill>
          <a:ln cap="flat" cmpd="sng" w="12700">
            <a:solidFill>
              <a:srgbClr val="2BC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2"/>
          <p:cNvSpPr/>
          <p:nvPr/>
        </p:nvSpPr>
        <p:spPr>
          <a:xfrm>
            <a:off x="8351520" y="2926080"/>
            <a:ext cx="2895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600"/>
              <a:buFont typeface="Calibri"/>
              <a:buNone/>
            </a:pPr>
            <a:r>
              <a:rPr b="1" i="0" lang="en-US" sz="1600" u="none" cap="none" strike="noStrike">
                <a:solidFill>
                  <a:srgbClr val="F1F0EE"/>
                </a:solidFill>
                <a:latin typeface="Calibri"/>
                <a:ea typeface="Calibri"/>
                <a:cs typeface="Calibri"/>
                <a:sym typeface="Calibri"/>
              </a:rPr>
              <a:t>Continuous education is the differentiator.</a:t>
            </a:r>
            <a:endParaRPr b="0" i="0" sz="1600" u="none" cap="none" strike="noStrike">
              <a:solidFill>
                <a:schemeClr val="dk1"/>
              </a:solidFill>
              <a:latin typeface="Calibri"/>
              <a:ea typeface="Calibri"/>
              <a:cs typeface="Calibri"/>
              <a:sym typeface="Calibri"/>
            </a:endParaRPr>
          </a:p>
        </p:txBody>
      </p:sp>
      <p:sp>
        <p:nvSpPr>
          <p:cNvPr id="564" name="Google Shape;564;p22"/>
          <p:cNvSpPr/>
          <p:nvPr/>
        </p:nvSpPr>
        <p:spPr>
          <a:xfrm>
            <a:off x="8351520" y="3794760"/>
            <a:ext cx="2895600" cy="205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1F0EE"/>
              </a:buClr>
              <a:buSzPts val="1400"/>
              <a:buFont typeface="Calibri"/>
              <a:buNone/>
            </a:pPr>
            <a:r>
              <a:rPr b="0" i="0" lang="en-US" sz="1400" u="none" cap="none" strike="noStrike">
                <a:solidFill>
                  <a:srgbClr val="F1F0EE"/>
                </a:solidFill>
                <a:latin typeface="Calibri"/>
                <a:ea typeface="Calibri"/>
                <a:cs typeface="Calibri"/>
                <a:sym typeface="Calibri"/>
              </a:rPr>
              <a:t>The biggest barrier to AI integration is workforce capability. Not a one-off programme. Continuous, job-specific education is what separates the 20% capturing 74% of the value from everyone else.</a:t>
            </a:r>
            <a:endParaRPr b="0" i="0" sz="1400" u="none" cap="none" strike="noStrike">
              <a:solidFill>
                <a:schemeClr val="dk1"/>
              </a:solidFill>
              <a:latin typeface="Calibri"/>
              <a:ea typeface="Calibri"/>
              <a:cs typeface="Calibri"/>
              <a:sym typeface="Calibri"/>
            </a:endParaRPr>
          </a:p>
        </p:txBody>
      </p:sp>
      <p:sp>
        <p:nvSpPr>
          <p:cNvPr id="565" name="Google Shape;565;p22"/>
          <p:cNvSpPr/>
          <p:nvPr/>
        </p:nvSpPr>
        <p:spPr>
          <a:xfrm>
            <a:off x="640080" y="6217920"/>
            <a:ext cx="10881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1400"/>
              <a:buFont typeface="Calibri"/>
              <a:buNone/>
            </a:pPr>
            <a:r>
              <a:rPr b="0" i="1" lang="en-US" sz="1400" u="none" cap="none" strike="noStrike">
                <a:solidFill>
                  <a:srgbClr val="2BCFCF"/>
                </a:solidFill>
                <a:latin typeface="Calibri"/>
                <a:ea typeface="Calibri"/>
                <a:cs typeface="Calibri"/>
                <a:sym typeface="Calibri"/>
              </a:rPr>
              <a:t>The first organisation in your industry to fix the foundations wins. The second struggles. The third gets acquired.</a:t>
            </a:r>
            <a:endParaRPr b="0" i="0" sz="1400" u="none" cap="none" strike="noStrike">
              <a:solidFill>
                <a:schemeClr val="dk1"/>
              </a:solidFill>
              <a:latin typeface="Calibri"/>
              <a:ea typeface="Calibri"/>
              <a:cs typeface="Calibri"/>
              <a:sym typeface="Calibri"/>
            </a:endParaRPr>
          </a:p>
        </p:txBody>
      </p:sp>
      <p:sp>
        <p:nvSpPr>
          <p:cNvPr id="566" name="Google Shape;566;p22"/>
          <p:cNvSpPr/>
          <p:nvPr/>
        </p:nvSpPr>
        <p:spPr>
          <a:xfrm>
            <a:off x="457200" y="6446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0EE"/>
              </a:buClr>
              <a:buSzPts val="1100"/>
              <a:buFont typeface="Calibri"/>
              <a:buNone/>
            </a:pPr>
            <a:r>
              <a:rPr b="1" i="0" lang="en-US" sz="1100" u="none" cap="none" strike="noStrike">
                <a:solidFill>
                  <a:srgbClr val="F1F0EE"/>
                </a:solidFill>
                <a:latin typeface="Calibri"/>
                <a:ea typeface="Calibri"/>
                <a:cs typeface="Calibri"/>
                <a:sym typeface="Calibri"/>
              </a:rPr>
              <a:t>WeDo</a:t>
            </a:r>
            <a:r>
              <a:rPr b="1" i="0" lang="en-US" sz="1100" u="none" cap="none" strike="noStrike">
                <a:solidFill>
                  <a:srgbClr val="2BCFCF"/>
                </a:solidFill>
                <a:latin typeface="Calibri"/>
                <a:ea typeface="Calibri"/>
                <a:cs typeface="Calibri"/>
                <a:sym typeface="Calibri"/>
              </a:rPr>
              <a:t>AI</a:t>
            </a:r>
            <a:endParaRPr b="0" i="0" sz="1100" u="none" cap="none" strike="noStrike">
              <a:solidFill>
                <a:schemeClr val="dk1"/>
              </a:solidFill>
              <a:latin typeface="Calibri"/>
              <a:ea typeface="Calibri"/>
              <a:cs typeface="Calibri"/>
              <a:sym typeface="Calibri"/>
            </a:endParaRPr>
          </a:p>
        </p:txBody>
      </p:sp>
      <p:sp>
        <p:nvSpPr>
          <p:cNvPr id="567" name="Google Shape;567;p22"/>
          <p:cNvSpPr/>
          <p:nvPr/>
        </p:nvSpPr>
        <p:spPr>
          <a:xfrm>
            <a:off x="11064240" y="644652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B5C2"/>
              </a:buClr>
              <a:buSzPts val="1000"/>
              <a:buFont typeface="Calibri"/>
              <a:buNone/>
            </a:pPr>
            <a:r>
              <a:rPr b="0" i="0" lang="en-US" sz="1000" u="none" cap="none" strike="noStrike">
                <a:solidFill>
                  <a:srgbClr val="A8B5C2"/>
                </a:solidFill>
                <a:latin typeface="Calibri"/>
                <a:ea typeface="Calibri"/>
                <a:cs typeface="Calibri"/>
                <a:sym typeface="Calibri"/>
              </a:rPr>
              <a:t>18 / 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5"/>
        </a:solidFill>
      </p:bgPr>
    </p:bg>
    <p:spTree>
      <p:nvGrpSpPr>
        <p:cNvPr id="598" name="Shape 598"/>
        <p:cNvGrpSpPr/>
        <p:nvPr/>
      </p:nvGrpSpPr>
      <p:grpSpPr>
        <a:xfrm>
          <a:off x="0" y="0"/>
          <a:ext cx="0" cy="0"/>
          <a:chOff x="0" y="0"/>
          <a:chExt cx="0" cy="0"/>
        </a:xfrm>
      </p:grpSpPr>
      <p:sp>
        <p:nvSpPr>
          <p:cNvPr id="599" name="Google Shape;599;p24"/>
          <p:cNvSpPr/>
          <p:nvPr/>
        </p:nvSpPr>
        <p:spPr>
          <a:xfrm>
            <a:off x="0" y="2194560"/>
            <a:ext cx="1216152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8800"/>
              <a:buFont typeface="Calibri"/>
              <a:buNone/>
            </a:pPr>
            <a:r>
              <a:rPr b="1" i="0" lang="en-US" sz="8800" u="none" cap="none" strike="noStrike">
                <a:solidFill>
                  <a:srgbClr val="F1F0EE"/>
                </a:solidFill>
                <a:latin typeface="Calibri"/>
                <a:ea typeface="Calibri"/>
                <a:cs typeface="Calibri"/>
                <a:sym typeface="Calibri"/>
              </a:rPr>
              <a:t>WeDo</a:t>
            </a:r>
            <a:r>
              <a:rPr b="1" i="0" lang="en-US" sz="8800" u="none" cap="none" strike="noStrike">
                <a:solidFill>
                  <a:srgbClr val="2BCFCF"/>
                </a:solidFill>
                <a:latin typeface="Calibri"/>
                <a:ea typeface="Calibri"/>
                <a:cs typeface="Calibri"/>
                <a:sym typeface="Calibri"/>
              </a:rPr>
              <a:t>AI</a:t>
            </a:r>
            <a:endParaRPr b="0" i="0" sz="8800" u="none" cap="none" strike="noStrike">
              <a:solidFill>
                <a:schemeClr val="dk1"/>
              </a:solidFill>
              <a:latin typeface="Calibri"/>
              <a:ea typeface="Calibri"/>
              <a:cs typeface="Calibri"/>
              <a:sym typeface="Calibri"/>
            </a:endParaRPr>
          </a:p>
        </p:txBody>
      </p:sp>
      <p:sp>
        <p:nvSpPr>
          <p:cNvPr id="600" name="Google Shape;600;p24"/>
          <p:cNvSpPr/>
          <p:nvPr/>
        </p:nvSpPr>
        <p:spPr>
          <a:xfrm>
            <a:off x="0" y="3566160"/>
            <a:ext cx="12161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2800"/>
              <a:buFont typeface="Calibri"/>
              <a:buNone/>
            </a:pPr>
            <a:r>
              <a:rPr b="1" i="0" lang="en-US" sz="2800" u="none" cap="none" strike="noStrike">
                <a:solidFill>
                  <a:srgbClr val="F1F0EE"/>
                </a:solidFill>
                <a:latin typeface="Calibri"/>
                <a:ea typeface="Calibri"/>
                <a:cs typeface="Calibri"/>
                <a:sym typeface="Calibri"/>
              </a:rPr>
              <a:t>Tim Barnes</a:t>
            </a:r>
            <a:endParaRPr b="0" i="0" sz="2800" u="none" cap="none" strike="noStrike">
              <a:solidFill>
                <a:schemeClr val="dk1"/>
              </a:solidFill>
              <a:latin typeface="Calibri"/>
              <a:ea typeface="Calibri"/>
              <a:cs typeface="Calibri"/>
              <a:sym typeface="Calibri"/>
            </a:endParaRPr>
          </a:p>
        </p:txBody>
      </p:sp>
      <p:sp>
        <p:nvSpPr>
          <p:cNvPr id="601" name="Google Shape;601;p24"/>
          <p:cNvSpPr/>
          <p:nvPr/>
        </p:nvSpPr>
        <p:spPr>
          <a:xfrm>
            <a:off x="0" y="4114800"/>
            <a:ext cx="121615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5C2"/>
              </a:buClr>
              <a:buSzPts val="1800"/>
              <a:buFont typeface="Calibri"/>
              <a:buNone/>
            </a:pPr>
            <a:r>
              <a:rPr b="0" i="0" lang="en-US" sz="1800" u="none" cap="none" strike="noStrike">
                <a:solidFill>
                  <a:srgbClr val="A8B5C2"/>
                </a:solidFill>
                <a:latin typeface="Calibri"/>
                <a:ea typeface="Calibri"/>
                <a:cs typeface="Calibri"/>
                <a:sym typeface="Calibri"/>
              </a:rPr>
              <a:t>AI and Automation Expert</a:t>
            </a:r>
            <a:endParaRPr b="0" i="0" sz="1800" u="none" cap="none" strike="noStrike">
              <a:solidFill>
                <a:schemeClr val="dk1"/>
              </a:solidFill>
              <a:latin typeface="Calibri"/>
              <a:ea typeface="Calibri"/>
              <a:cs typeface="Calibri"/>
              <a:sym typeface="Calibri"/>
            </a:endParaRPr>
          </a:p>
        </p:txBody>
      </p:sp>
      <p:sp>
        <p:nvSpPr>
          <p:cNvPr id="602" name="Google Shape;602;p24"/>
          <p:cNvSpPr/>
          <p:nvPr/>
        </p:nvSpPr>
        <p:spPr>
          <a:xfrm>
            <a:off x="0" y="4754880"/>
            <a:ext cx="121615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CFCF"/>
              </a:buClr>
              <a:buSzPts val="1600"/>
              <a:buFont typeface="Calibri"/>
              <a:buNone/>
            </a:pPr>
            <a:r>
              <a:rPr b="0" i="0" lang="en-US" sz="1600" u="none" cap="none" strike="noStrike">
                <a:solidFill>
                  <a:srgbClr val="2BCFCF"/>
                </a:solidFill>
                <a:latin typeface="Calibri"/>
                <a:ea typeface="Calibri"/>
                <a:cs typeface="Calibri"/>
                <a:sym typeface="Calibri"/>
              </a:rPr>
              <a:t>wedoai.com.au</a:t>
            </a:r>
            <a:endParaRPr b="0" i="0" sz="1600" u="none" cap="none" strike="noStrike">
              <a:solidFill>
                <a:schemeClr val="dk1"/>
              </a:solidFill>
              <a:latin typeface="Calibri"/>
              <a:ea typeface="Calibri"/>
              <a:cs typeface="Calibri"/>
              <a:sym typeface="Calibri"/>
            </a:endParaRPr>
          </a:p>
        </p:txBody>
      </p:sp>
      <p:sp>
        <p:nvSpPr>
          <p:cNvPr id="603" name="Google Shape;603;p24"/>
          <p:cNvSpPr/>
          <p:nvPr/>
        </p:nvSpPr>
        <p:spPr>
          <a:xfrm>
            <a:off x="0" y="5669280"/>
            <a:ext cx="121615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F0EE"/>
              </a:buClr>
              <a:buSzPts val="2200"/>
              <a:buFont typeface="Calibri"/>
              <a:buNone/>
            </a:pPr>
            <a:r>
              <a:rPr b="0" i="1" lang="en-US" sz="2200" u="none" cap="none" strike="noStrike">
                <a:solidFill>
                  <a:srgbClr val="F1F0EE"/>
                </a:solidFill>
                <a:latin typeface="Calibri"/>
                <a:ea typeface="Calibri"/>
                <a:cs typeface="Calibri"/>
                <a:sym typeface="Calibri"/>
              </a:rPr>
              <a:t>Questions.</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