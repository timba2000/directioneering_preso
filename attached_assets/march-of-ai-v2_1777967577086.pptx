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A45"/>
        </a:solidFill>
      </p:bgPr>
    </p:bg>
    <p:spTree>
      <p:nvGrpSpPr>
        <p:cNvPr id="1" name=""/>
        <p:cNvGrpSpPr/>
        <p:nvPr/>
      </p:nvGrpSpPr>
      <p:grpSpPr>
        <a:xfrm>
          <a:off x="0" y="0"/>
          <a:ext cx="0" cy="0"/>
          <a:chOff x="0" y="0"/>
          <a:chExt cx="0" cy="0"/>
        </a:xfrm>
      </p:grpSpPr>
      <p:sp>
        <p:nvSpPr>
          <p:cNvPr id="2" name="Text 0"/>
          <p:cNvSpPr/>
          <p:nvPr/>
        </p:nvSpPr>
        <p:spPr>
          <a:xfrm>
            <a:off x="640080" y="548640"/>
            <a:ext cx="1828800" cy="548640"/>
          </a:xfrm>
          <a:prstGeom prst="rect">
            <a:avLst/>
          </a:prstGeom>
          <a:noFill/>
          <a:ln/>
        </p:spPr>
        <p:txBody>
          <a:bodyPr wrap="square" lIns="0" tIns="0" rIns="0" bIns="0" rtlCol="0" anchor="ctr"/>
          <a:lstStyle/>
          <a:p>
            <a:pPr algn="l" indent="0" marL="0">
              <a:buNone/>
            </a:pPr>
            <a:r>
              <a:rPr lang="en-US" sz="2800" b="1" dirty="0">
                <a:solidFill>
                  <a:srgbClr val="F1F0EE"/>
                </a:solidFill>
                <a:latin typeface="Calibri" pitchFamily="34" charset="0"/>
                <a:ea typeface="Calibri" pitchFamily="34" charset="-122"/>
                <a:cs typeface="Calibri" pitchFamily="34" charset="-120"/>
              </a:rPr>
              <a:t>WeDo</a:t>
            </a:r>
            <a:pPr algn="l" indent="0" marL="0">
              <a:buNone/>
            </a:pPr>
            <a:r>
              <a:rPr lang="en-US" sz="2800" b="1" dirty="0">
                <a:solidFill>
                  <a:srgbClr val="2BCFCF"/>
                </a:solidFill>
                <a:latin typeface="Calibri" pitchFamily="34" charset="0"/>
                <a:ea typeface="Calibri" pitchFamily="34" charset="-122"/>
                <a:cs typeface="Calibri" pitchFamily="34" charset="-120"/>
              </a:rPr>
              <a:t>AI</a:t>
            </a:r>
            <a:endParaRPr lang="en-US" sz="2800" dirty="0"/>
          </a:p>
        </p:txBody>
      </p:sp>
      <p:sp>
        <p:nvSpPr>
          <p:cNvPr id="3" name="Text 1"/>
          <p:cNvSpPr/>
          <p:nvPr/>
        </p:nvSpPr>
        <p:spPr>
          <a:xfrm>
            <a:off x="640080" y="2286000"/>
            <a:ext cx="10881360" cy="1463040"/>
          </a:xfrm>
          <a:prstGeom prst="rect">
            <a:avLst/>
          </a:prstGeom>
          <a:noFill/>
          <a:ln/>
        </p:spPr>
        <p:txBody>
          <a:bodyPr wrap="square" lIns="0" tIns="0" rIns="0" bIns="0" rtlCol="0" anchor="ctr"/>
          <a:lstStyle/>
          <a:p>
            <a:pPr algn="l" indent="0" marL="0">
              <a:buNone/>
            </a:pPr>
            <a:r>
              <a:rPr lang="en-US" sz="7800" b="1" dirty="0">
                <a:solidFill>
                  <a:srgbClr val="F1F0EE"/>
                </a:solidFill>
                <a:latin typeface="Calibri" pitchFamily="34" charset="0"/>
                <a:ea typeface="Calibri" pitchFamily="34" charset="-122"/>
                <a:cs typeface="Calibri" pitchFamily="34" charset="-120"/>
              </a:rPr>
              <a:t>The March of </a:t>
            </a:r>
            <a:pPr algn="l" indent="0" marL="0">
              <a:buNone/>
            </a:pPr>
            <a:r>
              <a:rPr lang="en-US" sz="7800" b="1" dirty="0">
                <a:solidFill>
                  <a:srgbClr val="2BCFCF"/>
                </a:solidFill>
                <a:latin typeface="Calibri" pitchFamily="34" charset="0"/>
                <a:ea typeface="Calibri" pitchFamily="34" charset="-122"/>
                <a:cs typeface="Calibri" pitchFamily="34" charset="-120"/>
              </a:rPr>
              <a:t>AI</a:t>
            </a:r>
            <a:endParaRPr lang="en-US" sz="7800" dirty="0"/>
          </a:p>
        </p:txBody>
      </p:sp>
      <p:sp>
        <p:nvSpPr>
          <p:cNvPr id="4" name="Text 2"/>
          <p:cNvSpPr/>
          <p:nvPr/>
        </p:nvSpPr>
        <p:spPr>
          <a:xfrm>
            <a:off x="640080" y="3840480"/>
            <a:ext cx="10881360" cy="457200"/>
          </a:xfrm>
          <a:prstGeom prst="rect">
            <a:avLst/>
          </a:prstGeom>
          <a:noFill/>
          <a:ln/>
        </p:spPr>
        <p:txBody>
          <a:bodyPr wrap="square" lIns="0" tIns="0" rIns="0" bIns="0" rtlCol="0" anchor="ctr"/>
          <a:lstStyle/>
          <a:p>
            <a:pPr algn="l" indent="0" marL="0">
              <a:buNone/>
            </a:pPr>
            <a:r>
              <a:rPr lang="en-US" sz="1800" dirty="0">
                <a:solidFill>
                  <a:srgbClr val="A8B5C2"/>
                </a:solidFill>
                <a:latin typeface="Calibri" pitchFamily="34" charset="0"/>
                <a:ea typeface="Calibri" pitchFamily="34" charset="-122"/>
                <a:cs typeface="Calibri" pitchFamily="34" charset="-120"/>
              </a:rPr>
              <a:t>Tim Barnes   /   Directioneering Executive Insights Forum   /   21 May 2026</a:t>
            </a:r>
            <a:endParaRPr lang="en-US" sz="1800" dirty="0"/>
          </a:p>
        </p:txBody>
      </p:sp>
      <p:sp>
        <p:nvSpPr>
          <p:cNvPr id="5" name="Text 3"/>
          <p:cNvSpPr/>
          <p:nvPr/>
        </p:nvSpPr>
        <p:spPr>
          <a:xfrm>
            <a:off x="640080" y="4572000"/>
            <a:ext cx="9418320" cy="1280160"/>
          </a:xfrm>
          <a:prstGeom prst="rect">
            <a:avLst/>
          </a:prstGeom>
          <a:noFill/>
          <a:ln/>
        </p:spPr>
        <p:txBody>
          <a:bodyPr wrap="square" lIns="0" tIns="0" rIns="0" bIns="0" rtlCol="0" anchor="t"/>
          <a:lstStyle/>
          <a:p>
            <a:pPr algn="l" indent="0" marL="0">
              <a:buNone/>
            </a:pPr>
            <a:r>
              <a:rPr lang="en-US" sz="2200" i="1" dirty="0">
                <a:solidFill>
                  <a:srgbClr val="F1F0EE"/>
                </a:solidFill>
                <a:latin typeface="Calibri" pitchFamily="34" charset="0"/>
                <a:ea typeface="Calibri" pitchFamily="34" charset="-122"/>
                <a:cs typeface="Calibri" pitchFamily="34" charset="-120"/>
              </a:rPr>
              <a:t>A calibration tool, not a tour. Three lenses, five questions, and one prerequisite most organisations do not have.</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2A45"/>
        </a:solidFill>
      </p:bgPr>
    </p:bg>
    <p:spTree>
      <p:nvGrpSpPr>
        <p:cNvPr id="1" name=""/>
        <p:cNvGrpSpPr/>
        <p:nvPr/>
      </p:nvGrpSpPr>
      <p:grpSpPr>
        <a:xfrm>
          <a:off x="0" y="0"/>
          <a:ext cx="0" cy="0"/>
          <a:chOff x="0" y="0"/>
          <a:chExt cx="0" cy="0"/>
        </a:xfrm>
      </p:grpSpPr>
      <p:sp>
        <p:nvSpPr>
          <p:cNvPr id="2" name="Text 0"/>
          <p:cNvSpPr/>
          <p:nvPr/>
        </p:nvSpPr>
        <p:spPr>
          <a:xfrm>
            <a:off x="640080" y="1280160"/>
            <a:ext cx="2743200" cy="914400"/>
          </a:xfrm>
          <a:prstGeom prst="rect">
            <a:avLst/>
          </a:prstGeom>
          <a:noFill/>
          <a:ln/>
        </p:spPr>
        <p:txBody>
          <a:bodyPr wrap="square" lIns="0" tIns="0" rIns="0" bIns="0" rtlCol="0" anchor="ctr"/>
          <a:lstStyle/>
          <a:p>
            <a:pPr algn="l" indent="0" marL="0">
              <a:buNone/>
            </a:pPr>
            <a:r>
              <a:rPr lang="en-US" sz="2800" b="1" spc="200" kern="0" dirty="0">
                <a:solidFill>
                  <a:srgbClr val="A8B5C2"/>
                </a:solidFill>
                <a:latin typeface="Calibri" pitchFamily="34" charset="0"/>
                <a:ea typeface="Calibri" pitchFamily="34" charset="-122"/>
                <a:cs typeface="Calibri" pitchFamily="34" charset="-120"/>
              </a:rPr>
              <a:t>01</a:t>
            </a:r>
            <a:endParaRPr lang="en-US" sz="2800" dirty="0"/>
          </a:p>
        </p:txBody>
      </p:sp>
      <p:sp>
        <p:nvSpPr>
          <p:cNvPr id="3" name="Text 1"/>
          <p:cNvSpPr/>
          <p:nvPr/>
        </p:nvSpPr>
        <p:spPr>
          <a:xfrm>
            <a:off x="640080" y="2286000"/>
            <a:ext cx="10881360" cy="1645920"/>
          </a:xfrm>
          <a:prstGeom prst="rect">
            <a:avLst/>
          </a:prstGeom>
          <a:noFill/>
          <a:ln/>
        </p:spPr>
        <p:txBody>
          <a:bodyPr wrap="square" lIns="0" tIns="0" rIns="0" bIns="0" rtlCol="0" anchor="ctr"/>
          <a:lstStyle/>
          <a:p>
            <a:pPr algn="l" indent="0" marL="0">
              <a:buNone/>
            </a:pPr>
            <a:r>
              <a:rPr lang="en-US" sz="7000" b="1" dirty="0">
                <a:solidFill>
                  <a:srgbClr val="F1F0EE"/>
                </a:solidFill>
                <a:latin typeface="Calibri" pitchFamily="34" charset="0"/>
                <a:ea typeface="Calibri" pitchFamily="34" charset="-122"/>
                <a:cs typeface="Calibri" pitchFamily="34" charset="-120"/>
              </a:rPr>
              <a:t>What is the actual </a:t>
            </a:r>
            <a:pPr algn="l" indent="0" marL="0">
              <a:buNone/>
            </a:pPr>
            <a:r>
              <a:rPr lang="en-US" sz="7000" b="1" dirty="0">
                <a:solidFill>
                  <a:srgbClr val="2BCFCF"/>
                </a:solidFill>
                <a:latin typeface="Calibri" pitchFamily="34" charset="0"/>
                <a:ea typeface="Calibri" pitchFamily="34" charset="-122"/>
                <a:cs typeface="Calibri" pitchFamily="34" charset="-120"/>
              </a:rPr>
              <a:t>problem</a:t>
            </a:r>
            <a:pPr algn="l" indent="0" marL="0">
              <a:buNone/>
            </a:pPr>
            <a:r>
              <a:rPr lang="en-US" sz="7000" b="1" dirty="0">
                <a:solidFill>
                  <a:srgbClr val="F1F0EE"/>
                </a:solidFill>
                <a:latin typeface="Calibri" pitchFamily="34" charset="0"/>
                <a:ea typeface="Calibri" pitchFamily="34" charset="-122"/>
                <a:cs typeface="Calibri" pitchFamily="34" charset="-120"/>
              </a:rPr>
              <a:t>?</a:t>
            </a:r>
            <a:endParaRPr lang="en-US" sz="7000" dirty="0"/>
          </a:p>
        </p:txBody>
      </p:sp>
      <p:sp>
        <p:nvSpPr>
          <p:cNvPr id="4" name="Text 2"/>
          <p:cNvSpPr/>
          <p:nvPr/>
        </p:nvSpPr>
        <p:spPr>
          <a:xfrm>
            <a:off x="640080" y="4206240"/>
            <a:ext cx="9418320" cy="1097280"/>
          </a:xfrm>
          <a:prstGeom prst="rect">
            <a:avLst/>
          </a:prstGeom>
          <a:noFill/>
          <a:ln/>
        </p:spPr>
        <p:txBody>
          <a:bodyPr wrap="square" lIns="0" tIns="0" rIns="0" bIns="0" rtlCol="0" anchor="t"/>
          <a:lstStyle/>
          <a:p>
            <a:pPr algn="l" indent="0" marL="0">
              <a:buNone/>
            </a:pPr>
            <a:r>
              <a:rPr lang="en-US" sz="2200" i="1" dirty="0">
                <a:solidFill>
                  <a:srgbClr val="A8B5C2"/>
                </a:solidFill>
                <a:latin typeface="Calibri" pitchFamily="34" charset="0"/>
                <a:ea typeface="Calibri" pitchFamily="34" charset="-122"/>
                <a:cs typeface="Calibri" pitchFamily="34" charset="-120"/>
              </a:rPr>
              <a:t>Every week someone pitches you AI. The challenge is no longer awareness. It is calibration.</a:t>
            </a:r>
            <a:endParaRPr lang="en-US" sz="2200" dirty="0"/>
          </a:p>
        </p:txBody>
      </p:sp>
      <p:sp>
        <p:nvSpPr>
          <p:cNvPr id="5" name="Text 3"/>
          <p:cNvSpPr/>
          <p:nvPr/>
        </p:nvSpPr>
        <p:spPr>
          <a:xfrm>
            <a:off x="10698480" y="6035040"/>
            <a:ext cx="1828800" cy="548640"/>
          </a:xfrm>
          <a:prstGeom prst="rect">
            <a:avLst/>
          </a:prstGeom>
          <a:noFill/>
          <a:ln/>
        </p:spPr>
        <p:txBody>
          <a:bodyPr wrap="square" lIns="0" tIns="0" rIns="0" bIns="0" rtlCol="0" anchor="ctr"/>
          <a:lstStyle/>
          <a:p>
            <a:pPr algn="l" indent="0" marL="0">
              <a:buNone/>
            </a:pPr>
            <a:r>
              <a:rPr lang="en-US" sz="1600" b="1" dirty="0">
                <a:solidFill>
                  <a:srgbClr val="F1F0EE"/>
                </a:solidFill>
                <a:latin typeface="Calibri" pitchFamily="34" charset="0"/>
                <a:ea typeface="Calibri" pitchFamily="34" charset="-122"/>
                <a:cs typeface="Calibri" pitchFamily="34" charset="-120"/>
              </a:rPr>
              <a:t>WeDo</a:t>
            </a:r>
            <a:pPr algn="l" indent="0" marL="0">
              <a:buNone/>
            </a:pPr>
            <a:r>
              <a:rPr lang="en-US" sz="1600" b="1" dirty="0">
                <a:solidFill>
                  <a:srgbClr val="2BCFCF"/>
                </a:solidFill>
                <a:latin typeface="Calibri" pitchFamily="34" charset="0"/>
                <a:ea typeface="Calibri" pitchFamily="34" charset="-122"/>
                <a:cs typeface="Calibri" pitchFamily="34" charset="-120"/>
              </a:rPr>
              <a:t>AI</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2A45"/>
        </a:solidFill>
      </p:bgPr>
    </p:bg>
    <p:spTree>
      <p:nvGrpSpPr>
        <p:cNvPr id="1" name=""/>
        <p:cNvGrpSpPr/>
        <p:nvPr/>
      </p:nvGrpSpPr>
      <p:grpSpPr>
        <a:xfrm>
          <a:off x="0" y="0"/>
          <a:ext cx="0" cy="0"/>
          <a:chOff x="0" y="0"/>
          <a:chExt cx="0" cy="0"/>
        </a:xfrm>
      </p:grpSpPr>
      <p:sp>
        <p:nvSpPr>
          <p:cNvPr id="2" name="Text 0"/>
          <p:cNvSpPr/>
          <p:nvPr/>
        </p:nvSpPr>
        <p:spPr>
          <a:xfrm>
            <a:off x="640080" y="457200"/>
            <a:ext cx="10881360" cy="822960"/>
          </a:xfrm>
          <a:prstGeom prst="rect">
            <a:avLst/>
          </a:prstGeom>
          <a:noFill/>
          <a:ln/>
        </p:spPr>
        <p:txBody>
          <a:bodyPr wrap="square" lIns="0" tIns="0" rIns="0" bIns="0" rtlCol="0" anchor="ctr"/>
          <a:lstStyle/>
          <a:p>
            <a:pPr algn="l" indent="0" marL="0">
              <a:buNone/>
            </a:pPr>
            <a:r>
              <a:rPr lang="en-US" sz="3200" b="1" dirty="0">
                <a:solidFill>
                  <a:srgbClr val="F1F0EE"/>
                </a:solidFill>
                <a:latin typeface="Calibri" pitchFamily="34" charset="0"/>
                <a:ea typeface="Calibri" pitchFamily="34" charset="-122"/>
                <a:cs typeface="Calibri" pitchFamily="34" charset="-120"/>
              </a:rPr>
              <a:t>You are not short on AI. You are short on signal.</a:t>
            </a:r>
            <a:endParaRPr lang="en-US" sz="3200" dirty="0"/>
          </a:p>
        </p:txBody>
      </p:sp>
      <p:sp>
        <p:nvSpPr>
          <p:cNvPr id="3" name="Text 1"/>
          <p:cNvSpPr/>
          <p:nvPr/>
        </p:nvSpPr>
        <p:spPr>
          <a:xfrm>
            <a:off x="640080" y="1554480"/>
            <a:ext cx="5852160" cy="4114800"/>
          </a:xfrm>
          <a:prstGeom prst="rect">
            <a:avLst/>
          </a:prstGeom>
          <a:noFill/>
          <a:ln/>
        </p:spPr>
        <p:txBody>
          <a:bodyPr wrap="square" lIns="0" tIns="0" rIns="0" bIns="0" rtlCol="0" anchor="t"/>
          <a:lstStyle/>
          <a:p>
            <a:pPr algn="l" indent="0" marL="0">
              <a:spcAft>
                <a:spcPts val="1000"/>
              </a:spcAft>
              <a:buNone/>
            </a:pPr>
            <a:r>
              <a:rPr lang="en-US" sz="1800" dirty="0">
                <a:solidFill>
                  <a:srgbClr val="F1F0EE"/>
                </a:solidFill>
                <a:latin typeface="Calibri" pitchFamily="34" charset="0"/>
                <a:ea typeface="Calibri" pitchFamily="34" charset="-122"/>
                <a:cs typeface="Calibri" pitchFamily="34" charset="-120"/>
              </a:rPr>
              <a:t>You hear about AI from vendors, your team, your peers, your board, your kids.</a:t>
            </a:r>
            <a:endParaRPr lang="en-US" sz="1800" dirty="0"/>
          </a:p>
          <a:p>
            <a:pPr algn="l" indent="0" marL="0">
              <a:spcAft>
                <a:spcPts val="1000"/>
              </a:spcAft>
              <a:buNone/>
            </a:pPr>
            <a:r>
              <a:rPr lang="en-US" sz="1800" dirty="0">
                <a:solidFill>
                  <a:srgbClr val="F1F0EE"/>
                </a:solidFill>
                <a:latin typeface="Calibri" pitchFamily="34" charset="0"/>
                <a:ea typeface="Calibri" pitchFamily="34" charset="-122"/>
                <a:cs typeface="Calibri" pitchFamily="34" charset="-120"/>
              </a:rPr>
              <a:t>The capability is real. The demos are real.</a:t>
            </a:r>
            <a:endParaRPr lang="en-US" sz="1800" dirty="0"/>
          </a:p>
          <a:p>
            <a:pPr algn="l" indent="0" marL="0">
              <a:spcAft>
                <a:spcPts val="1000"/>
              </a:spcAft>
              <a:buNone/>
            </a:pPr>
            <a:r>
              <a:rPr lang="en-US" sz="1800" dirty="0">
                <a:solidFill>
                  <a:srgbClr val="F1F0EE"/>
                </a:solidFill>
                <a:latin typeface="Calibri" pitchFamily="34" charset="0"/>
                <a:ea typeface="Calibri" pitchFamily="34" charset="-122"/>
                <a:cs typeface="Calibri" pitchFamily="34" charset="-120"/>
              </a:rPr>
              <a:t>Most enterprise AI projects do not move the P&amp;L.</a:t>
            </a:r>
            <a:endParaRPr lang="en-US" sz="1800" dirty="0"/>
          </a:p>
          <a:p>
            <a:pPr algn="l" indent="0" marL="0">
              <a:buNone/>
            </a:pPr>
            <a:r>
              <a:rPr lang="en-US" sz="1800" dirty="0">
                <a:solidFill>
                  <a:srgbClr val="F1F0EE"/>
                </a:solidFill>
                <a:latin typeface="Calibri" pitchFamily="34" charset="0"/>
                <a:ea typeface="Calibri" pitchFamily="34" charset="-122"/>
                <a:cs typeface="Calibri" pitchFamily="34" charset="-120"/>
              </a:rPr>
              <a:t>You do not need to become a technologist. You need a way to tell signal from noise.</a:t>
            </a:r>
            <a:endParaRPr lang="en-US" sz="1800" dirty="0"/>
          </a:p>
        </p:txBody>
      </p:sp>
      <p:sp>
        <p:nvSpPr>
          <p:cNvPr id="4" name="Shape 2"/>
          <p:cNvSpPr/>
          <p:nvPr/>
        </p:nvSpPr>
        <p:spPr>
          <a:xfrm>
            <a:off x="6858000" y="1554480"/>
            <a:ext cx="4754880" cy="1371600"/>
          </a:xfrm>
          <a:prstGeom prst="rect">
            <a:avLst/>
          </a:prstGeom>
          <a:solidFill>
            <a:srgbClr val="07344F"/>
          </a:solidFill>
          <a:ln w="12700">
            <a:solidFill>
              <a:srgbClr val="07344F"/>
            </a:solidFill>
            <a:prstDash val="solid"/>
          </a:ln>
        </p:spPr>
      </p:sp>
      <p:sp>
        <p:nvSpPr>
          <p:cNvPr id="5" name="Text 3"/>
          <p:cNvSpPr/>
          <p:nvPr/>
        </p:nvSpPr>
        <p:spPr>
          <a:xfrm>
            <a:off x="6995160" y="1691640"/>
            <a:ext cx="1554480" cy="1097280"/>
          </a:xfrm>
          <a:prstGeom prst="rect">
            <a:avLst/>
          </a:prstGeom>
          <a:noFill/>
          <a:ln/>
        </p:spPr>
        <p:txBody>
          <a:bodyPr wrap="square" lIns="0" tIns="0" rIns="0" bIns="0" rtlCol="0" anchor="ctr"/>
          <a:lstStyle/>
          <a:p>
            <a:pPr algn="ctr" indent="0" marL="0">
              <a:buNone/>
            </a:pPr>
            <a:r>
              <a:rPr lang="en-US" sz="5000" b="1" dirty="0">
                <a:solidFill>
                  <a:srgbClr val="2BCFCF"/>
                </a:solidFill>
                <a:latin typeface="Calibri" pitchFamily="34" charset="0"/>
                <a:ea typeface="Calibri" pitchFamily="34" charset="-122"/>
                <a:cs typeface="Calibri" pitchFamily="34" charset="-120"/>
              </a:rPr>
              <a:t>95%</a:t>
            </a:r>
            <a:endParaRPr lang="en-US" sz="5000" dirty="0"/>
          </a:p>
        </p:txBody>
      </p:sp>
      <p:sp>
        <p:nvSpPr>
          <p:cNvPr id="6" name="Text 4"/>
          <p:cNvSpPr/>
          <p:nvPr/>
        </p:nvSpPr>
        <p:spPr>
          <a:xfrm>
            <a:off x="8641080" y="1737360"/>
            <a:ext cx="2834640" cy="777240"/>
          </a:xfrm>
          <a:prstGeom prst="rect">
            <a:avLst/>
          </a:prstGeom>
          <a:noFill/>
          <a:ln/>
        </p:spPr>
        <p:txBody>
          <a:bodyPr wrap="square" lIns="0" tIns="0" rIns="0" bIns="0" rtlCol="0" anchor="t"/>
          <a:lstStyle/>
          <a:p>
            <a:pPr algn="l" indent="0" marL="0">
              <a:buNone/>
            </a:pPr>
            <a:r>
              <a:rPr lang="en-US" sz="1300" dirty="0">
                <a:solidFill>
                  <a:srgbClr val="F1F0EE"/>
                </a:solidFill>
                <a:latin typeface="Calibri" pitchFamily="34" charset="0"/>
                <a:ea typeface="Calibri" pitchFamily="34" charset="-122"/>
                <a:cs typeface="Calibri" pitchFamily="34" charset="-120"/>
              </a:rPr>
              <a:t>of GenAI pilots fail to scale</a:t>
            </a:r>
            <a:endParaRPr lang="en-US" sz="1300" dirty="0"/>
          </a:p>
        </p:txBody>
      </p:sp>
      <p:sp>
        <p:nvSpPr>
          <p:cNvPr id="7" name="Text 5"/>
          <p:cNvSpPr/>
          <p:nvPr/>
        </p:nvSpPr>
        <p:spPr>
          <a:xfrm>
            <a:off x="8641080" y="2514600"/>
            <a:ext cx="2834640" cy="274320"/>
          </a:xfrm>
          <a:prstGeom prst="rect">
            <a:avLst/>
          </a:prstGeom>
          <a:noFill/>
          <a:ln/>
        </p:spPr>
        <p:txBody>
          <a:bodyPr wrap="square" lIns="0" tIns="0" rIns="0" bIns="0" rtlCol="0" anchor="ctr"/>
          <a:lstStyle/>
          <a:p>
            <a:pPr algn="l" indent="0" marL="0">
              <a:buNone/>
            </a:pPr>
            <a:r>
              <a:rPr lang="en-US" sz="900" i="1" dirty="0">
                <a:solidFill>
                  <a:srgbClr val="A8B5C2"/>
                </a:solidFill>
                <a:latin typeface="Calibri" pitchFamily="34" charset="0"/>
                <a:ea typeface="Calibri" pitchFamily="34" charset="-122"/>
                <a:cs typeface="Calibri" pitchFamily="34" charset="-120"/>
              </a:rPr>
              <a:t>MIT, 2025</a:t>
            </a:r>
            <a:endParaRPr lang="en-US" sz="900" dirty="0"/>
          </a:p>
        </p:txBody>
      </p:sp>
      <p:sp>
        <p:nvSpPr>
          <p:cNvPr id="8" name="Shape 6"/>
          <p:cNvSpPr/>
          <p:nvPr/>
        </p:nvSpPr>
        <p:spPr>
          <a:xfrm>
            <a:off x="6858000" y="3108960"/>
            <a:ext cx="4754880" cy="1371600"/>
          </a:xfrm>
          <a:prstGeom prst="rect">
            <a:avLst/>
          </a:prstGeom>
          <a:solidFill>
            <a:srgbClr val="07344F"/>
          </a:solidFill>
          <a:ln w="12700">
            <a:solidFill>
              <a:srgbClr val="07344F"/>
            </a:solidFill>
            <a:prstDash val="solid"/>
          </a:ln>
        </p:spPr>
      </p:sp>
      <p:sp>
        <p:nvSpPr>
          <p:cNvPr id="9" name="Text 7"/>
          <p:cNvSpPr/>
          <p:nvPr/>
        </p:nvSpPr>
        <p:spPr>
          <a:xfrm>
            <a:off x="6995160" y="3246120"/>
            <a:ext cx="1554480" cy="1097280"/>
          </a:xfrm>
          <a:prstGeom prst="rect">
            <a:avLst/>
          </a:prstGeom>
          <a:noFill/>
          <a:ln/>
        </p:spPr>
        <p:txBody>
          <a:bodyPr wrap="square" lIns="0" tIns="0" rIns="0" bIns="0" rtlCol="0" anchor="ctr"/>
          <a:lstStyle/>
          <a:p>
            <a:pPr algn="ctr" indent="0" marL="0">
              <a:buNone/>
            </a:pPr>
            <a:r>
              <a:rPr lang="en-US" sz="5000" b="1" dirty="0">
                <a:solidFill>
                  <a:srgbClr val="2BCFCF"/>
                </a:solidFill>
                <a:latin typeface="Calibri" pitchFamily="34" charset="0"/>
                <a:ea typeface="Calibri" pitchFamily="34" charset="-122"/>
                <a:cs typeface="Calibri" pitchFamily="34" charset="-120"/>
              </a:rPr>
              <a:t>42%</a:t>
            </a:r>
            <a:endParaRPr lang="en-US" sz="5000" dirty="0"/>
          </a:p>
        </p:txBody>
      </p:sp>
      <p:sp>
        <p:nvSpPr>
          <p:cNvPr id="10" name="Text 8"/>
          <p:cNvSpPr/>
          <p:nvPr/>
        </p:nvSpPr>
        <p:spPr>
          <a:xfrm>
            <a:off x="8641080" y="3291840"/>
            <a:ext cx="2834640" cy="777240"/>
          </a:xfrm>
          <a:prstGeom prst="rect">
            <a:avLst/>
          </a:prstGeom>
          <a:noFill/>
          <a:ln/>
        </p:spPr>
        <p:txBody>
          <a:bodyPr wrap="square" lIns="0" tIns="0" rIns="0" bIns="0" rtlCol="0" anchor="t"/>
          <a:lstStyle/>
          <a:p>
            <a:pPr algn="l" indent="0" marL="0">
              <a:buNone/>
            </a:pPr>
            <a:r>
              <a:rPr lang="en-US" sz="1300" dirty="0">
                <a:solidFill>
                  <a:srgbClr val="F1F0EE"/>
                </a:solidFill>
                <a:latin typeface="Calibri" pitchFamily="34" charset="0"/>
                <a:ea typeface="Calibri" pitchFamily="34" charset="-122"/>
                <a:cs typeface="Calibri" pitchFamily="34" charset="-120"/>
              </a:rPr>
              <a:t>of companies abandoned most AI initiatives in 2025, up from 17% the year prior</a:t>
            </a:r>
            <a:endParaRPr lang="en-US" sz="1300" dirty="0"/>
          </a:p>
        </p:txBody>
      </p:sp>
      <p:sp>
        <p:nvSpPr>
          <p:cNvPr id="11" name="Text 9"/>
          <p:cNvSpPr/>
          <p:nvPr/>
        </p:nvSpPr>
        <p:spPr>
          <a:xfrm>
            <a:off x="8641080" y="4069080"/>
            <a:ext cx="2834640" cy="274320"/>
          </a:xfrm>
          <a:prstGeom prst="rect">
            <a:avLst/>
          </a:prstGeom>
          <a:noFill/>
          <a:ln/>
        </p:spPr>
        <p:txBody>
          <a:bodyPr wrap="square" lIns="0" tIns="0" rIns="0" bIns="0" rtlCol="0" anchor="ctr"/>
          <a:lstStyle/>
          <a:p>
            <a:pPr algn="l" indent="0" marL="0">
              <a:buNone/>
            </a:pPr>
            <a:r>
              <a:rPr lang="en-US" sz="900" i="1" dirty="0">
                <a:solidFill>
                  <a:srgbClr val="A8B5C2"/>
                </a:solidFill>
                <a:latin typeface="Calibri" pitchFamily="34" charset="0"/>
                <a:ea typeface="Calibri" pitchFamily="34" charset="-122"/>
                <a:cs typeface="Calibri" pitchFamily="34" charset="-120"/>
              </a:rPr>
              <a:t>S&amp;P Global</a:t>
            </a:r>
            <a:endParaRPr lang="en-US" sz="900" dirty="0"/>
          </a:p>
        </p:txBody>
      </p:sp>
      <p:sp>
        <p:nvSpPr>
          <p:cNvPr id="12" name="Shape 10"/>
          <p:cNvSpPr/>
          <p:nvPr/>
        </p:nvSpPr>
        <p:spPr>
          <a:xfrm>
            <a:off x="6858000" y="4663440"/>
            <a:ext cx="4754880" cy="1371600"/>
          </a:xfrm>
          <a:prstGeom prst="rect">
            <a:avLst/>
          </a:prstGeom>
          <a:solidFill>
            <a:srgbClr val="07344F"/>
          </a:solidFill>
          <a:ln w="12700">
            <a:solidFill>
              <a:srgbClr val="07344F"/>
            </a:solidFill>
            <a:prstDash val="solid"/>
          </a:ln>
        </p:spPr>
      </p:sp>
      <p:sp>
        <p:nvSpPr>
          <p:cNvPr id="13" name="Text 11"/>
          <p:cNvSpPr/>
          <p:nvPr/>
        </p:nvSpPr>
        <p:spPr>
          <a:xfrm>
            <a:off x="6995160" y="4800600"/>
            <a:ext cx="1554480" cy="1097280"/>
          </a:xfrm>
          <a:prstGeom prst="rect">
            <a:avLst/>
          </a:prstGeom>
          <a:noFill/>
          <a:ln/>
        </p:spPr>
        <p:txBody>
          <a:bodyPr wrap="square" lIns="0" tIns="0" rIns="0" bIns="0" rtlCol="0" anchor="ctr"/>
          <a:lstStyle/>
          <a:p>
            <a:pPr algn="ctr" indent="0" marL="0">
              <a:buNone/>
            </a:pPr>
            <a:r>
              <a:rPr lang="en-US" sz="5000" b="1" dirty="0">
                <a:solidFill>
                  <a:srgbClr val="2BCFCF"/>
                </a:solidFill>
                <a:latin typeface="Calibri" pitchFamily="34" charset="0"/>
                <a:ea typeface="Calibri" pitchFamily="34" charset="-122"/>
                <a:cs typeface="Calibri" pitchFamily="34" charset="-120"/>
              </a:rPr>
              <a:t>5%</a:t>
            </a:r>
            <a:endParaRPr lang="en-US" sz="5000" dirty="0"/>
          </a:p>
        </p:txBody>
      </p:sp>
      <p:sp>
        <p:nvSpPr>
          <p:cNvPr id="14" name="Text 12"/>
          <p:cNvSpPr/>
          <p:nvPr/>
        </p:nvSpPr>
        <p:spPr>
          <a:xfrm>
            <a:off x="8641080" y="4846320"/>
            <a:ext cx="2834640" cy="777240"/>
          </a:xfrm>
          <a:prstGeom prst="rect">
            <a:avLst/>
          </a:prstGeom>
          <a:noFill/>
          <a:ln/>
        </p:spPr>
        <p:txBody>
          <a:bodyPr wrap="square" lIns="0" tIns="0" rIns="0" bIns="0" rtlCol="0" anchor="t"/>
          <a:lstStyle/>
          <a:p>
            <a:pPr algn="l" indent="0" marL="0">
              <a:buNone/>
            </a:pPr>
            <a:r>
              <a:rPr lang="en-US" sz="1300" dirty="0">
                <a:solidFill>
                  <a:srgbClr val="F1F0EE"/>
                </a:solidFill>
                <a:latin typeface="Calibri" pitchFamily="34" charset="0"/>
                <a:ea typeface="Calibri" pitchFamily="34" charset="-122"/>
                <a:cs typeface="Calibri" pitchFamily="34" charset="-120"/>
              </a:rPr>
              <a:t>achieve rapid revenue acceleration</a:t>
            </a:r>
            <a:endParaRPr lang="en-US" sz="1300" dirty="0"/>
          </a:p>
        </p:txBody>
      </p:sp>
      <p:sp>
        <p:nvSpPr>
          <p:cNvPr id="15" name="Text 13"/>
          <p:cNvSpPr/>
          <p:nvPr/>
        </p:nvSpPr>
        <p:spPr>
          <a:xfrm>
            <a:off x="8641080" y="5623560"/>
            <a:ext cx="2834640" cy="274320"/>
          </a:xfrm>
          <a:prstGeom prst="rect">
            <a:avLst/>
          </a:prstGeom>
          <a:noFill/>
          <a:ln/>
        </p:spPr>
        <p:txBody>
          <a:bodyPr wrap="square" lIns="0" tIns="0" rIns="0" bIns="0" rtlCol="0" anchor="ctr"/>
          <a:lstStyle/>
          <a:p>
            <a:pPr algn="l" indent="0" marL="0">
              <a:buNone/>
            </a:pPr>
            <a:r>
              <a:rPr lang="en-US" sz="900" i="1" dirty="0">
                <a:solidFill>
                  <a:srgbClr val="A8B5C2"/>
                </a:solidFill>
                <a:latin typeface="Calibri" pitchFamily="34" charset="0"/>
                <a:ea typeface="Calibri" pitchFamily="34" charset="-122"/>
                <a:cs typeface="Calibri" pitchFamily="34" charset="-120"/>
              </a:rPr>
              <a:t>MIT</a:t>
            </a:r>
            <a:endParaRPr lang="en-US" sz="900" dirty="0"/>
          </a:p>
        </p:txBody>
      </p:sp>
      <p:sp>
        <p:nvSpPr>
          <p:cNvPr id="16" name="Text 14"/>
          <p:cNvSpPr/>
          <p:nvPr/>
        </p:nvSpPr>
        <p:spPr>
          <a:xfrm>
            <a:off x="457200" y="6446520"/>
            <a:ext cx="1097280" cy="274320"/>
          </a:xfrm>
          <a:prstGeom prst="rect">
            <a:avLst/>
          </a:prstGeom>
          <a:noFill/>
          <a:ln/>
        </p:spPr>
        <p:txBody>
          <a:bodyPr wrap="square" lIns="0" tIns="0" rIns="0" bIns="0" rtlCol="0" anchor="ctr"/>
          <a:lstStyle/>
          <a:p>
            <a:pPr indent="0" marL="0">
              <a:buNone/>
            </a:pPr>
            <a:r>
              <a:rPr lang="en-US" sz="1100" b="1" dirty="0">
                <a:solidFill>
                  <a:srgbClr val="F1F0EE"/>
                </a:solidFill>
                <a:latin typeface="Calibri" pitchFamily="34" charset="0"/>
                <a:ea typeface="Calibri" pitchFamily="34" charset="-122"/>
                <a:cs typeface="Calibri" pitchFamily="34" charset="-120"/>
              </a:rPr>
              <a:t>WeDo</a:t>
            </a:r>
            <a:pPr indent="0" marL="0">
              <a:buNone/>
            </a:pPr>
            <a:r>
              <a:rPr lang="en-US" sz="1100" b="1" dirty="0">
                <a:solidFill>
                  <a:srgbClr val="2BCFCF"/>
                </a:solidFill>
                <a:latin typeface="Calibri" pitchFamily="34" charset="0"/>
                <a:ea typeface="Calibri" pitchFamily="34" charset="-122"/>
                <a:cs typeface="Calibri" pitchFamily="34" charset="-120"/>
              </a:rPr>
              <a:t>AI</a:t>
            </a:r>
            <a:endParaRPr lang="en-US" sz="1100" dirty="0"/>
          </a:p>
        </p:txBody>
      </p:sp>
      <p:sp>
        <p:nvSpPr>
          <p:cNvPr id="17" name="Text 15"/>
          <p:cNvSpPr/>
          <p:nvPr/>
        </p:nvSpPr>
        <p:spPr>
          <a:xfrm>
            <a:off x="11064240" y="6446520"/>
            <a:ext cx="640080" cy="274320"/>
          </a:xfrm>
          <a:prstGeom prst="rect">
            <a:avLst/>
          </a:prstGeom>
          <a:noFill/>
          <a:ln/>
        </p:spPr>
        <p:txBody>
          <a:bodyPr wrap="square" lIns="0" tIns="0" rIns="0" bIns="0" rtlCol="0" anchor="ctr"/>
          <a:lstStyle/>
          <a:p>
            <a:pPr algn="r" indent="0" marL="0">
              <a:buNone/>
            </a:pPr>
            <a:r>
              <a:rPr lang="en-US" sz="1000" dirty="0">
                <a:solidFill>
                  <a:srgbClr val="A8B5C2"/>
                </a:solidFill>
                <a:latin typeface="Calibri" pitchFamily="34" charset="0"/>
                <a:ea typeface="Calibri" pitchFamily="34" charset="-122"/>
                <a:cs typeface="Calibri" pitchFamily="34" charset="-120"/>
              </a:rPr>
              <a:t>3 / 21</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A45"/>
        </a:solidFill>
      </p:bgPr>
    </p:bg>
    <p:spTree>
      <p:nvGrpSpPr>
        <p:cNvPr id="1" name=""/>
        <p:cNvGrpSpPr/>
        <p:nvPr/>
      </p:nvGrpSpPr>
      <p:grpSpPr>
        <a:xfrm>
          <a:off x="0" y="0"/>
          <a:ext cx="0" cy="0"/>
          <a:chOff x="0" y="0"/>
          <a:chExt cx="0" cy="0"/>
        </a:xfrm>
      </p:grpSpPr>
      <p:sp>
        <p:nvSpPr>
          <p:cNvPr id="2" name="Text 0"/>
          <p:cNvSpPr/>
          <p:nvPr/>
        </p:nvSpPr>
        <p:spPr>
          <a:xfrm>
            <a:off x="640080" y="1280160"/>
            <a:ext cx="2743200" cy="914400"/>
          </a:xfrm>
          <a:prstGeom prst="rect">
            <a:avLst/>
          </a:prstGeom>
          <a:noFill/>
          <a:ln/>
        </p:spPr>
        <p:txBody>
          <a:bodyPr wrap="square" lIns="0" tIns="0" rIns="0" bIns="0" rtlCol="0" anchor="ctr"/>
          <a:lstStyle/>
          <a:p>
            <a:pPr algn="l" indent="0" marL="0">
              <a:buNone/>
            </a:pPr>
            <a:r>
              <a:rPr lang="en-US" sz="2800" b="1" spc="200" kern="0" dirty="0">
                <a:solidFill>
                  <a:srgbClr val="A8B5C2"/>
                </a:solidFill>
                <a:latin typeface="Calibri" pitchFamily="34" charset="0"/>
                <a:ea typeface="Calibri" pitchFamily="34" charset="-122"/>
                <a:cs typeface="Calibri" pitchFamily="34" charset="-120"/>
              </a:rPr>
              <a:t>02</a:t>
            </a:r>
            <a:endParaRPr lang="en-US" sz="2800" dirty="0"/>
          </a:p>
        </p:txBody>
      </p:sp>
      <p:sp>
        <p:nvSpPr>
          <p:cNvPr id="3" name="Text 1"/>
          <p:cNvSpPr/>
          <p:nvPr/>
        </p:nvSpPr>
        <p:spPr>
          <a:xfrm>
            <a:off x="640080" y="2286000"/>
            <a:ext cx="10881360" cy="1645920"/>
          </a:xfrm>
          <a:prstGeom prst="rect">
            <a:avLst/>
          </a:prstGeom>
          <a:noFill/>
          <a:ln/>
        </p:spPr>
        <p:txBody>
          <a:bodyPr wrap="square" lIns="0" tIns="0" rIns="0" bIns="0" rtlCol="0" anchor="ctr"/>
          <a:lstStyle/>
          <a:p>
            <a:pPr algn="l" indent="0" marL="0">
              <a:buNone/>
            </a:pPr>
            <a:r>
              <a:rPr lang="en-US" sz="6400" b="1" dirty="0">
                <a:solidFill>
                  <a:srgbClr val="F1F0EE"/>
                </a:solidFill>
                <a:latin typeface="Calibri" pitchFamily="34" charset="0"/>
                <a:ea typeface="Calibri" pitchFamily="34" charset="-122"/>
                <a:cs typeface="Calibri" pitchFamily="34" charset="-120"/>
              </a:rPr>
              <a:t>Capability is not </a:t>
            </a:r>
            <a:pPr algn="l" indent="0" marL="0">
              <a:buNone/>
            </a:pPr>
            <a:r>
              <a:rPr lang="en-US" sz="6400" b="1" dirty="0">
                <a:solidFill>
                  <a:srgbClr val="2BCFCF"/>
                </a:solidFill>
                <a:latin typeface="Calibri" pitchFamily="34" charset="0"/>
                <a:ea typeface="Calibri" pitchFamily="34" charset="-122"/>
                <a:cs typeface="Calibri" pitchFamily="34" charset="-120"/>
              </a:rPr>
              <a:t>deployability</a:t>
            </a:r>
            <a:pPr algn="l" indent="0" marL="0">
              <a:buNone/>
            </a:pPr>
            <a:r>
              <a:rPr lang="en-US" sz="6400" b="1" dirty="0">
                <a:solidFill>
                  <a:srgbClr val="F1F0EE"/>
                </a:solidFill>
                <a:latin typeface="Calibri" pitchFamily="34" charset="0"/>
                <a:ea typeface="Calibri" pitchFamily="34" charset="-122"/>
                <a:cs typeface="Calibri" pitchFamily="34" charset="-120"/>
              </a:rPr>
              <a:t>.</a:t>
            </a:r>
            <a:endParaRPr lang="en-US" sz="6400" dirty="0"/>
          </a:p>
        </p:txBody>
      </p:sp>
      <p:sp>
        <p:nvSpPr>
          <p:cNvPr id="4" name="Text 2"/>
          <p:cNvSpPr/>
          <p:nvPr/>
        </p:nvSpPr>
        <p:spPr>
          <a:xfrm>
            <a:off x="640080" y="4206240"/>
            <a:ext cx="9418320" cy="1280160"/>
          </a:xfrm>
          <a:prstGeom prst="rect">
            <a:avLst/>
          </a:prstGeom>
          <a:noFill/>
          <a:ln/>
        </p:spPr>
        <p:txBody>
          <a:bodyPr wrap="square" lIns="0" tIns="0" rIns="0" bIns="0" rtlCol="0" anchor="t"/>
          <a:lstStyle/>
          <a:p>
            <a:pPr algn="l" indent="0" marL="0">
              <a:buNone/>
            </a:pPr>
            <a:r>
              <a:rPr lang="en-US" sz="2200" i="1" dirty="0">
                <a:solidFill>
                  <a:srgbClr val="A8B5C2"/>
                </a:solidFill>
                <a:latin typeface="Calibri" pitchFamily="34" charset="0"/>
                <a:ea typeface="Calibri" pitchFamily="34" charset="-122"/>
                <a:cs typeface="Calibri" pitchFamily="34" charset="-120"/>
              </a:rPr>
              <a:t>A demo shows what AI can do on a clean input. Production is what AI does on your inputs, at your scale, on Tuesday.</a:t>
            </a:r>
            <a:endParaRPr lang="en-US" sz="2200" dirty="0"/>
          </a:p>
        </p:txBody>
      </p:sp>
      <p:sp>
        <p:nvSpPr>
          <p:cNvPr id="5" name="Text 3"/>
          <p:cNvSpPr/>
          <p:nvPr/>
        </p:nvSpPr>
        <p:spPr>
          <a:xfrm>
            <a:off x="10698480" y="6035040"/>
            <a:ext cx="1828800" cy="548640"/>
          </a:xfrm>
          <a:prstGeom prst="rect">
            <a:avLst/>
          </a:prstGeom>
          <a:noFill/>
          <a:ln/>
        </p:spPr>
        <p:txBody>
          <a:bodyPr wrap="square" lIns="0" tIns="0" rIns="0" bIns="0" rtlCol="0" anchor="ctr"/>
          <a:lstStyle/>
          <a:p>
            <a:pPr algn="l" indent="0" marL="0">
              <a:buNone/>
            </a:pPr>
            <a:r>
              <a:rPr lang="en-US" sz="1600" b="1" dirty="0">
                <a:solidFill>
                  <a:srgbClr val="F1F0EE"/>
                </a:solidFill>
                <a:latin typeface="Calibri" pitchFamily="34" charset="0"/>
                <a:ea typeface="Calibri" pitchFamily="34" charset="-122"/>
                <a:cs typeface="Calibri" pitchFamily="34" charset="-120"/>
              </a:rPr>
              <a:t>WeDo</a:t>
            </a:r>
            <a:pPr algn="l" indent="0" marL="0">
              <a:buNone/>
            </a:pPr>
            <a:r>
              <a:rPr lang="en-US" sz="1600" b="1" dirty="0">
                <a:solidFill>
                  <a:srgbClr val="2BCFCF"/>
                </a:solidFill>
                <a:latin typeface="Calibri" pitchFamily="34" charset="0"/>
                <a:ea typeface="Calibri" pitchFamily="34" charset="-122"/>
                <a:cs typeface="Calibri" pitchFamily="34" charset="-120"/>
              </a:rPr>
              <a:t>AI</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2A45"/>
        </a:solidFill>
      </p:bgPr>
    </p:bg>
    <p:spTree>
      <p:nvGrpSpPr>
        <p:cNvPr id="1" name=""/>
        <p:cNvGrpSpPr/>
        <p:nvPr/>
      </p:nvGrpSpPr>
      <p:grpSpPr>
        <a:xfrm>
          <a:off x="0" y="0"/>
          <a:ext cx="0" cy="0"/>
          <a:chOff x="0" y="0"/>
          <a:chExt cx="0" cy="0"/>
        </a:xfrm>
      </p:grpSpPr>
      <p:sp>
        <p:nvSpPr>
          <p:cNvPr id="2" name="Text 0"/>
          <p:cNvSpPr/>
          <p:nvPr/>
        </p:nvSpPr>
        <p:spPr>
          <a:xfrm>
            <a:off x="640080" y="457200"/>
            <a:ext cx="10881360" cy="822960"/>
          </a:xfrm>
          <a:prstGeom prst="rect">
            <a:avLst/>
          </a:prstGeom>
          <a:noFill/>
          <a:ln/>
        </p:spPr>
        <p:txBody>
          <a:bodyPr wrap="square" lIns="0" tIns="0" rIns="0" bIns="0" rtlCol="0" anchor="ctr"/>
          <a:lstStyle/>
          <a:p>
            <a:pPr algn="l" indent="0" marL="0">
              <a:buNone/>
            </a:pPr>
            <a:r>
              <a:rPr lang="en-US" sz="3200" b="1" dirty="0">
                <a:solidFill>
                  <a:srgbClr val="F1F0EE"/>
                </a:solidFill>
                <a:latin typeface="Calibri" pitchFamily="34" charset="0"/>
                <a:ea typeface="Calibri" pitchFamily="34" charset="-122"/>
                <a:cs typeface="Calibri" pitchFamily="34" charset="-120"/>
              </a:rPr>
              <a:t>The capability deployability gap.</a:t>
            </a:r>
            <a:endParaRPr lang="en-US" sz="3200" dirty="0"/>
          </a:p>
        </p:txBody>
      </p:sp>
      <p:sp>
        <p:nvSpPr>
          <p:cNvPr id="3" name="Shape 1"/>
          <p:cNvSpPr/>
          <p:nvPr/>
        </p:nvSpPr>
        <p:spPr>
          <a:xfrm>
            <a:off x="640080" y="1463040"/>
            <a:ext cx="5303520" cy="4389120"/>
          </a:xfrm>
          <a:prstGeom prst="rect">
            <a:avLst/>
          </a:prstGeom>
          <a:solidFill>
            <a:srgbClr val="07344F"/>
          </a:solidFill>
          <a:ln w="12700">
            <a:solidFill>
              <a:srgbClr val="07344F"/>
            </a:solidFill>
            <a:prstDash val="solid"/>
          </a:ln>
        </p:spPr>
      </p:sp>
      <p:sp>
        <p:nvSpPr>
          <p:cNvPr id="4" name="Text 2"/>
          <p:cNvSpPr/>
          <p:nvPr/>
        </p:nvSpPr>
        <p:spPr>
          <a:xfrm>
            <a:off x="1005840" y="1737360"/>
            <a:ext cx="4572000" cy="457200"/>
          </a:xfrm>
          <a:prstGeom prst="rect">
            <a:avLst/>
          </a:prstGeom>
          <a:noFill/>
          <a:ln/>
        </p:spPr>
        <p:txBody>
          <a:bodyPr wrap="square" lIns="0" tIns="0" rIns="0" bIns="0" rtlCol="0" anchor="ctr"/>
          <a:lstStyle/>
          <a:p>
            <a:pPr indent="0" marL="0">
              <a:buNone/>
            </a:pPr>
            <a:r>
              <a:rPr lang="en-US" sz="1800" b="1" spc="400" kern="0" dirty="0">
                <a:solidFill>
                  <a:srgbClr val="F1F0EE"/>
                </a:solidFill>
                <a:latin typeface="Calibri" pitchFamily="34" charset="0"/>
                <a:ea typeface="Calibri" pitchFamily="34" charset="-122"/>
                <a:cs typeface="Calibri" pitchFamily="34" charset="-120"/>
              </a:rPr>
              <a:t>THE DEMO</a:t>
            </a:r>
            <a:endParaRPr lang="en-US" sz="1800" dirty="0"/>
          </a:p>
        </p:txBody>
      </p:sp>
      <p:sp>
        <p:nvSpPr>
          <p:cNvPr id="5" name="Text 3"/>
          <p:cNvSpPr/>
          <p:nvPr/>
        </p:nvSpPr>
        <p:spPr>
          <a:xfrm>
            <a:off x="1005840" y="2377440"/>
            <a:ext cx="4572000" cy="32004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F1F0EE"/>
                </a:solidFill>
                <a:latin typeface="Calibri" pitchFamily="34" charset="0"/>
                <a:ea typeface="Calibri" pitchFamily="34" charset="-122"/>
                <a:cs typeface="Calibri" pitchFamily="34" charset="-120"/>
              </a:rPr>
              <a:t>Clean two-page sample</a:t>
            </a:r>
            <a:endParaRPr lang="en-US" sz="1800" dirty="0"/>
          </a:p>
          <a:p>
            <a:pPr marL="342900" indent="-342900">
              <a:spcAft>
                <a:spcPts val="800"/>
              </a:spcAft>
              <a:buSzPct val="100000"/>
              <a:buChar char="•"/>
            </a:pPr>
            <a:r>
              <a:rPr lang="en-US" sz="1800" dirty="0">
                <a:solidFill>
                  <a:srgbClr val="F1F0EE"/>
                </a:solidFill>
                <a:latin typeface="Calibri" pitchFamily="34" charset="0"/>
                <a:ea typeface="Calibri" pitchFamily="34" charset="-122"/>
                <a:cs typeface="Calibri" pitchFamily="34" charset="-120"/>
              </a:rPr>
              <a:t>Curated test data</a:t>
            </a:r>
            <a:endParaRPr lang="en-US" sz="1800" dirty="0"/>
          </a:p>
          <a:p>
            <a:pPr marL="342900" indent="-342900">
              <a:spcAft>
                <a:spcPts val="800"/>
              </a:spcAft>
              <a:buSzPct val="100000"/>
              <a:buChar char="•"/>
            </a:pPr>
            <a:r>
              <a:rPr lang="en-US" sz="1800" dirty="0">
                <a:solidFill>
                  <a:srgbClr val="F1F0EE"/>
                </a:solidFill>
                <a:latin typeface="Calibri" pitchFamily="34" charset="0"/>
                <a:ea typeface="Calibri" pitchFamily="34" charset="-122"/>
                <a:cs typeface="Calibri" pitchFamily="34" charset="-120"/>
              </a:rPr>
              <a:t>No edge cases</a:t>
            </a:r>
            <a:endParaRPr lang="en-US" sz="1800" dirty="0"/>
          </a:p>
          <a:p>
            <a:pPr marL="342900" indent="-342900">
              <a:spcAft>
                <a:spcPts val="800"/>
              </a:spcAft>
              <a:buSzPct val="100000"/>
              <a:buChar char="•"/>
            </a:pPr>
            <a:r>
              <a:rPr lang="en-US" sz="1800" dirty="0">
                <a:solidFill>
                  <a:srgbClr val="F1F0EE"/>
                </a:solidFill>
                <a:latin typeface="Calibri" pitchFamily="34" charset="0"/>
                <a:ea typeface="Calibri" pitchFamily="34" charset="-122"/>
                <a:cs typeface="Calibri" pitchFamily="34" charset="-120"/>
              </a:rPr>
              <a:t>No regulatory tail</a:t>
            </a:r>
            <a:endParaRPr lang="en-US" sz="1800" dirty="0"/>
          </a:p>
          <a:p>
            <a:pPr marL="342900" indent="-342900">
              <a:buSzPct val="100000"/>
              <a:buChar char="•"/>
            </a:pPr>
            <a:r>
              <a:rPr lang="en-US" sz="1800" dirty="0">
                <a:solidFill>
                  <a:srgbClr val="F1F0EE"/>
                </a:solidFill>
                <a:latin typeface="Calibri" pitchFamily="34" charset="0"/>
                <a:ea typeface="Calibri" pitchFamily="34" charset="-122"/>
                <a:cs typeface="Calibri" pitchFamily="34" charset="-120"/>
              </a:rPr>
              <a:t>Looks magical</a:t>
            </a:r>
            <a:endParaRPr lang="en-US" sz="1800" dirty="0"/>
          </a:p>
        </p:txBody>
      </p:sp>
      <p:sp>
        <p:nvSpPr>
          <p:cNvPr id="6" name="Shape 4"/>
          <p:cNvSpPr/>
          <p:nvPr/>
        </p:nvSpPr>
        <p:spPr>
          <a:xfrm>
            <a:off x="6309360" y="1463040"/>
            <a:ext cx="5303520" cy="4389120"/>
          </a:xfrm>
          <a:prstGeom prst="rect">
            <a:avLst/>
          </a:prstGeom>
          <a:solidFill>
            <a:srgbClr val="07344F"/>
          </a:solidFill>
          <a:ln w="12700">
            <a:solidFill>
              <a:srgbClr val="07344F"/>
            </a:solidFill>
            <a:prstDash val="solid"/>
          </a:ln>
        </p:spPr>
      </p:sp>
      <p:sp>
        <p:nvSpPr>
          <p:cNvPr id="7" name="Text 5"/>
          <p:cNvSpPr/>
          <p:nvPr/>
        </p:nvSpPr>
        <p:spPr>
          <a:xfrm>
            <a:off x="6675120" y="1737360"/>
            <a:ext cx="4572000" cy="457200"/>
          </a:xfrm>
          <a:prstGeom prst="rect">
            <a:avLst/>
          </a:prstGeom>
          <a:noFill/>
          <a:ln/>
        </p:spPr>
        <p:txBody>
          <a:bodyPr wrap="square" lIns="0" tIns="0" rIns="0" bIns="0" rtlCol="0" anchor="ctr"/>
          <a:lstStyle/>
          <a:p>
            <a:pPr indent="0" marL="0">
              <a:buNone/>
            </a:pPr>
            <a:r>
              <a:rPr lang="en-US" sz="1800" b="1" spc="400" kern="0" dirty="0">
                <a:solidFill>
                  <a:srgbClr val="2BCFCF"/>
                </a:solidFill>
                <a:latin typeface="Calibri" pitchFamily="34" charset="0"/>
                <a:ea typeface="Calibri" pitchFamily="34" charset="-122"/>
                <a:cs typeface="Calibri" pitchFamily="34" charset="-120"/>
              </a:rPr>
              <a:t>IN PRODUCTION</a:t>
            </a:r>
            <a:endParaRPr lang="en-US" sz="1800" dirty="0"/>
          </a:p>
        </p:txBody>
      </p:sp>
      <p:sp>
        <p:nvSpPr>
          <p:cNvPr id="8" name="Text 6"/>
          <p:cNvSpPr/>
          <p:nvPr/>
        </p:nvSpPr>
        <p:spPr>
          <a:xfrm>
            <a:off x="6675120" y="2377440"/>
            <a:ext cx="4572000" cy="32004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F1F0EE"/>
                </a:solidFill>
                <a:latin typeface="Calibri" pitchFamily="34" charset="0"/>
                <a:ea typeface="Calibri" pitchFamily="34" charset="-122"/>
                <a:cs typeface="Calibri" pitchFamily="34" charset="-120"/>
              </a:rPr>
              <a:t>200-page contract with footnotes</a:t>
            </a:r>
            <a:endParaRPr lang="en-US" sz="1800" dirty="0"/>
          </a:p>
          <a:p>
            <a:pPr marL="342900" indent="-342900">
              <a:spcAft>
                <a:spcPts val="800"/>
              </a:spcAft>
              <a:buSzPct val="100000"/>
              <a:buChar char="•"/>
            </a:pPr>
            <a:r>
              <a:rPr lang="en-US" sz="1800" dirty="0">
                <a:solidFill>
                  <a:srgbClr val="F1F0EE"/>
                </a:solidFill>
                <a:latin typeface="Calibri" pitchFamily="34" charset="0"/>
                <a:ea typeface="Calibri" pitchFamily="34" charset="-122"/>
                <a:cs typeface="Calibri" pitchFamily="34" charset="-120"/>
              </a:rPr>
              <a:t>Real customer data, messy and joined</a:t>
            </a:r>
            <a:endParaRPr lang="en-US" sz="1800" dirty="0"/>
          </a:p>
          <a:p>
            <a:pPr marL="342900" indent="-342900">
              <a:spcAft>
                <a:spcPts val="800"/>
              </a:spcAft>
              <a:buSzPct val="100000"/>
              <a:buChar char="•"/>
            </a:pPr>
            <a:r>
              <a:rPr lang="en-US" sz="1800" dirty="0">
                <a:solidFill>
                  <a:srgbClr val="F1F0EE"/>
                </a:solidFill>
                <a:latin typeface="Calibri" pitchFamily="34" charset="0"/>
                <a:ea typeface="Calibri" pitchFamily="34" charset="-122"/>
                <a:cs typeface="Calibri" pitchFamily="34" charset="-120"/>
              </a:rPr>
              <a:t>Edge cases drive 30% of the value</a:t>
            </a:r>
            <a:endParaRPr lang="en-US" sz="1800" dirty="0"/>
          </a:p>
          <a:p>
            <a:pPr marL="342900" indent="-342900">
              <a:spcAft>
                <a:spcPts val="800"/>
              </a:spcAft>
              <a:buSzPct val="100000"/>
              <a:buChar char="•"/>
            </a:pPr>
            <a:r>
              <a:rPr lang="en-US" sz="1800" dirty="0">
                <a:solidFill>
                  <a:srgbClr val="F1F0EE"/>
                </a:solidFill>
                <a:latin typeface="Calibri" pitchFamily="34" charset="0"/>
                <a:ea typeface="Calibri" pitchFamily="34" charset="-122"/>
                <a:cs typeface="Calibri" pitchFamily="34" charset="-120"/>
              </a:rPr>
              <a:t>Regulator may be reading it</a:t>
            </a:r>
            <a:endParaRPr lang="en-US" sz="1800" dirty="0"/>
          </a:p>
          <a:p>
            <a:pPr marL="342900" indent="-342900">
              <a:buSzPct val="100000"/>
              <a:buChar char="•"/>
            </a:pPr>
            <a:r>
              <a:rPr lang="en-US" sz="1800" dirty="0">
                <a:solidFill>
                  <a:srgbClr val="F1F0EE"/>
                </a:solidFill>
                <a:latin typeface="Calibri" pitchFamily="34" charset="0"/>
                <a:ea typeface="Calibri" pitchFamily="34" charset="-122"/>
                <a:cs typeface="Calibri" pitchFamily="34" charset="-120"/>
              </a:rPr>
              <a:t>10x to 100x harder than the demo</a:t>
            </a:r>
            <a:endParaRPr lang="en-US" sz="1800" dirty="0"/>
          </a:p>
        </p:txBody>
      </p:sp>
      <p:sp>
        <p:nvSpPr>
          <p:cNvPr id="9" name="Text 7"/>
          <p:cNvSpPr/>
          <p:nvPr/>
        </p:nvSpPr>
        <p:spPr>
          <a:xfrm>
            <a:off x="640080" y="6035040"/>
            <a:ext cx="10881360" cy="365760"/>
          </a:xfrm>
          <a:prstGeom prst="rect">
            <a:avLst/>
          </a:prstGeom>
          <a:noFill/>
          <a:ln/>
        </p:spPr>
        <p:txBody>
          <a:bodyPr wrap="square" lIns="0" tIns="0" rIns="0" bIns="0" rtlCol="0" anchor="ctr"/>
          <a:lstStyle/>
          <a:p>
            <a:pPr algn="ctr" indent="0" marL="0">
              <a:buNone/>
            </a:pPr>
            <a:r>
              <a:rPr lang="en-US" sz="1800" i="1" dirty="0">
                <a:solidFill>
                  <a:srgbClr val="2BCFCF"/>
                </a:solidFill>
                <a:latin typeface="Calibri" pitchFamily="34" charset="0"/>
                <a:ea typeface="Calibri" pitchFamily="34" charset="-122"/>
                <a:cs typeface="Calibri" pitchFamily="34" charset="-120"/>
              </a:rPr>
              <a:t>Money disappears in the gap. So do executive careers.</a:t>
            </a:r>
            <a:endParaRPr lang="en-US" sz="1800" dirty="0"/>
          </a:p>
        </p:txBody>
      </p:sp>
      <p:sp>
        <p:nvSpPr>
          <p:cNvPr id="10" name="Text 8"/>
          <p:cNvSpPr/>
          <p:nvPr/>
        </p:nvSpPr>
        <p:spPr>
          <a:xfrm>
            <a:off x="457200" y="6446520"/>
            <a:ext cx="1097280" cy="274320"/>
          </a:xfrm>
          <a:prstGeom prst="rect">
            <a:avLst/>
          </a:prstGeom>
          <a:noFill/>
          <a:ln/>
        </p:spPr>
        <p:txBody>
          <a:bodyPr wrap="square" lIns="0" tIns="0" rIns="0" bIns="0" rtlCol="0" anchor="ctr"/>
          <a:lstStyle/>
          <a:p>
            <a:pPr indent="0" marL="0">
              <a:buNone/>
            </a:pPr>
            <a:r>
              <a:rPr lang="en-US" sz="1100" b="1" dirty="0">
                <a:solidFill>
                  <a:srgbClr val="F1F0EE"/>
                </a:solidFill>
                <a:latin typeface="Calibri" pitchFamily="34" charset="0"/>
                <a:ea typeface="Calibri" pitchFamily="34" charset="-122"/>
                <a:cs typeface="Calibri" pitchFamily="34" charset="-120"/>
              </a:rPr>
              <a:t>WeDo</a:t>
            </a:r>
            <a:pPr indent="0" marL="0">
              <a:buNone/>
            </a:pPr>
            <a:r>
              <a:rPr lang="en-US" sz="1100" b="1" dirty="0">
                <a:solidFill>
                  <a:srgbClr val="2BCFCF"/>
                </a:solidFill>
                <a:latin typeface="Calibri" pitchFamily="34" charset="0"/>
                <a:ea typeface="Calibri" pitchFamily="34" charset="-122"/>
                <a:cs typeface="Calibri" pitchFamily="34" charset="-120"/>
              </a:rPr>
              <a:t>AI</a:t>
            </a:r>
            <a:endParaRPr lang="en-US" sz="1100" dirty="0"/>
          </a:p>
        </p:txBody>
      </p:sp>
      <p:sp>
        <p:nvSpPr>
          <p:cNvPr id="11" name="Text 9"/>
          <p:cNvSpPr/>
          <p:nvPr/>
        </p:nvSpPr>
        <p:spPr>
          <a:xfrm>
            <a:off x="11064240" y="6446520"/>
            <a:ext cx="640080" cy="274320"/>
          </a:xfrm>
          <a:prstGeom prst="rect">
            <a:avLst/>
          </a:prstGeom>
          <a:noFill/>
          <a:ln/>
        </p:spPr>
        <p:txBody>
          <a:bodyPr wrap="square" lIns="0" tIns="0" rIns="0" bIns="0" rtlCol="0" anchor="ctr"/>
          <a:lstStyle/>
          <a:p>
            <a:pPr algn="r" indent="0" marL="0">
              <a:buNone/>
            </a:pPr>
            <a:r>
              <a:rPr lang="en-US" sz="1000" dirty="0">
                <a:solidFill>
                  <a:srgbClr val="A8B5C2"/>
                </a:solidFill>
                <a:latin typeface="Calibri" pitchFamily="34" charset="0"/>
                <a:ea typeface="Calibri" pitchFamily="34" charset="-122"/>
                <a:cs typeface="Calibri" pitchFamily="34" charset="-120"/>
              </a:rPr>
              <a:t>5 / 21</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2A45"/>
        </a:solidFill>
      </p:bgPr>
    </p:bg>
    <p:spTree>
      <p:nvGrpSpPr>
        <p:cNvPr id="1" name=""/>
        <p:cNvGrpSpPr/>
        <p:nvPr/>
      </p:nvGrpSpPr>
      <p:grpSpPr>
        <a:xfrm>
          <a:off x="0" y="0"/>
          <a:ext cx="0" cy="0"/>
          <a:chOff x="0" y="0"/>
          <a:chExt cx="0" cy="0"/>
        </a:xfrm>
      </p:grpSpPr>
      <p:sp>
        <p:nvSpPr>
          <p:cNvPr id="2" name="Text 0"/>
          <p:cNvSpPr/>
          <p:nvPr/>
        </p:nvSpPr>
        <p:spPr>
          <a:xfrm>
            <a:off x="640080" y="457200"/>
            <a:ext cx="10881360" cy="822960"/>
          </a:xfrm>
          <a:prstGeom prst="rect">
            <a:avLst/>
          </a:prstGeom>
          <a:noFill/>
          <a:ln/>
        </p:spPr>
        <p:txBody>
          <a:bodyPr wrap="square" lIns="0" tIns="0" rIns="0" bIns="0" rtlCol="0" anchor="ctr"/>
          <a:lstStyle/>
          <a:p>
            <a:pPr algn="l" indent="0" marL="0">
              <a:buNone/>
            </a:pPr>
            <a:r>
              <a:rPr lang="en-US" sz="3200" b="1" dirty="0">
                <a:solidFill>
                  <a:srgbClr val="F1F0EE"/>
                </a:solidFill>
                <a:latin typeface="Calibri" pitchFamily="34" charset="0"/>
                <a:ea typeface="Calibri" pitchFamily="34" charset="-122"/>
                <a:cs typeface="Calibri" pitchFamily="34" charset="-120"/>
              </a:rPr>
              <a:t>Why pilots stall before they reach production.</a:t>
            </a:r>
            <a:endParaRPr lang="en-US" sz="3200" dirty="0"/>
          </a:p>
        </p:txBody>
      </p:sp>
      <p:sp>
        <p:nvSpPr>
          <p:cNvPr id="3" name="Text 1"/>
          <p:cNvSpPr/>
          <p:nvPr/>
        </p:nvSpPr>
        <p:spPr>
          <a:xfrm>
            <a:off x="0" y="1645920"/>
            <a:ext cx="12161520" cy="2194560"/>
          </a:xfrm>
          <a:prstGeom prst="rect">
            <a:avLst/>
          </a:prstGeom>
          <a:noFill/>
          <a:ln/>
        </p:spPr>
        <p:txBody>
          <a:bodyPr wrap="square" lIns="0" tIns="0" rIns="0" bIns="0" rtlCol="0" anchor="ctr"/>
          <a:lstStyle/>
          <a:p>
            <a:pPr algn="ctr" indent="0" marL="0">
              <a:buNone/>
            </a:pPr>
            <a:r>
              <a:rPr lang="en-US" sz="24000" b="1" dirty="0">
                <a:solidFill>
                  <a:srgbClr val="2BCFCF"/>
                </a:solidFill>
                <a:latin typeface="Calibri" pitchFamily="34" charset="0"/>
                <a:ea typeface="Calibri" pitchFamily="34" charset="-122"/>
                <a:cs typeface="Calibri" pitchFamily="34" charset="-120"/>
              </a:rPr>
              <a:t>31%</a:t>
            </a:r>
            <a:endParaRPr lang="en-US" sz="24000" dirty="0"/>
          </a:p>
        </p:txBody>
      </p:sp>
      <p:sp>
        <p:nvSpPr>
          <p:cNvPr id="4" name="Text 2"/>
          <p:cNvSpPr/>
          <p:nvPr/>
        </p:nvSpPr>
        <p:spPr>
          <a:xfrm>
            <a:off x="0" y="4114800"/>
            <a:ext cx="12161520" cy="457200"/>
          </a:xfrm>
          <a:prstGeom prst="rect">
            <a:avLst/>
          </a:prstGeom>
          <a:noFill/>
          <a:ln/>
        </p:spPr>
        <p:txBody>
          <a:bodyPr wrap="square" lIns="0" tIns="0" rIns="0" bIns="0" rtlCol="0" anchor="ctr"/>
          <a:lstStyle/>
          <a:p>
            <a:pPr algn="ctr" indent="0" marL="0">
              <a:buNone/>
            </a:pPr>
            <a:r>
              <a:rPr lang="en-US" sz="2200" b="1" dirty="0">
                <a:solidFill>
                  <a:srgbClr val="F1F0EE"/>
                </a:solidFill>
                <a:latin typeface="Calibri" pitchFamily="34" charset="0"/>
                <a:ea typeface="Calibri" pitchFamily="34" charset="-122"/>
                <a:cs typeface="Calibri" pitchFamily="34" charset="-120"/>
              </a:rPr>
              <a:t>of AI use cases reach full production</a:t>
            </a:r>
            <a:endParaRPr lang="en-US" sz="2200" dirty="0"/>
          </a:p>
        </p:txBody>
      </p:sp>
      <p:sp>
        <p:nvSpPr>
          <p:cNvPr id="5" name="Text 3"/>
          <p:cNvSpPr/>
          <p:nvPr/>
        </p:nvSpPr>
        <p:spPr>
          <a:xfrm>
            <a:off x="1828800" y="4754880"/>
            <a:ext cx="8503920" cy="914400"/>
          </a:xfrm>
          <a:prstGeom prst="rect">
            <a:avLst/>
          </a:prstGeom>
          <a:noFill/>
          <a:ln/>
        </p:spPr>
        <p:txBody>
          <a:bodyPr wrap="square" lIns="0" tIns="0" rIns="0" bIns="0" rtlCol="0" anchor="t"/>
          <a:lstStyle/>
          <a:p>
            <a:pPr algn="ctr" indent="0" marL="0">
              <a:buNone/>
            </a:pPr>
            <a:r>
              <a:rPr lang="en-US" sz="1600" i="1" dirty="0">
                <a:solidFill>
                  <a:srgbClr val="F1F0EE"/>
                </a:solidFill>
                <a:latin typeface="Calibri" pitchFamily="34" charset="0"/>
                <a:ea typeface="Calibri" pitchFamily="34" charset="-122"/>
                <a:cs typeface="Calibri" pitchFamily="34" charset="-120"/>
              </a:rPr>
              <a:t>Demo environments use clean data, predictable inputs, and forgiving users. Production rewards none of that.</a:t>
            </a:r>
            <a:endParaRPr lang="en-US" sz="1600" dirty="0"/>
          </a:p>
        </p:txBody>
      </p:sp>
      <p:sp>
        <p:nvSpPr>
          <p:cNvPr id="6" name="Text 4"/>
          <p:cNvSpPr/>
          <p:nvPr/>
        </p:nvSpPr>
        <p:spPr>
          <a:xfrm>
            <a:off x="0" y="5943600"/>
            <a:ext cx="12161520" cy="274320"/>
          </a:xfrm>
          <a:prstGeom prst="rect">
            <a:avLst/>
          </a:prstGeom>
          <a:noFill/>
          <a:ln/>
        </p:spPr>
        <p:txBody>
          <a:bodyPr wrap="square" lIns="0" tIns="0" rIns="0" bIns="0" rtlCol="0" anchor="ctr"/>
          <a:lstStyle/>
          <a:p>
            <a:pPr algn="ctr" indent="0" marL="0">
              <a:buNone/>
            </a:pPr>
            <a:r>
              <a:rPr lang="en-US" sz="1000" dirty="0">
                <a:solidFill>
                  <a:srgbClr val="A8B5C2"/>
                </a:solidFill>
                <a:latin typeface="Calibri" pitchFamily="34" charset="0"/>
                <a:ea typeface="Calibri" pitchFamily="34" charset="-122"/>
                <a:cs typeface="Calibri" pitchFamily="34" charset="-120"/>
              </a:rPr>
              <a:t>Source: Acrosolve, 2026</a:t>
            </a:r>
            <a:endParaRPr lang="en-US" sz="1000" dirty="0"/>
          </a:p>
        </p:txBody>
      </p:sp>
      <p:sp>
        <p:nvSpPr>
          <p:cNvPr id="7" name="Text 5"/>
          <p:cNvSpPr/>
          <p:nvPr/>
        </p:nvSpPr>
        <p:spPr>
          <a:xfrm>
            <a:off x="457200" y="6446520"/>
            <a:ext cx="1097280" cy="274320"/>
          </a:xfrm>
          <a:prstGeom prst="rect">
            <a:avLst/>
          </a:prstGeom>
          <a:noFill/>
          <a:ln/>
        </p:spPr>
        <p:txBody>
          <a:bodyPr wrap="square" lIns="0" tIns="0" rIns="0" bIns="0" rtlCol="0" anchor="ctr"/>
          <a:lstStyle/>
          <a:p>
            <a:pPr indent="0" marL="0">
              <a:buNone/>
            </a:pPr>
            <a:r>
              <a:rPr lang="en-US" sz="1100" b="1" dirty="0">
                <a:solidFill>
                  <a:srgbClr val="F1F0EE"/>
                </a:solidFill>
                <a:latin typeface="Calibri" pitchFamily="34" charset="0"/>
                <a:ea typeface="Calibri" pitchFamily="34" charset="-122"/>
                <a:cs typeface="Calibri" pitchFamily="34" charset="-120"/>
              </a:rPr>
              <a:t>WeDo</a:t>
            </a:r>
            <a:pPr indent="0" marL="0">
              <a:buNone/>
            </a:pPr>
            <a:r>
              <a:rPr lang="en-US" sz="1100" b="1" dirty="0">
                <a:solidFill>
                  <a:srgbClr val="2BCFCF"/>
                </a:solidFill>
                <a:latin typeface="Calibri" pitchFamily="34" charset="0"/>
                <a:ea typeface="Calibri" pitchFamily="34" charset="-122"/>
                <a:cs typeface="Calibri" pitchFamily="34" charset="-120"/>
              </a:rPr>
              <a:t>AI</a:t>
            </a:r>
            <a:endParaRPr lang="en-US" sz="1100" dirty="0"/>
          </a:p>
        </p:txBody>
      </p:sp>
      <p:sp>
        <p:nvSpPr>
          <p:cNvPr id="8" name="Text 6"/>
          <p:cNvSpPr/>
          <p:nvPr/>
        </p:nvSpPr>
        <p:spPr>
          <a:xfrm>
            <a:off x="11064240" y="6446520"/>
            <a:ext cx="640080" cy="274320"/>
          </a:xfrm>
          <a:prstGeom prst="rect">
            <a:avLst/>
          </a:prstGeom>
          <a:noFill/>
          <a:ln/>
        </p:spPr>
        <p:txBody>
          <a:bodyPr wrap="square" lIns="0" tIns="0" rIns="0" bIns="0" rtlCol="0" anchor="ctr"/>
          <a:lstStyle/>
          <a:p>
            <a:pPr algn="r" indent="0" marL="0">
              <a:buNone/>
            </a:pPr>
            <a:r>
              <a:rPr lang="en-US" sz="1000" dirty="0">
                <a:solidFill>
                  <a:srgbClr val="A8B5C2"/>
                </a:solidFill>
                <a:latin typeface="Calibri" pitchFamily="34" charset="0"/>
                <a:ea typeface="Calibri" pitchFamily="34" charset="-122"/>
                <a:cs typeface="Calibri" pitchFamily="34" charset="-120"/>
              </a:rPr>
              <a:t>6 / 21</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2A45"/>
        </a:solidFill>
      </p:bgPr>
    </p:bg>
    <p:spTree>
      <p:nvGrpSpPr>
        <p:cNvPr id="1" name=""/>
        <p:cNvGrpSpPr/>
        <p:nvPr/>
      </p:nvGrpSpPr>
      <p:grpSpPr>
        <a:xfrm>
          <a:off x="0" y="0"/>
          <a:ext cx="0" cy="0"/>
          <a:chOff x="0" y="0"/>
          <a:chExt cx="0" cy="0"/>
        </a:xfrm>
      </p:grpSpPr>
      <p:sp>
        <p:nvSpPr>
          <p:cNvPr id="2" name="Text 0"/>
          <p:cNvSpPr/>
          <p:nvPr/>
        </p:nvSpPr>
        <p:spPr>
          <a:xfrm>
            <a:off x="640080" y="457200"/>
            <a:ext cx="10881360" cy="822960"/>
          </a:xfrm>
          <a:prstGeom prst="rect">
            <a:avLst/>
          </a:prstGeom>
          <a:noFill/>
          <a:ln/>
        </p:spPr>
        <p:txBody>
          <a:bodyPr wrap="square" lIns="0" tIns="0" rIns="0" bIns="0" rtlCol="0" anchor="ctr"/>
          <a:lstStyle/>
          <a:p>
            <a:pPr algn="l" indent="0" marL="0">
              <a:buNone/>
            </a:pPr>
            <a:r>
              <a:rPr lang="en-US" sz="3200" b="1" dirty="0">
                <a:solidFill>
                  <a:srgbClr val="F1F0EE"/>
                </a:solidFill>
                <a:latin typeface="Calibri" pitchFamily="34" charset="0"/>
                <a:ea typeface="Calibri" pitchFamily="34" charset="-122"/>
                <a:cs typeface="Calibri" pitchFamily="34" charset="-120"/>
              </a:rPr>
              <a:t>What deployable looks like.</a:t>
            </a:r>
            <a:endParaRPr lang="en-US" sz="3200" dirty="0"/>
          </a:p>
        </p:txBody>
      </p:sp>
      <p:sp>
        <p:nvSpPr>
          <p:cNvPr id="3" name="Shape 1"/>
          <p:cNvSpPr/>
          <p:nvPr/>
        </p:nvSpPr>
        <p:spPr>
          <a:xfrm>
            <a:off x="640080" y="1463040"/>
            <a:ext cx="5303520" cy="4206240"/>
          </a:xfrm>
          <a:prstGeom prst="rect">
            <a:avLst/>
          </a:prstGeom>
          <a:solidFill>
            <a:srgbClr val="07344F"/>
          </a:solidFill>
          <a:ln w="12700">
            <a:solidFill>
              <a:srgbClr val="07344F"/>
            </a:solidFill>
            <a:prstDash val="solid"/>
          </a:ln>
        </p:spPr>
      </p:sp>
      <p:sp>
        <p:nvSpPr>
          <p:cNvPr id="4" name="Text 2"/>
          <p:cNvSpPr/>
          <p:nvPr/>
        </p:nvSpPr>
        <p:spPr>
          <a:xfrm>
            <a:off x="1005840" y="1737360"/>
            <a:ext cx="4572000" cy="457200"/>
          </a:xfrm>
          <a:prstGeom prst="rect">
            <a:avLst/>
          </a:prstGeom>
          <a:noFill/>
          <a:ln/>
        </p:spPr>
        <p:txBody>
          <a:bodyPr wrap="square" lIns="0" tIns="0" rIns="0" bIns="0" rtlCol="0" anchor="ctr"/>
          <a:lstStyle/>
          <a:p>
            <a:pPr indent="0" marL="0">
              <a:buNone/>
            </a:pPr>
            <a:r>
              <a:rPr lang="en-US" sz="1600" b="1" spc="400" kern="0" dirty="0">
                <a:solidFill>
                  <a:srgbClr val="A8B5C2"/>
                </a:solidFill>
                <a:latin typeface="Calibri" pitchFamily="34" charset="0"/>
                <a:ea typeface="Calibri" pitchFamily="34" charset="-122"/>
                <a:cs typeface="Calibri" pitchFamily="34" charset="-120"/>
              </a:rPr>
              <a:t>TRADITIONAL CHATBOT</a:t>
            </a:r>
            <a:endParaRPr lang="en-US" sz="1600" dirty="0"/>
          </a:p>
        </p:txBody>
      </p:sp>
      <p:sp>
        <p:nvSpPr>
          <p:cNvPr id="5" name="Text 3"/>
          <p:cNvSpPr/>
          <p:nvPr/>
        </p:nvSpPr>
        <p:spPr>
          <a:xfrm>
            <a:off x="1005840" y="2286000"/>
            <a:ext cx="4572000" cy="548640"/>
          </a:xfrm>
          <a:prstGeom prst="rect">
            <a:avLst/>
          </a:prstGeom>
          <a:noFill/>
          <a:ln/>
        </p:spPr>
        <p:txBody>
          <a:bodyPr wrap="square" lIns="0" tIns="0" rIns="0" bIns="0" rtlCol="0" anchor="ctr"/>
          <a:lstStyle/>
          <a:p>
            <a:pPr indent="0" marL="0">
              <a:buNone/>
            </a:pPr>
            <a:r>
              <a:rPr lang="en-US" sz="2400" b="1" dirty="0">
                <a:solidFill>
                  <a:srgbClr val="F1F0EE"/>
                </a:solidFill>
                <a:latin typeface="Calibri" pitchFamily="34" charset="0"/>
                <a:ea typeface="Calibri" pitchFamily="34" charset="-122"/>
                <a:cs typeface="Calibri" pitchFamily="34" charset="-120"/>
              </a:rPr>
              <a:t>Q&amp;A in isolation</a:t>
            </a:r>
            <a:endParaRPr lang="en-US" sz="2400" dirty="0"/>
          </a:p>
        </p:txBody>
      </p:sp>
      <p:sp>
        <p:nvSpPr>
          <p:cNvPr id="6" name="Text 4"/>
          <p:cNvSpPr/>
          <p:nvPr/>
        </p:nvSpPr>
        <p:spPr>
          <a:xfrm>
            <a:off x="1005840" y="3200400"/>
            <a:ext cx="4572000" cy="21945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F1F0EE"/>
                </a:solidFill>
                <a:latin typeface="Calibri" pitchFamily="34" charset="0"/>
                <a:ea typeface="Calibri" pitchFamily="34" charset="-122"/>
                <a:cs typeface="Calibri" pitchFamily="34" charset="-120"/>
              </a:rPr>
              <a:t>Answers a question</a:t>
            </a:r>
            <a:endParaRPr lang="en-US" sz="1600" dirty="0"/>
          </a:p>
          <a:p>
            <a:pPr marL="342900" indent="-342900">
              <a:spcAft>
                <a:spcPts val="800"/>
              </a:spcAft>
              <a:buSzPct val="100000"/>
              <a:buChar char="•"/>
            </a:pPr>
            <a:r>
              <a:rPr lang="en-US" sz="1600" dirty="0">
                <a:solidFill>
                  <a:srgbClr val="F1F0EE"/>
                </a:solidFill>
                <a:latin typeface="Calibri" pitchFamily="34" charset="0"/>
                <a:ea typeface="Calibri" pitchFamily="34" charset="-122"/>
                <a:cs typeface="Calibri" pitchFamily="34" charset="-120"/>
              </a:rPr>
              <a:t>No memory of context</a:t>
            </a:r>
            <a:endParaRPr lang="en-US" sz="1600" dirty="0"/>
          </a:p>
          <a:p>
            <a:pPr marL="342900" indent="-342900">
              <a:spcAft>
                <a:spcPts val="800"/>
              </a:spcAft>
              <a:buSzPct val="100000"/>
              <a:buChar char="•"/>
            </a:pPr>
            <a:r>
              <a:rPr lang="en-US" sz="1600" dirty="0">
                <a:solidFill>
                  <a:srgbClr val="F1F0EE"/>
                </a:solidFill>
                <a:latin typeface="Calibri" pitchFamily="34" charset="0"/>
                <a:ea typeface="Calibri" pitchFamily="34" charset="-122"/>
                <a:cs typeface="Calibri" pitchFamily="34" charset="-120"/>
              </a:rPr>
              <a:t>Cannot take action</a:t>
            </a:r>
            <a:endParaRPr lang="en-US" sz="1600" dirty="0"/>
          </a:p>
          <a:p>
            <a:pPr marL="342900" indent="-342900">
              <a:buSzPct val="100000"/>
              <a:buChar char="•"/>
            </a:pPr>
            <a:r>
              <a:rPr lang="en-US" sz="1600" dirty="0">
                <a:solidFill>
                  <a:srgbClr val="F1F0EE"/>
                </a:solidFill>
                <a:latin typeface="Calibri" pitchFamily="34" charset="0"/>
                <a:ea typeface="Calibri" pitchFamily="34" charset="-122"/>
                <a:cs typeface="Calibri" pitchFamily="34" charset="-120"/>
              </a:rPr>
              <a:t>User does the integration</a:t>
            </a:r>
            <a:endParaRPr lang="en-US" sz="1600" dirty="0"/>
          </a:p>
        </p:txBody>
      </p:sp>
      <p:sp>
        <p:nvSpPr>
          <p:cNvPr id="7" name="Shape 5"/>
          <p:cNvSpPr/>
          <p:nvPr/>
        </p:nvSpPr>
        <p:spPr>
          <a:xfrm>
            <a:off x="6309360" y="1463040"/>
            <a:ext cx="5303520" cy="4206240"/>
          </a:xfrm>
          <a:prstGeom prst="rect">
            <a:avLst/>
          </a:prstGeom>
          <a:solidFill>
            <a:srgbClr val="07344F"/>
          </a:solidFill>
          <a:ln w="12700">
            <a:solidFill>
              <a:srgbClr val="07344F"/>
            </a:solidFill>
            <a:prstDash val="solid"/>
          </a:ln>
        </p:spPr>
      </p:sp>
      <p:sp>
        <p:nvSpPr>
          <p:cNvPr id="8" name="Text 6"/>
          <p:cNvSpPr/>
          <p:nvPr/>
        </p:nvSpPr>
        <p:spPr>
          <a:xfrm>
            <a:off x="6675120" y="1737360"/>
            <a:ext cx="4572000" cy="457200"/>
          </a:xfrm>
          <a:prstGeom prst="rect">
            <a:avLst/>
          </a:prstGeom>
          <a:noFill/>
          <a:ln/>
        </p:spPr>
        <p:txBody>
          <a:bodyPr wrap="square" lIns="0" tIns="0" rIns="0" bIns="0" rtlCol="0" anchor="ctr"/>
          <a:lstStyle/>
          <a:p>
            <a:pPr indent="0" marL="0">
              <a:buNone/>
            </a:pPr>
            <a:r>
              <a:rPr lang="en-US" sz="1600" b="1" spc="400" kern="0" dirty="0">
                <a:solidFill>
                  <a:srgbClr val="2BCFCF"/>
                </a:solidFill>
                <a:latin typeface="Calibri" pitchFamily="34" charset="0"/>
                <a:ea typeface="Calibri" pitchFamily="34" charset="-122"/>
                <a:cs typeface="Calibri" pitchFamily="34" charset="-120"/>
              </a:rPr>
              <a:t>AGENTS WORKING TOGETHER</a:t>
            </a:r>
            <a:endParaRPr lang="en-US" sz="1600" dirty="0"/>
          </a:p>
        </p:txBody>
      </p:sp>
      <p:sp>
        <p:nvSpPr>
          <p:cNvPr id="9" name="Text 7"/>
          <p:cNvSpPr/>
          <p:nvPr/>
        </p:nvSpPr>
        <p:spPr>
          <a:xfrm>
            <a:off x="6675120" y="2286000"/>
            <a:ext cx="4572000" cy="548640"/>
          </a:xfrm>
          <a:prstGeom prst="rect">
            <a:avLst/>
          </a:prstGeom>
          <a:noFill/>
          <a:ln/>
        </p:spPr>
        <p:txBody>
          <a:bodyPr wrap="square" lIns="0" tIns="0" rIns="0" bIns="0" rtlCol="0" anchor="ctr"/>
          <a:lstStyle/>
          <a:p>
            <a:pPr indent="0" marL="0">
              <a:buNone/>
            </a:pPr>
            <a:r>
              <a:rPr lang="en-US" sz="2400" b="1" dirty="0">
                <a:solidFill>
                  <a:srgbClr val="F1F0EE"/>
                </a:solidFill>
                <a:latin typeface="Calibri" pitchFamily="34" charset="0"/>
                <a:ea typeface="Calibri" pitchFamily="34" charset="-122"/>
                <a:cs typeface="Calibri" pitchFamily="34" charset="-120"/>
              </a:rPr>
              <a:t>Outcome delivered</a:t>
            </a:r>
            <a:endParaRPr lang="en-US" sz="2400" dirty="0"/>
          </a:p>
        </p:txBody>
      </p:sp>
      <p:sp>
        <p:nvSpPr>
          <p:cNvPr id="10" name="Text 8"/>
          <p:cNvSpPr/>
          <p:nvPr/>
        </p:nvSpPr>
        <p:spPr>
          <a:xfrm>
            <a:off x="6675120" y="3200400"/>
            <a:ext cx="4572000" cy="21945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F1F0EE"/>
                </a:solidFill>
                <a:latin typeface="Calibri" pitchFamily="34" charset="0"/>
                <a:ea typeface="Calibri" pitchFamily="34" charset="-122"/>
                <a:cs typeface="Calibri" pitchFamily="34" charset="-120"/>
              </a:rPr>
              <a:t>Plans the work</a:t>
            </a:r>
            <a:endParaRPr lang="en-US" sz="1600" dirty="0"/>
          </a:p>
          <a:p>
            <a:pPr marL="342900" indent="-342900">
              <a:spcAft>
                <a:spcPts val="800"/>
              </a:spcAft>
              <a:buSzPct val="100000"/>
              <a:buChar char="•"/>
            </a:pPr>
            <a:r>
              <a:rPr lang="en-US" sz="1600" dirty="0">
                <a:solidFill>
                  <a:srgbClr val="F1F0EE"/>
                </a:solidFill>
                <a:latin typeface="Calibri" pitchFamily="34" charset="0"/>
                <a:ea typeface="Calibri" pitchFamily="34" charset="-122"/>
                <a:cs typeface="Calibri" pitchFamily="34" charset="-120"/>
              </a:rPr>
              <a:t>Holds context across steps</a:t>
            </a:r>
            <a:endParaRPr lang="en-US" sz="1600" dirty="0"/>
          </a:p>
          <a:p>
            <a:pPr marL="342900" indent="-342900">
              <a:spcAft>
                <a:spcPts val="800"/>
              </a:spcAft>
              <a:buSzPct val="100000"/>
              <a:buChar char="•"/>
            </a:pPr>
            <a:r>
              <a:rPr lang="en-US" sz="1600" dirty="0">
                <a:solidFill>
                  <a:srgbClr val="F1F0EE"/>
                </a:solidFill>
                <a:latin typeface="Calibri" pitchFamily="34" charset="0"/>
                <a:ea typeface="Calibri" pitchFamily="34" charset="-122"/>
                <a:cs typeface="Calibri" pitchFamily="34" charset="-120"/>
              </a:rPr>
              <a:t>Executes, checks, retries</a:t>
            </a:r>
            <a:endParaRPr lang="en-US" sz="1600" dirty="0"/>
          </a:p>
          <a:p>
            <a:pPr marL="342900" indent="-342900">
              <a:buSzPct val="100000"/>
              <a:buChar char="•"/>
            </a:pPr>
            <a:r>
              <a:rPr lang="en-US" sz="1600" dirty="0">
                <a:solidFill>
                  <a:srgbClr val="F1F0EE"/>
                </a:solidFill>
                <a:latin typeface="Calibri" pitchFamily="34" charset="0"/>
                <a:ea typeface="Calibri" pitchFamily="34" charset="-122"/>
                <a:cs typeface="Calibri" pitchFamily="34" charset="-120"/>
              </a:rPr>
              <a:t>Returns a finished result</a:t>
            </a:r>
            <a:endParaRPr lang="en-US" sz="1600" dirty="0"/>
          </a:p>
        </p:txBody>
      </p:sp>
      <p:sp>
        <p:nvSpPr>
          <p:cNvPr id="11" name="Text 9"/>
          <p:cNvSpPr/>
          <p:nvPr/>
        </p:nvSpPr>
        <p:spPr>
          <a:xfrm>
            <a:off x="640080" y="5943600"/>
            <a:ext cx="10881360" cy="365760"/>
          </a:xfrm>
          <a:prstGeom prst="rect">
            <a:avLst/>
          </a:prstGeom>
          <a:noFill/>
          <a:ln/>
        </p:spPr>
        <p:txBody>
          <a:bodyPr wrap="square" lIns="0" tIns="0" rIns="0" bIns="0" rtlCol="0" anchor="ctr"/>
          <a:lstStyle/>
          <a:p>
            <a:pPr algn="ctr" indent="0" marL="0">
              <a:buNone/>
            </a:pPr>
            <a:r>
              <a:rPr lang="en-US" sz="1200" i="1" dirty="0">
                <a:solidFill>
                  <a:srgbClr val="A8B5C2"/>
                </a:solidFill>
                <a:latin typeface="Calibri" pitchFamily="34" charset="0"/>
                <a:ea typeface="Calibri" pitchFamily="34" charset="-122"/>
                <a:cs typeface="Calibri" pitchFamily="34" charset="-120"/>
              </a:rPr>
              <a:t>[ Live side-by-side demonstration triggers here ]</a:t>
            </a:r>
            <a:endParaRPr lang="en-US" sz="1200" dirty="0"/>
          </a:p>
        </p:txBody>
      </p:sp>
      <p:sp>
        <p:nvSpPr>
          <p:cNvPr id="12" name="Text 10"/>
          <p:cNvSpPr/>
          <p:nvPr/>
        </p:nvSpPr>
        <p:spPr>
          <a:xfrm>
            <a:off x="457200" y="6446520"/>
            <a:ext cx="1097280" cy="274320"/>
          </a:xfrm>
          <a:prstGeom prst="rect">
            <a:avLst/>
          </a:prstGeom>
          <a:noFill/>
          <a:ln/>
        </p:spPr>
        <p:txBody>
          <a:bodyPr wrap="square" lIns="0" tIns="0" rIns="0" bIns="0" rtlCol="0" anchor="ctr"/>
          <a:lstStyle/>
          <a:p>
            <a:pPr indent="0" marL="0">
              <a:buNone/>
            </a:pPr>
            <a:r>
              <a:rPr lang="en-US" sz="1100" b="1" dirty="0">
                <a:solidFill>
                  <a:srgbClr val="F1F0EE"/>
                </a:solidFill>
                <a:latin typeface="Calibri" pitchFamily="34" charset="0"/>
                <a:ea typeface="Calibri" pitchFamily="34" charset="-122"/>
                <a:cs typeface="Calibri" pitchFamily="34" charset="-120"/>
              </a:rPr>
              <a:t>WeDo</a:t>
            </a:r>
            <a:pPr indent="0" marL="0">
              <a:buNone/>
            </a:pPr>
            <a:r>
              <a:rPr lang="en-US" sz="1100" b="1" dirty="0">
                <a:solidFill>
                  <a:srgbClr val="2BCFCF"/>
                </a:solidFill>
                <a:latin typeface="Calibri" pitchFamily="34" charset="0"/>
                <a:ea typeface="Calibri" pitchFamily="34" charset="-122"/>
                <a:cs typeface="Calibri" pitchFamily="34" charset="-120"/>
              </a:rPr>
              <a:t>AI</a:t>
            </a:r>
            <a:endParaRPr lang="en-US" sz="1100" dirty="0"/>
          </a:p>
        </p:txBody>
      </p:sp>
      <p:sp>
        <p:nvSpPr>
          <p:cNvPr id="13" name="Text 11"/>
          <p:cNvSpPr/>
          <p:nvPr/>
        </p:nvSpPr>
        <p:spPr>
          <a:xfrm>
            <a:off x="11064240" y="6446520"/>
            <a:ext cx="640080" cy="274320"/>
          </a:xfrm>
          <a:prstGeom prst="rect">
            <a:avLst/>
          </a:prstGeom>
          <a:noFill/>
          <a:ln/>
        </p:spPr>
        <p:txBody>
          <a:bodyPr wrap="square" lIns="0" tIns="0" rIns="0" bIns="0" rtlCol="0" anchor="ctr"/>
          <a:lstStyle/>
          <a:p>
            <a:pPr algn="r" indent="0" marL="0">
              <a:buNone/>
            </a:pPr>
            <a:r>
              <a:rPr lang="en-US" sz="1000" dirty="0">
                <a:solidFill>
                  <a:srgbClr val="A8B5C2"/>
                </a:solidFill>
                <a:latin typeface="Calibri" pitchFamily="34" charset="0"/>
                <a:ea typeface="Calibri" pitchFamily="34" charset="-122"/>
                <a:cs typeface="Calibri" pitchFamily="34" charset="-120"/>
              </a:rPr>
              <a:t>7 / 21</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2A45"/>
        </a:solidFill>
      </p:bgPr>
    </p:bg>
    <p:spTree>
      <p:nvGrpSpPr>
        <p:cNvPr id="1" name=""/>
        <p:cNvGrpSpPr/>
        <p:nvPr/>
      </p:nvGrpSpPr>
      <p:grpSpPr>
        <a:xfrm>
          <a:off x="0" y="0"/>
          <a:ext cx="0" cy="0"/>
          <a:chOff x="0" y="0"/>
          <a:chExt cx="0" cy="0"/>
        </a:xfrm>
      </p:grpSpPr>
      <p:sp>
        <p:nvSpPr>
          <p:cNvPr id="2" name="Text 0"/>
          <p:cNvSpPr/>
          <p:nvPr/>
        </p:nvSpPr>
        <p:spPr>
          <a:xfrm>
            <a:off x="640080" y="1280160"/>
            <a:ext cx="2743200" cy="914400"/>
          </a:xfrm>
          <a:prstGeom prst="rect">
            <a:avLst/>
          </a:prstGeom>
          <a:noFill/>
          <a:ln/>
        </p:spPr>
        <p:txBody>
          <a:bodyPr wrap="square" lIns="0" tIns="0" rIns="0" bIns="0" rtlCol="0" anchor="ctr"/>
          <a:lstStyle/>
          <a:p>
            <a:pPr algn="l" indent="0" marL="0">
              <a:buNone/>
            </a:pPr>
            <a:r>
              <a:rPr lang="en-US" sz="2800" b="1" spc="200" kern="0" dirty="0">
                <a:solidFill>
                  <a:srgbClr val="A8B5C2"/>
                </a:solidFill>
                <a:latin typeface="Calibri" pitchFamily="34" charset="0"/>
                <a:ea typeface="Calibri" pitchFamily="34" charset="-122"/>
                <a:cs typeface="Calibri" pitchFamily="34" charset="-120"/>
              </a:rPr>
              <a:t>03</a:t>
            </a:r>
            <a:endParaRPr lang="en-US" sz="2800" dirty="0"/>
          </a:p>
        </p:txBody>
      </p:sp>
      <p:sp>
        <p:nvSpPr>
          <p:cNvPr id="3" name="Text 1"/>
          <p:cNvSpPr/>
          <p:nvPr/>
        </p:nvSpPr>
        <p:spPr>
          <a:xfrm>
            <a:off x="640080" y="2286000"/>
            <a:ext cx="10881360" cy="1645920"/>
          </a:xfrm>
          <a:prstGeom prst="rect">
            <a:avLst/>
          </a:prstGeom>
          <a:noFill/>
          <a:ln/>
        </p:spPr>
        <p:txBody>
          <a:bodyPr wrap="square" lIns="0" tIns="0" rIns="0" bIns="0" rtlCol="0" anchor="ctr"/>
          <a:lstStyle/>
          <a:p>
            <a:pPr algn="l" indent="0" marL="0">
              <a:buNone/>
            </a:pPr>
            <a:r>
              <a:rPr lang="en-US" sz="6000" b="1" dirty="0">
                <a:solidFill>
                  <a:srgbClr val="F1F0EE"/>
                </a:solidFill>
                <a:latin typeface="Calibri" pitchFamily="34" charset="0"/>
                <a:ea typeface="Calibri" pitchFamily="34" charset="-122"/>
                <a:cs typeface="Calibri" pitchFamily="34" charset="-120"/>
              </a:rPr>
              <a:t>The prerequisite </a:t>
            </a:r>
            <a:pPr algn="l" indent="0" marL="0">
              <a:buNone/>
            </a:pPr>
            <a:r>
              <a:rPr lang="en-US" sz="6000" b="1" dirty="0">
                <a:solidFill>
                  <a:srgbClr val="2BCFCF"/>
                </a:solidFill>
                <a:latin typeface="Calibri" pitchFamily="34" charset="0"/>
                <a:ea typeface="Calibri" pitchFamily="34" charset="-122"/>
                <a:cs typeface="Calibri" pitchFamily="34" charset="-120"/>
              </a:rPr>
              <a:t>nobody talks about</a:t>
            </a:r>
            <a:pPr algn="l" indent="0" marL="0">
              <a:buNone/>
            </a:pPr>
            <a:r>
              <a:rPr lang="en-US" sz="6000" b="1" dirty="0">
                <a:solidFill>
                  <a:srgbClr val="F1F0EE"/>
                </a:solidFill>
                <a:latin typeface="Calibri" pitchFamily="34" charset="0"/>
                <a:ea typeface="Calibri" pitchFamily="34" charset="-122"/>
                <a:cs typeface="Calibri" pitchFamily="34" charset="-120"/>
              </a:rPr>
              <a:t>.</a:t>
            </a:r>
            <a:endParaRPr lang="en-US" sz="6000" dirty="0"/>
          </a:p>
        </p:txBody>
      </p:sp>
      <p:sp>
        <p:nvSpPr>
          <p:cNvPr id="4" name="Text 2"/>
          <p:cNvSpPr/>
          <p:nvPr/>
        </p:nvSpPr>
        <p:spPr>
          <a:xfrm>
            <a:off x="640080" y="4206240"/>
            <a:ext cx="9418320" cy="1097280"/>
          </a:xfrm>
          <a:prstGeom prst="rect">
            <a:avLst/>
          </a:prstGeom>
          <a:noFill/>
          <a:ln/>
        </p:spPr>
        <p:txBody>
          <a:bodyPr wrap="square" lIns="0" tIns="0" rIns="0" bIns="0" rtlCol="0" anchor="t"/>
          <a:lstStyle/>
          <a:p>
            <a:pPr algn="l" indent="0" marL="0">
              <a:buNone/>
            </a:pPr>
            <a:r>
              <a:rPr lang="en-US" sz="2200" i="1" dirty="0">
                <a:solidFill>
                  <a:srgbClr val="A8B5C2"/>
                </a:solidFill>
                <a:latin typeface="Calibri" pitchFamily="34" charset="0"/>
                <a:ea typeface="Calibri" pitchFamily="34" charset="-122"/>
                <a:cs typeface="Calibri" pitchFamily="34" charset="-120"/>
              </a:rPr>
              <a:t>Before you can evaluate any AI proposal, you need to understand your process as a system.</a:t>
            </a:r>
            <a:endParaRPr lang="en-US" sz="2200" dirty="0"/>
          </a:p>
        </p:txBody>
      </p:sp>
      <p:sp>
        <p:nvSpPr>
          <p:cNvPr id="5" name="Text 3"/>
          <p:cNvSpPr/>
          <p:nvPr/>
        </p:nvSpPr>
        <p:spPr>
          <a:xfrm>
            <a:off x="10698480" y="6035040"/>
            <a:ext cx="1828800" cy="548640"/>
          </a:xfrm>
          <a:prstGeom prst="rect">
            <a:avLst/>
          </a:prstGeom>
          <a:noFill/>
          <a:ln/>
        </p:spPr>
        <p:txBody>
          <a:bodyPr wrap="square" lIns="0" tIns="0" rIns="0" bIns="0" rtlCol="0" anchor="ctr"/>
          <a:lstStyle/>
          <a:p>
            <a:pPr algn="l" indent="0" marL="0">
              <a:buNone/>
            </a:pPr>
            <a:r>
              <a:rPr lang="en-US" sz="1600" b="1" dirty="0">
                <a:solidFill>
                  <a:srgbClr val="F1F0EE"/>
                </a:solidFill>
                <a:latin typeface="Calibri" pitchFamily="34" charset="0"/>
                <a:ea typeface="Calibri" pitchFamily="34" charset="-122"/>
                <a:cs typeface="Calibri" pitchFamily="34" charset="-120"/>
              </a:rPr>
              <a:t>WeDo</a:t>
            </a:r>
            <a:pPr algn="l" indent="0" marL="0">
              <a:buNone/>
            </a:pPr>
            <a:r>
              <a:rPr lang="en-US" sz="1600" b="1" dirty="0">
                <a:solidFill>
                  <a:srgbClr val="2BCFCF"/>
                </a:solidFill>
                <a:latin typeface="Calibri" pitchFamily="34" charset="0"/>
                <a:ea typeface="Calibri" pitchFamily="34" charset="-122"/>
                <a:cs typeface="Calibri" pitchFamily="34" charset="-120"/>
              </a:rPr>
              <a:t>AI</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2A45"/>
        </a:solidFill>
      </p:bgPr>
    </p:bg>
    <p:spTree>
      <p:nvGrpSpPr>
        <p:cNvPr id="1" name=""/>
        <p:cNvGrpSpPr/>
        <p:nvPr/>
      </p:nvGrpSpPr>
      <p:grpSpPr>
        <a:xfrm>
          <a:off x="0" y="0"/>
          <a:ext cx="0" cy="0"/>
          <a:chOff x="0" y="0"/>
          <a:chExt cx="0" cy="0"/>
        </a:xfrm>
      </p:grpSpPr>
      <p:sp>
        <p:nvSpPr>
          <p:cNvPr id="2" name="Text 0"/>
          <p:cNvSpPr/>
          <p:nvPr/>
        </p:nvSpPr>
        <p:spPr>
          <a:xfrm>
            <a:off x="640080" y="457200"/>
            <a:ext cx="10881360" cy="822960"/>
          </a:xfrm>
          <a:prstGeom prst="rect">
            <a:avLst/>
          </a:prstGeom>
          <a:noFill/>
          <a:ln/>
        </p:spPr>
        <p:txBody>
          <a:bodyPr wrap="square" lIns="0" tIns="0" rIns="0" bIns="0" rtlCol="0" anchor="ctr"/>
          <a:lstStyle/>
          <a:p>
            <a:pPr algn="l" indent="0" marL="0">
              <a:buNone/>
            </a:pPr>
            <a:r>
              <a:rPr lang="en-US" sz="3200" b="1" dirty="0">
                <a:solidFill>
                  <a:srgbClr val="F1F0EE"/>
                </a:solidFill>
                <a:latin typeface="Calibri" pitchFamily="34" charset="0"/>
                <a:ea typeface="Calibri" pitchFamily="34" charset="-122"/>
                <a:cs typeface="Calibri" pitchFamily="34" charset="-120"/>
              </a:rPr>
              <a:t>Process is the frame. People, data and technology make it work.</a:t>
            </a:r>
            <a:endParaRPr lang="en-US" sz="3200" dirty="0"/>
          </a:p>
        </p:txBody>
      </p:sp>
      <p:sp>
        <p:nvSpPr>
          <p:cNvPr id="3" name="Shape 1"/>
          <p:cNvSpPr/>
          <p:nvPr/>
        </p:nvSpPr>
        <p:spPr>
          <a:xfrm>
            <a:off x="914400" y="1554480"/>
            <a:ext cx="10332720" cy="4206240"/>
          </a:xfrm>
          <a:prstGeom prst="rect">
            <a:avLst/>
          </a:prstGeom>
          <a:solidFill>
            <a:srgbClr val="0B2A45"/>
          </a:solidFill>
          <a:ln w="19050">
            <a:solidFill>
              <a:srgbClr val="2BCFCF"/>
            </a:solidFill>
            <a:prstDash val="solid"/>
          </a:ln>
        </p:spPr>
      </p:sp>
      <p:sp>
        <p:nvSpPr>
          <p:cNvPr id="4" name="Text 2"/>
          <p:cNvSpPr/>
          <p:nvPr/>
        </p:nvSpPr>
        <p:spPr>
          <a:xfrm>
            <a:off x="1188720" y="1737360"/>
            <a:ext cx="2743200" cy="457200"/>
          </a:xfrm>
          <a:prstGeom prst="rect">
            <a:avLst/>
          </a:prstGeom>
          <a:noFill/>
          <a:ln/>
        </p:spPr>
        <p:txBody>
          <a:bodyPr wrap="square" lIns="0" tIns="0" rIns="0" bIns="0" rtlCol="0" anchor="ctr"/>
          <a:lstStyle/>
          <a:p>
            <a:pPr indent="0" marL="0">
              <a:buNone/>
            </a:pPr>
            <a:r>
              <a:rPr lang="en-US" sz="1400" b="1" spc="200" kern="0" dirty="0">
                <a:solidFill>
                  <a:srgbClr val="2BCFCF"/>
                </a:solidFill>
                <a:latin typeface="Calibri" pitchFamily="34" charset="0"/>
                <a:ea typeface="Calibri" pitchFamily="34" charset="-122"/>
                <a:cs typeface="Calibri" pitchFamily="34" charset="-120"/>
              </a:rPr>
              <a:t>PROCESS</a:t>
            </a:r>
            <a:endParaRPr lang="en-US" sz="1400" dirty="0"/>
          </a:p>
        </p:txBody>
      </p:sp>
      <p:sp>
        <p:nvSpPr>
          <p:cNvPr id="5" name="Text 3"/>
          <p:cNvSpPr/>
          <p:nvPr/>
        </p:nvSpPr>
        <p:spPr>
          <a:xfrm>
            <a:off x="1188720" y="2194560"/>
            <a:ext cx="9784080" cy="457200"/>
          </a:xfrm>
          <a:prstGeom prst="rect">
            <a:avLst/>
          </a:prstGeom>
          <a:noFill/>
          <a:ln/>
        </p:spPr>
        <p:txBody>
          <a:bodyPr wrap="square" lIns="0" tIns="0" rIns="0" bIns="0" rtlCol="0" anchor="ctr"/>
          <a:lstStyle/>
          <a:p>
            <a:pPr indent="0" marL="0">
              <a:buNone/>
            </a:pPr>
            <a:r>
              <a:rPr lang="en-US" sz="1400" i="1" dirty="0">
                <a:solidFill>
                  <a:srgbClr val="A8B5C2"/>
                </a:solidFill>
                <a:latin typeface="Calibri" pitchFamily="34" charset="0"/>
                <a:ea typeface="Calibri" pitchFamily="34" charset="-122"/>
                <a:cs typeface="Calibri" pitchFamily="34" charset="-120"/>
              </a:rPr>
              <a:t>How value flows through your organisation</a:t>
            </a:r>
            <a:endParaRPr lang="en-US" sz="1400" dirty="0"/>
          </a:p>
        </p:txBody>
      </p:sp>
      <p:sp>
        <p:nvSpPr>
          <p:cNvPr id="6" name="Shape 4"/>
          <p:cNvSpPr/>
          <p:nvPr/>
        </p:nvSpPr>
        <p:spPr>
          <a:xfrm>
            <a:off x="1188720" y="2926080"/>
            <a:ext cx="3078480" cy="2468880"/>
          </a:xfrm>
          <a:prstGeom prst="rect">
            <a:avLst/>
          </a:prstGeom>
          <a:solidFill>
            <a:srgbClr val="07344F"/>
          </a:solidFill>
          <a:ln w="12700">
            <a:solidFill>
              <a:srgbClr val="07344F"/>
            </a:solidFill>
            <a:prstDash val="solid"/>
          </a:ln>
        </p:spPr>
      </p:sp>
      <p:sp>
        <p:nvSpPr>
          <p:cNvPr id="7" name="Text 5"/>
          <p:cNvSpPr/>
          <p:nvPr/>
        </p:nvSpPr>
        <p:spPr>
          <a:xfrm>
            <a:off x="1463040" y="3154680"/>
            <a:ext cx="2529840" cy="365760"/>
          </a:xfrm>
          <a:prstGeom prst="rect">
            <a:avLst/>
          </a:prstGeom>
          <a:noFill/>
          <a:ln/>
        </p:spPr>
        <p:txBody>
          <a:bodyPr wrap="square" lIns="0" tIns="0" rIns="0" bIns="0" rtlCol="0" anchor="ctr"/>
          <a:lstStyle/>
          <a:p>
            <a:pPr indent="0" marL="0">
              <a:buNone/>
            </a:pPr>
            <a:r>
              <a:rPr lang="en-US" sz="1300" b="1" spc="400" kern="0" dirty="0">
                <a:solidFill>
                  <a:srgbClr val="2BCFCF"/>
                </a:solidFill>
                <a:latin typeface="Calibri" pitchFamily="34" charset="0"/>
                <a:ea typeface="Calibri" pitchFamily="34" charset="-122"/>
                <a:cs typeface="Calibri" pitchFamily="34" charset="-120"/>
              </a:rPr>
              <a:t>PEOPLE</a:t>
            </a:r>
            <a:endParaRPr lang="en-US" sz="1300" dirty="0"/>
          </a:p>
        </p:txBody>
      </p:sp>
      <p:sp>
        <p:nvSpPr>
          <p:cNvPr id="8" name="Text 6"/>
          <p:cNvSpPr/>
          <p:nvPr/>
        </p:nvSpPr>
        <p:spPr>
          <a:xfrm>
            <a:off x="1463040" y="3566160"/>
            <a:ext cx="2529840" cy="457200"/>
          </a:xfrm>
          <a:prstGeom prst="rect">
            <a:avLst/>
          </a:prstGeom>
          <a:noFill/>
          <a:ln/>
        </p:spPr>
        <p:txBody>
          <a:bodyPr wrap="square" lIns="0" tIns="0" rIns="0" bIns="0" rtlCol="0" anchor="ctr"/>
          <a:lstStyle/>
          <a:p>
            <a:pPr indent="0" marL="0">
              <a:buNone/>
            </a:pPr>
            <a:r>
              <a:rPr lang="en-US" sz="1800" b="1" dirty="0">
                <a:solidFill>
                  <a:srgbClr val="F1F0EE"/>
                </a:solidFill>
                <a:latin typeface="Calibri" pitchFamily="34" charset="0"/>
                <a:ea typeface="Calibri" pitchFamily="34" charset="-122"/>
                <a:cs typeface="Calibri" pitchFamily="34" charset="-120"/>
              </a:rPr>
              <a:t>Educated and capable</a:t>
            </a:r>
            <a:endParaRPr lang="en-US" sz="1800" dirty="0"/>
          </a:p>
        </p:txBody>
      </p:sp>
      <p:sp>
        <p:nvSpPr>
          <p:cNvPr id="9" name="Text 7"/>
          <p:cNvSpPr/>
          <p:nvPr/>
        </p:nvSpPr>
        <p:spPr>
          <a:xfrm>
            <a:off x="1463040" y="4114800"/>
            <a:ext cx="2529840" cy="1097280"/>
          </a:xfrm>
          <a:prstGeom prst="rect">
            <a:avLst/>
          </a:prstGeom>
          <a:noFill/>
          <a:ln/>
        </p:spPr>
        <p:txBody>
          <a:bodyPr wrap="square" lIns="0" tIns="0" rIns="0" bIns="0" rtlCol="0" anchor="t"/>
          <a:lstStyle/>
          <a:p>
            <a:pPr indent="0" marL="0">
              <a:buNone/>
            </a:pPr>
            <a:r>
              <a:rPr lang="en-US" sz="1300" dirty="0">
                <a:solidFill>
                  <a:srgbClr val="F1F0EE"/>
                </a:solidFill>
                <a:latin typeface="Calibri" pitchFamily="34" charset="0"/>
                <a:ea typeface="Calibri" pitchFamily="34" charset="-122"/>
                <a:cs typeface="Calibri" pitchFamily="34" charset="-120"/>
              </a:rPr>
              <a:t>Not one-time training. Continuous education in what we measure, why it matters, how to read the signal.</a:t>
            </a:r>
            <a:endParaRPr lang="en-US" sz="1300" dirty="0"/>
          </a:p>
        </p:txBody>
      </p:sp>
      <p:sp>
        <p:nvSpPr>
          <p:cNvPr id="10" name="Shape 8"/>
          <p:cNvSpPr/>
          <p:nvPr/>
        </p:nvSpPr>
        <p:spPr>
          <a:xfrm>
            <a:off x="4541520" y="2926080"/>
            <a:ext cx="3078480" cy="2468880"/>
          </a:xfrm>
          <a:prstGeom prst="rect">
            <a:avLst/>
          </a:prstGeom>
          <a:solidFill>
            <a:srgbClr val="07344F"/>
          </a:solidFill>
          <a:ln w="12700">
            <a:solidFill>
              <a:srgbClr val="07344F"/>
            </a:solidFill>
            <a:prstDash val="solid"/>
          </a:ln>
        </p:spPr>
      </p:sp>
      <p:sp>
        <p:nvSpPr>
          <p:cNvPr id="11" name="Text 9"/>
          <p:cNvSpPr/>
          <p:nvPr/>
        </p:nvSpPr>
        <p:spPr>
          <a:xfrm>
            <a:off x="4815840" y="3154680"/>
            <a:ext cx="2529840" cy="365760"/>
          </a:xfrm>
          <a:prstGeom prst="rect">
            <a:avLst/>
          </a:prstGeom>
          <a:noFill/>
          <a:ln/>
        </p:spPr>
        <p:txBody>
          <a:bodyPr wrap="square" lIns="0" tIns="0" rIns="0" bIns="0" rtlCol="0" anchor="ctr"/>
          <a:lstStyle/>
          <a:p>
            <a:pPr indent="0" marL="0">
              <a:buNone/>
            </a:pPr>
            <a:r>
              <a:rPr lang="en-US" sz="1300" b="1" spc="400" kern="0" dirty="0">
                <a:solidFill>
                  <a:srgbClr val="2BCFCF"/>
                </a:solidFill>
                <a:latin typeface="Calibri" pitchFamily="34" charset="0"/>
                <a:ea typeface="Calibri" pitchFamily="34" charset="-122"/>
                <a:cs typeface="Calibri" pitchFamily="34" charset="-120"/>
              </a:rPr>
              <a:t>DATA</a:t>
            </a:r>
            <a:endParaRPr lang="en-US" sz="1300" dirty="0"/>
          </a:p>
        </p:txBody>
      </p:sp>
      <p:sp>
        <p:nvSpPr>
          <p:cNvPr id="12" name="Text 10"/>
          <p:cNvSpPr/>
          <p:nvPr/>
        </p:nvSpPr>
        <p:spPr>
          <a:xfrm>
            <a:off x="4815840" y="3566160"/>
            <a:ext cx="2529840" cy="457200"/>
          </a:xfrm>
          <a:prstGeom prst="rect">
            <a:avLst/>
          </a:prstGeom>
          <a:noFill/>
          <a:ln/>
        </p:spPr>
        <p:txBody>
          <a:bodyPr wrap="square" lIns="0" tIns="0" rIns="0" bIns="0" rtlCol="0" anchor="ctr"/>
          <a:lstStyle/>
          <a:p>
            <a:pPr indent="0" marL="0">
              <a:buNone/>
            </a:pPr>
            <a:r>
              <a:rPr lang="en-US" sz="1800" b="1" dirty="0">
                <a:solidFill>
                  <a:srgbClr val="F1F0EE"/>
                </a:solidFill>
                <a:latin typeface="Calibri" pitchFamily="34" charset="0"/>
                <a:ea typeface="Calibri" pitchFamily="34" charset="-122"/>
                <a:cs typeface="Calibri" pitchFamily="34" charset="-120"/>
              </a:rPr>
              <a:t>Joined and measured</a:t>
            </a:r>
            <a:endParaRPr lang="en-US" sz="1800" dirty="0"/>
          </a:p>
        </p:txBody>
      </p:sp>
      <p:sp>
        <p:nvSpPr>
          <p:cNvPr id="13" name="Text 11"/>
          <p:cNvSpPr/>
          <p:nvPr/>
        </p:nvSpPr>
        <p:spPr>
          <a:xfrm>
            <a:off x="4815840" y="4114800"/>
            <a:ext cx="2529840" cy="1097280"/>
          </a:xfrm>
          <a:prstGeom prst="rect">
            <a:avLst/>
          </a:prstGeom>
          <a:noFill/>
          <a:ln/>
        </p:spPr>
        <p:txBody>
          <a:bodyPr wrap="square" lIns="0" tIns="0" rIns="0" bIns="0" rtlCol="0" anchor="t"/>
          <a:lstStyle/>
          <a:p>
            <a:pPr indent="0" marL="0">
              <a:buNone/>
            </a:pPr>
            <a:r>
              <a:rPr lang="en-US" sz="1300" dirty="0">
                <a:solidFill>
                  <a:srgbClr val="F1F0EE"/>
                </a:solidFill>
                <a:latin typeface="Calibri" pitchFamily="34" charset="0"/>
                <a:ea typeface="Calibri" pitchFamily="34" charset="-122"/>
                <a:cs typeface="Calibri" pitchFamily="34" charset="-120"/>
              </a:rPr>
              <a:t>Available across silos, governed at the asset level, aligned to the use cases that matter.</a:t>
            </a:r>
            <a:endParaRPr lang="en-US" sz="1300" dirty="0"/>
          </a:p>
        </p:txBody>
      </p:sp>
      <p:sp>
        <p:nvSpPr>
          <p:cNvPr id="14" name="Shape 12"/>
          <p:cNvSpPr/>
          <p:nvPr/>
        </p:nvSpPr>
        <p:spPr>
          <a:xfrm>
            <a:off x="7894320" y="2926080"/>
            <a:ext cx="3078480" cy="2468880"/>
          </a:xfrm>
          <a:prstGeom prst="rect">
            <a:avLst/>
          </a:prstGeom>
          <a:solidFill>
            <a:srgbClr val="07344F"/>
          </a:solidFill>
          <a:ln w="12700">
            <a:solidFill>
              <a:srgbClr val="07344F"/>
            </a:solidFill>
            <a:prstDash val="solid"/>
          </a:ln>
        </p:spPr>
      </p:sp>
      <p:sp>
        <p:nvSpPr>
          <p:cNvPr id="15" name="Text 13"/>
          <p:cNvSpPr/>
          <p:nvPr/>
        </p:nvSpPr>
        <p:spPr>
          <a:xfrm>
            <a:off x="8168640" y="3154680"/>
            <a:ext cx="2529840" cy="365760"/>
          </a:xfrm>
          <a:prstGeom prst="rect">
            <a:avLst/>
          </a:prstGeom>
          <a:noFill/>
          <a:ln/>
        </p:spPr>
        <p:txBody>
          <a:bodyPr wrap="square" lIns="0" tIns="0" rIns="0" bIns="0" rtlCol="0" anchor="ctr"/>
          <a:lstStyle/>
          <a:p>
            <a:pPr indent="0" marL="0">
              <a:buNone/>
            </a:pPr>
            <a:r>
              <a:rPr lang="en-US" sz="1300" b="1" spc="400" kern="0" dirty="0">
                <a:solidFill>
                  <a:srgbClr val="2BCFCF"/>
                </a:solidFill>
                <a:latin typeface="Calibri" pitchFamily="34" charset="0"/>
                <a:ea typeface="Calibri" pitchFamily="34" charset="-122"/>
                <a:cs typeface="Calibri" pitchFamily="34" charset="-120"/>
              </a:rPr>
              <a:t>TECHNOLOGY</a:t>
            </a:r>
            <a:endParaRPr lang="en-US" sz="1300" dirty="0"/>
          </a:p>
        </p:txBody>
      </p:sp>
      <p:sp>
        <p:nvSpPr>
          <p:cNvPr id="16" name="Text 14"/>
          <p:cNvSpPr/>
          <p:nvPr/>
        </p:nvSpPr>
        <p:spPr>
          <a:xfrm>
            <a:off x="8168640" y="3566160"/>
            <a:ext cx="2529840" cy="457200"/>
          </a:xfrm>
          <a:prstGeom prst="rect">
            <a:avLst/>
          </a:prstGeom>
          <a:noFill/>
          <a:ln/>
        </p:spPr>
        <p:txBody>
          <a:bodyPr wrap="square" lIns="0" tIns="0" rIns="0" bIns="0" rtlCol="0" anchor="ctr"/>
          <a:lstStyle/>
          <a:p>
            <a:pPr indent="0" marL="0">
              <a:buNone/>
            </a:pPr>
            <a:r>
              <a:rPr lang="en-US" sz="1800" b="1" dirty="0">
                <a:solidFill>
                  <a:srgbClr val="F1F0EE"/>
                </a:solidFill>
                <a:latin typeface="Calibri" pitchFamily="34" charset="0"/>
                <a:ea typeface="Calibri" pitchFamily="34" charset="-122"/>
                <a:cs typeface="Calibri" pitchFamily="34" charset="-120"/>
              </a:rPr>
              <a:t>Integrated and safe</a:t>
            </a:r>
            <a:endParaRPr lang="en-US" sz="1800" dirty="0"/>
          </a:p>
        </p:txBody>
      </p:sp>
      <p:sp>
        <p:nvSpPr>
          <p:cNvPr id="17" name="Text 15"/>
          <p:cNvSpPr/>
          <p:nvPr/>
        </p:nvSpPr>
        <p:spPr>
          <a:xfrm>
            <a:off x="8168640" y="4114800"/>
            <a:ext cx="2529840" cy="1097280"/>
          </a:xfrm>
          <a:prstGeom prst="rect">
            <a:avLst/>
          </a:prstGeom>
          <a:noFill/>
          <a:ln/>
        </p:spPr>
        <p:txBody>
          <a:bodyPr wrap="square" lIns="0" tIns="0" rIns="0" bIns="0" rtlCol="0" anchor="t"/>
          <a:lstStyle/>
          <a:p>
            <a:pPr indent="0" marL="0">
              <a:buNone/>
            </a:pPr>
            <a:r>
              <a:rPr lang="en-US" sz="1300" dirty="0">
                <a:solidFill>
                  <a:srgbClr val="F1F0EE"/>
                </a:solidFill>
                <a:latin typeface="Calibri" pitchFamily="34" charset="0"/>
                <a:ea typeface="Calibri" pitchFamily="34" charset="-122"/>
                <a:cs typeface="Calibri" pitchFamily="34" charset="-120"/>
              </a:rPr>
              <a:t>Secure, governed, observable, and built to compose with what you already have.</a:t>
            </a:r>
            <a:endParaRPr lang="en-US" sz="1300" dirty="0"/>
          </a:p>
        </p:txBody>
      </p:sp>
      <p:sp>
        <p:nvSpPr>
          <p:cNvPr id="18" name="Text 16"/>
          <p:cNvSpPr/>
          <p:nvPr/>
        </p:nvSpPr>
        <p:spPr>
          <a:xfrm>
            <a:off x="457200" y="6446520"/>
            <a:ext cx="1097280" cy="274320"/>
          </a:xfrm>
          <a:prstGeom prst="rect">
            <a:avLst/>
          </a:prstGeom>
          <a:noFill/>
          <a:ln/>
        </p:spPr>
        <p:txBody>
          <a:bodyPr wrap="square" lIns="0" tIns="0" rIns="0" bIns="0" rtlCol="0" anchor="ctr"/>
          <a:lstStyle/>
          <a:p>
            <a:pPr indent="0" marL="0">
              <a:buNone/>
            </a:pPr>
            <a:r>
              <a:rPr lang="en-US" sz="1100" b="1" dirty="0">
                <a:solidFill>
                  <a:srgbClr val="F1F0EE"/>
                </a:solidFill>
                <a:latin typeface="Calibri" pitchFamily="34" charset="0"/>
                <a:ea typeface="Calibri" pitchFamily="34" charset="-122"/>
                <a:cs typeface="Calibri" pitchFamily="34" charset="-120"/>
              </a:rPr>
              <a:t>WeDo</a:t>
            </a:r>
            <a:pPr indent="0" marL="0">
              <a:buNone/>
            </a:pPr>
            <a:r>
              <a:rPr lang="en-US" sz="1100" b="1" dirty="0">
                <a:solidFill>
                  <a:srgbClr val="2BCFCF"/>
                </a:solidFill>
                <a:latin typeface="Calibri" pitchFamily="34" charset="0"/>
                <a:ea typeface="Calibri" pitchFamily="34" charset="-122"/>
                <a:cs typeface="Calibri" pitchFamily="34" charset="-120"/>
              </a:rPr>
              <a:t>AI</a:t>
            </a:r>
            <a:endParaRPr lang="en-US" sz="1100" dirty="0"/>
          </a:p>
        </p:txBody>
      </p:sp>
      <p:sp>
        <p:nvSpPr>
          <p:cNvPr id="19" name="Text 17"/>
          <p:cNvSpPr/>
          <p:nvPr/>
        </p:nvSpPr>
        <p:spPr>
          <a:xfrm>
            <a:off x="11064240" y="6446520"/>
            <a:ext cx="640080" cy="274320"/>
          </a:xfrm>
          <a:prstGeom prst="rect">
            <a:avLst/>
          </a:prstGeom>
          <a:noFill/>
          <a:ln/>
        </p:spPr>
        <p:txBody>
          <a:bodyPr wrap="square" lIns="0" tIns="0" rIns="0" bIns="0" rtlCol="0" anchor="ctr"/>
          <a:lstStyle/>
          <a:p>
            <a:pPr algn="r" indent="0" marL="0">
              <a:buNone/>
            </a:pPr>
            <a:r>
              <a:rPr lang="en-US" sz="1000" dirty="0">
                <a:solidFill>
                  <a:srgbClr val="A8B5C2"/>
                </a:solidFill>
                <a:latin typeface="Calibri" pitchFamily="34" charset="0"/>
                <a:ea typeface="Calibri" pitchFamily="34" charset="-122"/>
                <a:cs typeface="Calibri" pitchFamily="34" charset="-120"/>
              </a:rPr>
              <a:t>9 / 21</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A45"/>
        </a:solidFill>
      </p:bgPr>
    </p:bg>
    <p:spTree>
      <p:nvGrpSpPr>
        <p:cNvPr id="1" name=""/>
        <p:cNvGrpSpPr/>
        <p:nvPr/>
      </p:nvGrpSpPr>
      <p:grpSpPr>
        <a:xfrm>
          <a:off x="0" y="0"/>
          <a:ext cx="0" cy="0"/>
          <a:chOff x="0" y="0"/>
          <a:chExt cx="0" cy="0"/>
        </a:xfrm>
      </p:grpSpPr>
      <p:sp>
        <p:nvSpPr>
          <p:cNvPr id="2" name="Text 0"/>
          <p:cNvSpPr/>
          <p:nvPr/>
        </p:nvSpPr>
        <p:spPr>
          <a:xfrm>
            <a:off x="640080" y="457200"/>
            <a:ext cx="10881360" cy="822960"/>
          </a:xfrm>
          <a:prstGeom prst="rect">
            <a:avLst/>
          </a:prstGeom>
          <a:noFill/>
          <a:ln/>
        </p:spPr>
        <p:txBody>
          <a:bodyPr wrap="square" lIns="0" tIns="0" rIns="0" bIns="0" rtlCol="0" anchor="ctr"/>
          <a:lstStyle/>
          <a:p>
            <a:pPr algn="l" indent="0" marL="0">
              <a:buNone/>
            </a:pPr>
            <a:r>
              <a:rPr lang="en-US" sz="3200" b="1" dirty="0">
                <a:solidFill>
                  <a:srgbClr val="F1F0EE"/>
                </a:solidFill>
                <a:latin typeface="Calibri" pitchFamily="34" charset="0"/>
                <a:ea typeface="Calibri" pitchFamily="34" charset="-122"/>
                <a:cs typeface="Calibri" pitchFamily="34" charset="-120"/>
              </a:rPr>
              <a:t>You cannot improve what you have never measured.</a:t>
            </a:r>
            <a:endParaRPr lang="en-US" sz="3200" dirty="0"/>
          </a:p>
        </p:txBody>
      </p:sp>
      <p:sp>
        <p:nvSpPr>
          <p:cNvPr id="3" name="Text 1"/>
          <p:cNvSpPr/>
          <p:nvPr/>
        </p:nvSpPr>
        <p:spPr>
          <a:xfrm>
            <a:off x="640080" y="1554480"/>
            <a:ext cx="6400800" cy="4114800"/>
          </a:xfrm>
          <a:prstGeom prst="rect">
            <a:avLst/>
          </a:prstGeom>
          <a:noFill/>
          <a:ln/>
        </p:spPr>
        <p:txBody>
          <a:bodyPr wrap="square" lIns="0" tIns="0" rIns="0" bIns="0" rtlCol="0" anchor="t"/>
          <a:lstStyle/>
          <a:p>
            <a:pPr algn="l" indent="0" marL="0">
              <a:spcAft>
                <a:spcPts val="1200"/>
              </a:spcAft>
              <a:buNone/>
            </a:pPr>
            <a:r>
              <a:rPr lang="en-US" sz="2000" b="1" dirty="0">
                <a:solidFill>
                  <a:srgbClr val="F1F0EE"/>
                </a:solidFill>
                <a:latin typeface="Calibri" pitchFamily="34" charset="0"/>
                <a:ea typeface="Calibri" pitchFamily="34" charset="-122"/>
                <a:cs typeface="Calibri" pitchFamily="34" charset="-120"/>
              </a:rPr>
              <a:t>Most failed AI projects fail before the model runs.</a:t>
            </a:r>
            <a:endParaRPr lang="en-US" sz="2000" dirty="0"/>
          </a:p>
          <a:p>
            <a:pPr algn="l" indent="0" marL="0">
              <a:spcAft>
                <a:spcPts val="1200"/>
              </a:spcAft>
              <a:buNone/>
            </a:pPr>
            <a:r>
              <a:rPr lang="en-US" sz="2000" dirty="0">
                <a:solidFill>
                  <a:srgbClr val="F1F0EE"/>
                </a:solidFill>
                <a:latin typeface="Calibri" pitchFamily="34" charset="0"/>
                <a:ea typeface="Calibri" pitchFamily="34" charset="-122"/>
                <a:cs typeface="Calibri" pitchFamily="34" charset="-120"/>
              </a:rPr>
              <a:t>Someone bought AI to fix a process they did not understand.</a:t>
            </a:r>
            <a:endParaRPr lang="en-US" sz="2000" dirty="0"/>
          </a:p>
          <a:p>
            <a:pPr algn="l" indent="0" marL="0">
              <a:spcAft>
                <a:spcPts val="1200"/>
              </a:spcAft>
              <a:buNone/>
            </a:pPr>
            <a:r>
              <a:rPr lang="en-US" sz="2000" dirty="0">
                <a:solidFill>
                  <a:srgbClr val="F1F0EE"/>
                </a:solidFill>
                <a:latin typeface="Calibri" pitchFamily="34" charset="0"/>
                <a:ea typeface="Calibri" pitchFamily="34" charset="-122"/>
                <a:cs typeface="Calibri" pitchFamily="34" charset="-120"/>
              </a:rPr>
              <a:t>Measured against a baseline they invented retrospectively.</a:t>
            </a:r>
            <a:endParaRPr lang="en-US" sz="2000" dirty="0"/>
          </a:p>
          <a:p>
            <a:pPr algn="l" indent="0" marL="0">
              <a:buNone/>
            </a:pPr>
            <a:r>
              <a:rPr lang="en-US" sz="2000" i="1" dirty="0">
                <a:solidFill>
                  <a:srgbClr val="2BCFCF"/>
                </a:solidFill>
                <a:latin typeface="Calibri" pitchFamily="34" charset="0"/>
                <a:ea typeface="Calibri" pitchFamily="34" charset="-122"/>
                <a:cs typeface="Calibri" pitchFamily="34" charset="-120"/>
              </a:rPr>
              <a:t>Map the process. Measure it. Then evaluate.</a:t>
            </a:r>
            <a:endParaRPr lang="en-US" sz="2000" dirty="0"/>
          </a:p>
        </p:txBody>
      </p:sp>
      <p:sp>
        <p:nvSpPr>
          <p:cNvPr id="4" name="Shape 2"/>
          <p:cNvSpPr/>
          <p:nvPr/>
        </p:nvSpPr>
        <p:spPr>
          <a:xfrm>
            <a:off x="7589520" y="1554480"/>
            <a:ext cx="4023360" cy="4114800"/>
          </a:xfrm>
          <a:prstGeom prst="rect">
            <a:avLst/>
          </a:prstGeom>
          <a:solidFill>
            <a:srgbClr val="07344F"/>
          </a:solidFill>
          <a:ln w="12700">
            <a:solidFill>
              <a:srgbClr val="07344F"/>
            </a:solidFill>
            <a:prstDash val="solid"/>
          </a:ln>
        </p:spPr>
      </p:sp>
      <p:sp>
        <p:nvSpPr>
          <p:cNvPr id="5" name="Text 3"/>
          <p:cNvSpPr/>
          <p:nvPr/>
        </p:nvSpPr>
        <p:spPr>
          <a:xfrm>
            <a:off x="7589520" y="1737360"/>
            <a:ext cx="4023360" cy="1554480"/>
          </a:xfrm>
          <a:prstGeom prst="rect">
            <a:avLst/>
          </a:prstGeom>
          <a:noFill/>
          <a:ln/>
        </p:spPr>
        <p:txBody>
          <a:bodyPr wrap="square" lIns="0" tIns="0" rIns="0" bIns="0" rtlCol="0" anchor="ctr"/>
          <a:lstStyle/>
          <a:p>
            <a:pPr algn="ctr" indent="0" marL="0">
              <a:buNone/>
            </a:pPr>
            <a:r>
              <a:rPr lang="en-US" sz="11000" b="1" dirty="0">
                <a:solidFill>
                  <a:srgbClr val="2BCFCF"/>
                </a:solidFill>
                <a:latin typeface="Calibri" pitchFamily="34" charset="0"/>
                <a:ea typeface="Calibri" pitchFamily="34" charset="-122"/>
                <a:cs typeface="Calibri" pitchFamily="34" charset="-120"/>
              </a:rPr>
              <a:t>70%</a:t>
            </a:r>
            <a:endParaRPr lang="en-US" sz="11000" dirty="0"/>
          </a:p>
        </p:txBody>
      </p:sp>
      <p:sp>
        <p:nvSpPr>
          <p:cNvPr id="6" name="Text 4"/>
          <p:cNvSpPr/>
          <p:nvPr/>
        </p:nvSpPr>
        <p:spPr>
          <a:xfrm>
            <a:off x="7863840" y="3383280"/>
            <a:ext cx="3474720" cy="1554480"/>
          </a:xfrm>
          <a:prstGeom prst="rect">
            <a:avLst/>
          </a:prstGeom>
          <a:noFill/>
          <a:ln/>
        </p:spPr>
        <p:txBody>
          <a:bodyPr wrap="square" lIns="0" tIns="0" rIns="0" bIns="0" rtlCol="0" anchor="t"/>
          <a:lstStyle/>
          <a:p>
            <a:pPr algn="ctr" indent="0" marL="0">
              <a:buNone/>
            </a:pPr>
            <a:r>
              <a:rPr lang="en-US" sz="1600" dirty="0">
                <a:solidFill>
                  <a:srgbClr val="F1F0EE"/>
                </a:solidFill>
                <a:latin typeface="Calibri" pitchFamily="34" charset="0"/>
                <a:ea typeface="Calibri" pitchFamily="34" charset="-122"/>
                <a:cs typeface="Calibri" pitchFamily="34" charset="-120"/>
              </a:rPr>
              <a:t>of AI project failures trace to data and process problems, not algorithms.</a:t>
            </a:r>
            <a:endParaRPr lang="en-US" sz="1600" dirty="0"/>
          </a:p>
        </p:txBody>
      </p:sp>
      <p:sp>
        <p:nvSpPr>
          <p:cNvPr id="7" name="Text 5"/>
          <p:cNvSpPr/>
          <p:nvPr/>
        </p:nvSpPr>
        <p:spPr>
          <a:xfrm>
            <a:off x="7863840" y="5212080"/>
            <a:ext cx="3474720" cy="365760"/>
          </a:xfrm>
          <a:prstGeom prst="rect">
            <a:avLst/>
          </a:prstGeom>
          <a:noFill/>
          <a:ln/>
        </p:spPr>
        <p:txBody>
          <a:bodyPr wrap="square" lIns="0" tIns="0" rIns="0" bIns="0" rtlCol="0" anchor="ctr"/>
          <a:lstStyle/>
          <a:p>
            <a:pPr algn="ctr" indent="0" marL="0">
              <a:buNone/>
            </a:pPr>
            <a:r>
              <a:rPr lang="en-US" sz="1000" i="1" dirty="0">
                <a:solidFill>
                  <a:srgbClr val="A8B5C2"/>
                </a:solidFill>
                <a:latin typeface="Calibri" pitchFamily="34" charset="0"/>
                <a:ea typeface="Calibri" pitchFamily="34" charset="-122"/>
                <a:cs typeface="Calibri" pitchFamily="34" charset="-120"/>
              </a:rPr>
              <a:t>Gartner, Deloitte, McKinsey</a:t>
            </a:r>
            <a:endParaRPr lang="en-US" sz="1000" dirty="0"/>
          </a:p>
        </p:txBody>
      </p:sp>
      <p:sp>
        <p:nvSpPr>
          <p:cNvPr id="8" name="Text 6"/>
          <p:cNvSpPr/>
          <p:nvPr/>
        </p:nvSpPr>
        <p:spPr>
          <a:xfrm>
            <a:off x="457200" y="6446520"/>
            <a:ext cx="1097280" cy="274320"/>
          </a:xfrm>
          <a:prstGeom prst="rect">
            <a:avLst/>
          </a:prstGeom>
          <a:noFill/>
          <a:ln/>
        </p:spPr>
        <p:txBody>
          <a:bodyPr wrap="square" lIns="0" tIns="0" rIns="0" bIns="0" rtlCol="0" anchor="ctr"/>
          <a:lstStyle/>
          <a:p>
            <a:pPr indent="0" marL="0">
              <a:buNone/>
            </a:pPr>
            <a:r>
              <a:rPr lang="en-US" sz="1100" b="1" dirty="0">
                <a:solidFill>
                  <a:srgbClr val="F1F0EE"/>
                </a:solidFill>
                <a:latin typeface="Calibri" pitchFamily="34" charset="0"/>
                <a:ea typeface="Calibri" pitchFamily="34" charset="-122"/>
                <a:cs typeface="Calibri" pitchFamily="34" charset="-120"/>
              </a:rPr>
              <a:t>WeDo</a:t>
            </a:r>
            <a:pPr indent="0" marL="0">
              <a:buNone/>
            </a:pPr>
            <a:r>
              <a:rPr lang="en-US" sz="1100" b="1" dirty="0">
                <a:solidFill>
                  <a:srgbClr val="2BCFCF"/>
                </a:solidFill>
                <a:latin typeface="Calibri" pitchFamily="34" charset="0"/>
                <a:ea typeface="Calibri" pitchFamily="34" charset="-122"/>
                <a:cs typeface="Calibri" pitchFamily="34" charset="-120"/>
              </a:rPr>
              <a:t>AI</a:t>
            </a:r>
            <a:endParaRPr lang="en-US" sz="1100" dirty="0"/>
          </a:p>
        </p:txBody>
      </p:sp>
      <p:sp>
        <p:nvSpPr>
          <p:cNvPr id="9" name="Text 7"/>
          <p:cNvSpPr/>
          <p:nvPr/>
        </p:nvSpPr>
        <p:spPr>
          <a:xfrm>
            <a:off x="11064240" y="6446520"/>
            <a:ext cx="640080" cy="274320"/>
          </a:xfrm>
          <a:prstGeom prst="rect">
            <a:avLst/>
          </a:prstGeom>
          <a:noFill/>
          <a:ln/>
        </p:spPr>
        <p:txBody>
          <a:bodyPr wrap="square" lIns="0" tIns="0" rIns="0" bIns="0" rtlCol="0" anchor="ctr"/>
          <a:lstStyle/>
          <a:p>
            <a:pPr algn="r" indent="0" marL="0">
              <a:buNone/>
            </a:pPr>
            <a:r>
              <a:rPr lang="en-US" sz="1000" dirty="0">
                <a:solidFill>
                  <a:srgbClr val="A8B5C2"/>
                </a:solidFill>
                <a:latin typeface="Calibri" pitchFamily="34" charset="0"/>
                <a:ea typeface="Calibri" pitchFamily="34" charset="-122"/>
                <a:cs typeface="Calibri" pitchFamily="34" charset="-120"/>
              </a:rPr>
              <a:t>10 / 21</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2A45"/>
        </a:solidFill>
      </p:bgPr>
    </p:bg>
    <p:spTree>
      <p:nvGrpSpPr>
        <p:cNvPr id="1" name=""/>
        <p:cNvGrpSpPr/>
        <p:nvPr/>
      </p:nvGrpSpPr>
      <p:grpSpPr>
        <a:xfrm>
          <a:off x="0" y="0"/>
          <a:ext cx="0" cy="0"/>
          <a:chOff x="0" y="0"/>
          <a:chExt cx="0" cy="0"/>
        </a:xfrm>
      </p:grpSpPr>
      <p:sp>
        <p:nvSpPr>
          <p:cNvPr id="2" name="Text 0"/>
          <p:cNvSpPr/>
          <p:nvPr/>
        </p:nvSpPr>
        <p:spPr>
          <a:xfrm>
            <a:off x="640080" y="457200"/>
            <a:ext cx="10881360" cy="822960"/>
          </a:xfrm>
          <a:prstGeom prst="rect">
            <a:avLst/>
          </a:prstGeom>
          <a:noFill/>
          <a:ln/>
        </p:spPr>
        <p:txBody>
          <a:bodyPr wrap="square" lIns="0" tIns="0" rIns="0" bIns="0" rtlCol="0" anchor="ctr"/>
          <a:lstStyle/>
          <a:p>
            <a:pPr algn="l" indent="0" marL="0">
              <a:buNone/>
            </a:pPr>
            <a:r>
              <a:rPr lang="en-US" sz="3200" b="1" dirty="0">
                <a:solidFill>
                  <a:srgbClr val="F1F0EE"/>
                </a:solidFill>
                <a:latin typeface="Calibri" pitchFamily="34" charset="0"/>
                <a:ea typeface="Calibri" pitchFamily="34" charset="-122"/>
                <a:cs typeface="Calibri" pitchFamily="34" charset="-120"/>
              </a:rPr>
              <a:t>AI on a silo gives you a faster silo.</a:t>
            </a:r>
            <a:endParaRPr lang="en-US" sz="3200" dirty="0"/>
          </a:p>
        </p:txBody>
      </p:sp>
      <p:sp>
        <p:nvSpPr>
          <p:cNvPr id="3" name="Shape 1"/>
          <p:cNvSpPr/>
          <p:nvPr/>
        </p:nvSpPr>
        <p:spPr>
          <a:xfrm>
            <a:off x="640080" y="1554480"/>
            <a:ext cx="3444240" cy="1463040"/>
          </a:xfrm>
          <a:prstGeom prst="rect">
            <a:avLst/>
          </a:prstGeom>
          <a:solidFill>
            <a:srgbClr val="07344F"/>
          </a:solidFill>
          <a:ln w="12700">
            <a:solidFill>
              <a:srgbClr val="07344F"/>
            </a:solidFill>
            <a:prstDash val="solid"/>
          </a:ln>
        </p:spPr>
      </p:sp>
      <p:sp>
        <p:nvSpPr>
          <p:cNvPr id="4" name="Text 2"/>
          <p:cNvSpPr/>
          <p:nvPr/>
        </p:nvSpPr>
        <p:spPr>
          <a:xfrm>
            <a:off x="914400" y="1783080"/>
            <a:ext cx="2895600" cy="457200"/>
          </a:xfrm>
          <a:prstGeom prst="rect">
            <a:avLst/>
          </a:prstGeom>
          <a:noFill/>
          <a:ln/>
        </p:spPr>
        <p:txBody>
          <a:bodyPr wrap="square" lIns="0" tIns="0" rIns="0" bIns="0" rtlCol="0" anchor="ctr"/>
          <a:lstStyle/>
          <a:p>
            <a:pPr indent="0" marL="0">
              <a:buNone/>
            </a:pPr>
            <a:r>
              <a:rPr lang="en-US" sz="1400" b="1" spc="400" kern="0" dirty="0">
                <a:solidFill>
                  <a:srgbClr val="2BCFCF"/>
                </a:solidFill>
                <a:latin typeface="Calibri" pitchFamily="34" charset="0"/>
                <a:ea typeface="Calibri" pitchFamily="34" charset="-122"/>
                <a:cs typeface="Calibri" pitchFamily="34" charset="-120"/>
              </a:rPr>
              <a:t>CONTACT CENTRE</a:t>
            </a:r>
            <a:endParaRPr lang="en-US" sz="1400" dirty="0"/>
          </a:p>
        </p:txBody>
      </p:sp>
      <p:sp>
        <p:nvSpPr>
          <p:cNvPr id="5" name="Text 3"/>
          <p:cNvSpPr/>
          <p:nvPr/>
        </p:nvSpPr>
        <p:spPr>
          <a:xfrm>
            <a:off x="914400" y="2286000"/>
            <a:ext cx="2895600" cy="640080"/>
          </a:xfrm>
          <a:prstGeom prst="rect">
            <a:avLst/>
          </a:prstGeom>
          <a:noFill/>
          <a:ln/>
        </p:spPr>
        <p:txBody>
          <a:bodyPr wrap="square" lIns="0" tIns="0" rIns="0" bIns="0" rtlCol="0" anchor="t"/>
          <a:lstStyle/>
          <a:p>
            <a:pPr indent="0" marL="0">
              <a:buNone/>
            </a:pPr>
            <a:r>
              <a:rPr lang="en-US" sz="1400" dirty="0">
                <a:solidFill>
                  <a:srgbClr val="F1F0EE"/>
                </a:solidFill>
                <a:latin typeface="Calibri" pitchFamily="34" charset="0"/>
                <a:ea typeface="Calibri" pitchFamily="34" charset="-122"/>
                <a:cs typeface="Calibri" pitchFamily="34" charset="-120"/>
              </a:rPr>
              <a:t>Calls, transcripts, sentiment</a:t>
            </a:r>
            <a:endParaRPr lang="en-US" sz="1400" dirty="0"/>
          </a:p>
        </p:txBody>
      </p:sp>
      <p:sp>
        <p:nvSpPr>
          <p:cNvPr id="6" name="Shape 4"/>
          <p:cNvSpPr/>
          <p:nvPr/>
        </p:nvSpPr>
        <p:spPr>
          <a:xfrm>
            <a:off x="4358640" y="1554480"/>
            <a:ext cx="3444240" cy="1463040"/>
          </a:xfrm>
          <a:prstGeom prst="rect">
            <a:avLst/>
          </a:prstGeom>
          <a:solidFill>
            <a:srgbClr val="07344F"/>
          </a:solidFill>
          <a:ln w="12700">
            <a:solidFill>
              <a:srgbClr val="07344F"/>
            </a:solidFill>
            <a:prstDash val="solid"/>
          </a:ln>
        </p:spPr>
      </p:sp>
      <p:sp>
        <p:nvSpPr>
          <p:cNvPr id="7" name="Text 5"/>
          <p:cNvSpPr/>
          <p:nvPr/>
        </p:nvSpPr>
        <p:spPr>
          <a:xfrm>
            <a:off x="4632960" y="1783080"/>
            <a:ext cx="2895600" cy="457200"/>
          </a:xfrm>
          <a:prstGeom prst="rect">
            <a:avLst/>
          </a:prstGeom>
          <a:noFill/>
          <a:ln/>
        </p:spPr>
        <p:txBody>
          <a:bodyPr wrap="square" lIns="0" tIns="0" rIns="0" bIns="0" rtlCol="0" anchor="ctr"/>
          <a:lstStyle/>
          <a:p>
            <a:pPr indent="0" marL="0">
              <a:buNone/>
            </a:pPr>
            <a:r>
              <a:rPr lang="en-US" sz="1400" b="1" spc="400" kern="0" dirty="0">
                <a:solidFill>
                  <a:srgbClr val="2BCFCF"/>
                </a:solidFill>
                <a:latin typeface="Calibri" pitchFamily="34" charset="0"/>
                <a:ea typeface="Calibri" pitchFamily="34" charset="-122"/>
                <a:cs typeface="Calibri" pitchFamily="34" charset="-120"/>
              </a:rPr>
              <a:t>CRM</a:t>
            </a:r>
            <a:endParaRPr lang="en-US" sz="1400" dirty="0"/>
          </a:p>
        </p:txBody>
      </p:sp>
      <p:sp>
        <p:nvSpPr>
          <p:cNvPr id="8" name="Text 6"/>
          <p:cNvSpPr/>
          <p:nvPr/>
        </p:nvSpPr>
        <p:spPr>
          <a:xfrm>
            <a:off x="4632960" y="2286000"/>
            <a:ext cx="2895600" cy="640080"/>
          </a:xfrm>
          <a:prstGeom prst="rect">
            <a:avLst/>
          </a:prstGeom>
          <a:noFill/>
          <a:ln/>
        </p:spPr>
        <p:txBody>
          <a:bodyPr wrap="square" lIns="0" tIns="0" rIns="0" bIns="0" rtlCol="0" anchor="t"/>
          <a:lstStyle/>
          <a:p>
            <a:pPr indent="0" marL="0">
              <a:buNone/>
            </a:pPr>
            <a:r>
              <a:rPr lang="en-US" sz="1400" dirty="0">
                <a:solidFill>
                  <a:srgbClr val="F1F0EE"/>
                </a:solidFill>
                <a:latin typeface="Calibri" pitchFamily="34" charset="0"/>
                <a:ea typeface="Calibri" pitchFamily="34" charset="-122"/>
                <a:cs typeface="Calibri" pitchFamily="34" charset="-120"/>
              </a:rPr>
              <a:t>Customer demographics and history</a:t>
            </a:r>
            <a:endParaRPr lang="en-US" sz="1400" dirty="0"/>
          </a:p>
        </p:txBody>
      </p:sp>
      <p:sp>
        <p:nvSpPr>
          <p:cNvPr id="9" name="Shape 7"/>
          <p:cNvSpPr/>
          <p:nvPr/>
        </p:nvSpPr>
        <p:spPr>
          <a:xfrm>
            <a:off x="8077200" y="1554480"/>
            <a:ext cx="3444240" cy="1463040"/>
          </a:xfrm>
          <a:prstGeom prst="rect">
            <a:avLst/>
          </a:prstGeom>
          <a:solidFill>
            <a:srgbClr val="07344F"/>
          </a:solidFill>
          <a:ln w="12700">
            <a:solidFill>
              <a:srgbClr val="07344F"/>
            </a:solidFill>
            <a:prstDash val="solid"/>
          </a:ln>
        </p:spPr>
      </p:sp>
      <p:sp>
        <p:nvSpPr>
          <p:cNvPr id="10" name="Text 8"/>
          <p:cNvSpPr/>
          <p:nvPr/>
        </p:nvSpPr>
        <p:spPr>
          <a:xfrm>
            <a:off x="8351520" y="1783080"/>
            <a:ext cx="2895600" cy="457200"/>
          </a:xfrm>
          <a:prstGeom prst="rect">
            <a:avLst/>
          </a:prstGeom>
          <a:noFill/>
          <a:ln/>
        </p:spPr>
        <p:txBody>
          <a:bodyPr wrap="square" lIns="0" tIns="0" rIns="0" bIns="0" rtlCol="0" anchor="ctr"/>
          <a:lstStyle/>
          <a:p>
            <a:pPr indent="0" marL="0">
              <a:buNone/>
            </a:pPr>
            <a:r>
              <a:rPr lang="en-US" sz="1400" b="1" spc="400" kern="0" dirty="0">
                <a:solidFill>
                  <a:srgbClr val="2BCFCF"/>
                </a:solidFill>
                <a:latin typeface="Calibri" pitchFamily="34" charset="0"/>
                <a:ea typeface="Calibri" pitchFamily="34" charset="-122"/>
                <a:cs typeface="Calibri" pitchFamily="34" charset="-120"/>
              </a:rPr>
              <a:t>CLAIMS</a:t>
            </a:r>
            <a:endParaRPr lang="en-US" sz="1400" dirty="0"/>
          </a:p>
        </p:txBody>
      </p:sp>
      <p:sp>
        <p:nvSpPr>
          <p:cNvPr id="11" name="Text 9"/>
          <p:cNvSpPr/>
          <p:nvPr/>
        </p:nvSpPr>
        <p:spPr>
          <a:xfrm>
            <a:off x="8351520" y="2286000"/>
            <a:ext cx="2895600" cy="640080"/>
          </a:xfrm>
          <a:prstGeom prst="rect">
            <a:avLst/>
          </a:prstGeom>
          <a:noFill/>
          <a:ln/>
        </p:spPr>
        <p:txBody>
          <a:bodyPr wrap="square" lIns="0" tIns="0" rIns="0" bIns="0" rtlCol="0" anchor="t"/>
          <a:lstStyle/>
          <a:p>
            <a:pPr indent="0" marL="0">
              <a:buNone/>
            </a:pPr>
            <a:r>
              <a:rPr lang="en-US" sz="1400" dirty="0">
                <a:solidFill>
                  <a:srgbClr val="F1F0EE"/>
                </a:solidFill>
                <a:latin typeface="Calibri" pitchFamily="34" charset="0"/>
                <a:ea typeface="Calibri" pitchFamily="34" charset="-122"/>
                <a:cs typeface="Calibri" pitchFamily="34" charset="-120"/>
              </a:rPr>
              <a:t>Outcomes and resolution data</a:t>
            </a:r>
            <a:endParaRPr lang="en-US" sz="1400" dirty="0"/>
          </a:p>
        </p:txBody>
      </p:sp>
      <p:sp>
        <p:nvSpPr>
          <p:cNvPr id="12" name="Shape 10"/>
          <p:cNvSpPr/>
          <p:nvPr/>
        </p:nvSpPr>
        <p:spPr>
          <a:xfrm>
            <a:off x="640080" y="3657600"/>
            <a:ext cx="10881360" cy="914400"/>
          </a:xfrm>
          <a:prstGeom prst="rect">
            <a:avLst/>
          </a:prstGeom>
          <a:solidFill>
            <a:srgbClr val="0B2A45"/>
          </a:solidFill>
          <a:ln w="19050">
            <a:solidFill>
              <a:srgbClr val="2BCFCF"/>
            </a:solidFill>
            <a:prstDash val="solid"/>
          </a:ln>
        </p:spPr>
      </p:sp>
      <p:sp>
        <p:nvSpPr>
          <p:cNvPr id="13" name="Text 11"/>
          <p:cNvSpPr/>
          <p:nvPr/>
        </p:nvSpPr>
        <p:spPr>
          <a:xfrm>
            <a:off x="640080" y="3703320"/>
            <a:ext cx="10881360" cy="365760"/>
          </a:xfrm>
          <a:prstGeom prst="rect">
            <a:avLst/>
          </a:prstGeom>
          <a:noFill/>
          <a:ln/>
        </p:spPr>
        <p:txBody>
          <a:bodyPr wrap="square" lIns="0" tIns="0" rIns="0" bIns="0" rtlCol="0" anchor="ctr"/>
          <a:lstStyle/>
          <a:p>
            <a:pPr algn="ctr" indent="0" marL="0">
              <a:buNone/>
            </a:pPr>
            <a:r>
              <a:rPr lang="en-US" sz="1800" b="1" dirty="0">
                <a:solidFill>
                  <a:srgbClr val="F1F0EE"/>
                </a:solidFill>
                <a:latin typeface="Calibri" pitchFamily="34" charset="0"/>
                <a:ea typeface="Calibri" pitchFamily="34" charset="-122"/>
                <a:cs typeface="Calibri" pitchFamily="34" charset="-120"/>
              </a:rPr>
              <a:t>Why are these customers calling?</a:t>
            </a:r>
            <a:endParaRPr lang="en-US" sz="1800" dirty="0"/>
          </a:p>
        </p:txBody>
      </p:sp>
      <p:sp>
        <p:nvSpPr>
          <p:cNvPr id="14" name="Text 12"/>
          <p:cNvSpPr/>
          <p:nvPr/>
        </p:nvSpPr>
        <p:spPr>
          <a:xfrm>
            <a:off x="640080" y="4114800"/>
            <a:ext cx="10881360" cy="365760"/>
          </a:xfrm>
          <a:prstGeom prst="rect">
            <a:avLst/>
          </a:prstGeom>
          <a:noFill/>
          <a:ln/>
        </p:spPr>
        <p:txBody>
          <a:bodyPr wrap="square" lIns="0" tIns="0" rIns="0" bIns="0" rtlCol="0" anchor="ctr"/>
          <a:lstStyle/>
          <a:p>
            <a:pPr algn="ctr" indent="0" marL="0">
              <a:buNone/>
            </a:pPr>
            <a:r>
              <a:rPr lang="en-US" sz="1400" i="1" dirty="0">
                <a:solidFill>
                  <a:srgbClr val="2BCFCF"/>
                </a:solidFill>
                <a:latin typeface="Calibri" pitchFamily="34" charset="0"/>
                <a:ea typeface="Calibri" pitchFamily="34" charset="-122"/>
                <a:cs typeface="Calibri" pitchFamily="34" charset="-120"/>
              </a:rPr>
              <a:t>Needs contact centre + CRM + claims, joined and consented.</a:t>
            </a:r>
            <a:endParaRPr lang="en-US" sz="1400" dirty="0"/>
          </a:p>
        </p:txBody>
      </p:sp>
      <p:sp>
        <p:nvSpPr>
          <p:cNvPr id="15" name="Text 13"/>
          <p:cNvSpPr/>
          <p:nvPr/>
        </p:nvSpPr>
        <p:spPr>
          <a:xfrm>
            <a:off x="640080" y="4937760"/>
            <a:ext cx="10881360" cy="731520"/>
          </a:xfrm>
          <a:prstGeom prst="rect">
            <a:avLst/>
          </a:prstGeom>
          <a:noFill/>
          <a:ln/>
        </p:spPr>
        <p:txBody>
          <a:bodyPr wrap="square" lIns="0" tIns="0" rIns="0" bIns="0" rtlCol="0" anchor="t"/>
          <a:lstStyle/>
          <a:p>
            <a:pPr algn="ctr" indent="0" marL="0">
              <a:buNone/>
            </a:pPr>
            <a:r>
              <a:rPr lang="en-US" sz="1700" i="1" dirty="0">
                <a:solidFill>
                  <a:srgbClr val="F1F0EE"/>
                </a:solidFill>
                <a:latin typeface="Calibri" pitchFamily="34" charset="0"/>
                <a:ea typeface="Calibri" pitchFamily="34" charset="-122"/>
                <a:cs typeface="Calibri" pitchFamily="34" charset="-120"/>
              </a:rPr>
              <a:t>The vendor demos on one. The answer requires all three. You almost certainly do not have them joined.</a:t>
            </a:r>
            <a:endParaRPr lang="en-US" sz="1700" dirty="0"/>
          </a:p>
        </p:txBody>
      </p:sp>
      <p:sp>
        <p:nvSpPr>
          <p:cNvPr id="16" name="Text 14"/>
          <p:cNvSpPr/>
          <p:nvPr/>
        </p:nvSpPr>
        <p:spPr>
          <a:xfrm>
            <a:off x="640080" y="5852160"/>
            <a:ext cx="10881360" cy="274320"/>
          </a:xfrm>
          <a:prstGeom prst="rect">
            <a:avLst/>
          </a:prstGeom>
          <a:noFill/>
          <a:ln/>
        </p:spPr>
        <p:txBody>
          <a:bodyPr wrap="square" lIns="0" tIns="0" rIns="0" bIns="0" rtlCol="0" anchor="ctr"/>
          <a:lstStyle/>
          <a:p>
            <a:pPr algn="ctr" indent="0" marL="0">
              <a:buNone/>
            </a:pPr>
            <a:r>
              <a:rPr lang="en-US" sz="1100" i="1" dirty="0">
                <a:solidFill>
                  <a:srgbClr val="A8B5C2"/>
                </a:solidFill>
                <a:latin typeface="Calibri" pitchFamily="34" charset="0"/>
                <a:ea typeface="Calibri" pitchFamily="34" charset="-122"/>
                <a:cs typeface="Calibri" pitchFamily="34" charset="-120"/>
              </a:rPr>
              <a:t>60% of AI projects without AI-ready data are abandoned (Gartner, through 2026).</a:t>
            </a:r>
            <a:endParaRPr lang="en-US" sz="1100" dirty="0"/>
          </a:p>
        </p:txBody>
      </p:sp>
      <p:sp>
        <p:nvSpPr>
          <p:cNvPr id="17" name="Text 15"/>
          <p:cNvSpPr/>
          <p:nvPr/>
        </p:nvSpPr>
        <p:spPr>
          <a:xfrm>
            <a:off x="457200" y="6446520"/>
            <a:ext cx="1097280" cy="274320"/>
          </a:xfrm>
          <a:prstGeom prst="rect">
            <a:avLst/>
          </a:prstGeom>
          <a:noFill/>
          <a:ln/>
        </p:spPr>
        <p:txBody>
          <a:bodyPr wrap="square" lIns="0" tIns="0" rIns="0" bIns="0" rtlCol="0" anchor="ctr"/>
          <a:lstStyle/>
          <a:p>
            <a:pPr indent="0" marL="0">
              <a:buNone/>
            </a:pPr>
            <a:r>
              <a:rPr lang="en-US" sz="1100" b="1" dirty="0">
                <a:solidFill>
                  <a:srgbClr val="F1F0EE"/>
                </a:solidFill>
                <a:latin typeface="Calibri" pitchFamily="34" charset="0"/>
                <a:ea typeface="Calibri" pitchFamily="34" charset="-122"/>
                <a:cs typeface="Calibri" pitchFamily="34" charset="-120"/>
              </a:rPr>
              <a:t>WeDo</a:t>
            </a:r>
            <a:pPr indent="0" marL="0">
              <a:buNone/>
            </a:pPr>
            <a:r>
              <a:rPr lang="en-US" sz="1100" b="1" dirty="0">
                <a:solidFill>
                  <a:srgbClr val="2BCFCF"/>
                </a:solidFill>
                <a:latin typeface="Calibri" pitchFamily="34" charset="0"/>
                <a:ea typeface="Calibri" pitchFamily="34" charset="-122"/>
                <a:cs typeface="Calibri" pitchFamily="34" charset="-120"/>
              </a:rPr>
              <a:t>AI</a:t>
            </a:r>
            <a:endParaRPr lang="en-US" sz="1100" dirty="0"/>
          </a:p>
        </p:txBody>
      </p:sp>
      <p:sp>
        <p:nvSpPr>
          <p:cNvPr id="18" name="Text 16"/>
          <p:cNvSpPr/>
          <p:nvPr/>
        </p:nvSpPr>
        <p:spPr>
          <a:xfrm>
            <a:off x="11064240" y="6446520"/>
            <a:ext cx="640080" cy="274320"/>
          </a:xfrm>
          <a:prstGeom prst="rect">
            <a:avLst/>
          </a:prstGeom>
          <a:noFill/>
          <a:ln/>
        </p:spPr>
        <p:txBody>
          <a:bodyPr wrap="square" lIns="0" tIns="0" rIns="0" bIns="0" rtlCol="0" anchor="ctr"/>
          <a:lstStyle/>
          <a:p>
            <a:pPr algn="r" indent="0" marL="0">
              <a:buNone/>
            </a:pPr>
            <a:r>
              <a:rPr lang="en-US" sz="1000" dirty="0">
                <a:solidFill>
                  <a:srgbClr val="A8B5C2"/>
                </a:solidFill>
                <a:latin typeface="Calibri" pitchFamily="34" charset="0"/>
                <a:ea typeface="Calibri" pitchFamily="34" charset="-122"/>
                <a:cs typeface="Calibri" pitchFamily="34" charset="-120"/>
              </a:rPr>
              <a:t>11 / 21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2A45"/>
        </a:solidFill>
      </p:bgPr>
    </p:bg>
    <p:spTree>
      <p:nvGrpSpPr>
        <p:cNvPr id="1" name=""/>
        <p:cNvGrpSpPr/>
        <p:nvPr/>
      </p:nvGrpSpPr>
      <p:grpSpPr>
        <a:xfrm>
          <a:off x="0" y="0"/>
          <a:ext cx="0" cy="0"/>
          <a:chOff x="0" y="0"/>
          <a:chExt cx="0" cy="0"/>
        </a:xfrm>
      </p:grpSpPr>
      <p:sp>
        <p:nvSpPr>
          <p:cNvPr id="2" name="Text 0"/>
          <p:cNvSpPr/>
          <p:nvPr/>
        </p:nvSpPr>
        <p:spPr>
          <a:xfrm>
            <a:off x="640080" y="457200"/>
            <a:ext cx="10881360" cy="822960"/>
          </a:xfrm>
          <a:prstGeom prst="rect">
            <a:avLst/>
          </a:prstGeom>
          <a:noFill/>
          <a:ln/>
        </p:spPr>
        <p:txBody>
          <a:bodyPr wrap="square" lIns="0" tIns="0" rIns="0" bIns="0" rtlCol="0" anchor="ctr"/>
          <a:lstStyle/>
          <a:p>
            <a:pPr algn="l" indent="0" marL="0">
              <a:buNone/>
            </a:pPr>
            <a:r>
              <a:rPr lang="en-US" sz="3200" b="1" dirty="0">
                <a:solidFill>
                  <a:srgbClr val="F1F0EE"/>
                </a:solidFill>
                <a:latin typeface="Calibri" pitchFamily="34" charset="0"/>
                <a:ea typeface="Calibri" pitchFamily="34" charset="-122"/>
                <a:cs typeface="Calibri" pitchFamily="34" charset="-120"/>
              </a:rPr>
              <a:t>People are not a project plan tick-box.</a:t>
            </a:r>
            <a:endParaRPr lang="en-US" sz="3200" dirty="0"/>
          </a:p>
        </p:txBody>
      </p:sp>
      <p:sp>
        <p:nvSpPr>
          <p:cNvPr id="3" name="Text 1"/>
          <p:cNvSpPr/>
          <p:nvPr/>
        </p:nvSpPr>
        <p:spPr>
          <a:xfrm>
            <a:off x="640080" y="1554480"/>
            <a:ext cx="6400800" cy="4114800"/>
          </a:xfrm>
          <a:prstGeom prst="rect">
            <a:avLst/>
          </a:prstGeom>
          <a:noFill/>
          <a:ln/>
        </p:spPr>
        <p:txBody>
          <a:bodyPr wrap="square" lIns="0" tIns="0" rIns="0" bIns="0" rtlCol="0" anchor="t"/>
          <a:lstStyle/>
          <a:p>
            <a:pPr algn="l" indent="0" marL="0">
              <a:spcAft>
                <a:spcPts val="1000"/>
              </a:spcAft>
              <a:buNone/>
            </a:pPr>
            <a:r>
              <a:rPr lang="en-US" sz="1800" b="1" dirty="0">
                <a:solidFill>
                  <a:srgbClr val="F1F0EE"/>
                </a:solidFill>
                <a:latin typeface="Calibri" pitchFamily="34" charset="0"/>
                <a:ea typeface="Calibri" pitchFamily="34" charset="-122"/>
                <a:cs typeface="Calibri" pitchFamily="34" charset="-120"/>
              </a:rPr>
              <a:t>The biggest barrier to AI integration is not technology.</a:t>
            </a:r>
            <a:endParaRPr lang="en-US" sz="1800" dirty="0"/>
          </a:p>
          <a:p>
            <a:pPr algn="l" indent="0" marL="0">
              <a:spcAft>
                <a:spcPts val="1400"/>
              </a:spcAft>
              <a:buNone/>
            </a:pPr>
            <a:r>
              <a:rPr lang="en-US" sz="1800" b="1" dirty="0">
                <a:solidFill>
                  <a:srgbClr val="2BCFCF"/>
                </a:solidFill>
                <a:latin typeface="Calibri" pitchFamily="34" charset="0"/>
                <a:ea typeface="Calibri" pitchFamily="34" charset="-122"/>
                <a:cs typeface="Calibri" pitchFamily="34" charset="-120"/>
              </a:rPr>
              <a:t>It is workforce capability.</a:t>
            </a:r>
            <a:endParaRPr lang="en-US" sz="1800" dirty="0"/>
          </a:p>
          <a:p>
            <a:pPr algn="l" indent="0" marL="0">
              <a:spcAft>
                <a:spcPts val="1000"/>
              </a:spcAft>
              <a:buNone/>
            </a:pPr>
            <a:r>
              <a:rPr lang="en-US" sz="1800" dirty="0">
                <a:solidFill>
                  <a:srgbClr val="F1F0EE"/>
                </a:solidFill>
                <a:latin typeface="Calibri" pitchFamily="34" charset="0"/>
                <a:ea typeface="Calibri" pitchFamily="34" charset="-122"/>
                <a:cs typeface="Calibri" pitchFamily="34" charset="-120"/>
              </a:rPr>
              <a:t>Education is not onboarding. It is ongoing.</a:t>
            </a:r>
            <a:endParaRPr lang="en-US" sz="1800" dirty="0"/>
          </a:p>
          <a:p>
            <a:pPr algn="l" indent="0" marL="0">
              <a:spcAft>
                <a:spcPts val="1000"/>
              </a:spcAft>
              <a:buNone/>
            </a:pPr>
            <a:r>
              <a:rPr lang="en-US" sz="1800" dirty="0">
                <a:solidFill>
                  <a:srgbClr val="F1F0EE"/>
                </a:solidFill>
                <a:latin typeface="Calibri" pitchFamily="34" charset="0"/>
                <a:ea typeface="Calibri" pitchFamily="34" charset="-122"/>
                <a:cs typeface="Calibri" pitchFamily="34" charset="-120"/>
              </a:rPr>
              <a:t>Teams need to understand what we measure, why it matters, and how to interpret what the data is telling us.</a:t>
            </a:r>
            <a:endParaRPr lang="en-US" sz="1800" dirty="0"/>
          </a:p>
          <a:p>
            <a:pPr algn="l" indent="0" marL="0">
              <a:buNone/>
            </a:pPr>
            <a:r>
              <a:rPr lang="en-US" sz="1800" dirty="0">
                <a:solidFill>
                  <a:srgbClr val="F1F0EE"/>
                </a:solidFill>
                <a:latin typeface="Calibri" pitchFamily="34" charset="0"/>
                <a:ea typeface="Calibri" pitchFamily="34" charset="-122"/>
                <a:cs typeface="Calibri" pitchFamily="34" charset="-120"/>
              </a:rPr>
              <a:t>Skills shift. So does the curriculum.</a:t>
            </a:r>
            <a:endParaRPr lang="en-US" sz="1800" dirty="0"/>
          </a:p>
        </p:txBody>
      </p:sp>
      <p:sp>
        <p:nvSpPr>
          <p:cNvPr id="4" name="Shape 2"/>
          <p:cNvSpPr/>
          <p:nvPr/>
        </p:nvSpPr>
        <p:spPr>
          <a:xfrm>
            <a:off x="7589520" y="1554480"/>
            <a:ext cx="4023360" cy="1325880"/>
          </a:xfrm>
          <a:prstGeom prst="rect">
            <a:avLst/>
          </a:prstGeom>
          <a:solidFill>
            <a:srgbClr val="07344F"/>
          </a:solidFill>
          <a:ln w="12700">
            <a:solidFill>
              <a:srgbClr val="07344F"/>
            </a:solidFill>
            <a:prstDash val="solid"/>
          </a:ln>
        </p:spPr>
      </p:sp>
      <p:sp>
        <p:nvSpPr>
          <p:cNvPr id="5" name="Text 3"/>
          <p:cNvSpPr/>
          <p:nvPr/>
        </p:nvSpPr>
        <p:spPr>
          <a:xfrm>
            <a:off x="7726680" y="1691640"/>
            <a:ext cx="1188720" cy="1051560"/>
          </a:xfrm>
          <a:prstGeom prst="rect">
            <a:avLst/>
          </a:prstGeom>
          <a:noFill/>
          <a:ln/>
        </p:spPr>
        <p:txBody>
          <a:bodyPr wrap="square" lIns="0" tIns="0" rIns="0" bIns="0" rtlCol="0" anchor="ctr"/>
          <a:lstStyle/>
          <a:p>
            <a:pPr algn="ctr" indent="0" marL="0">
              <a:buNone/>
            </a:pPr>
            <a:r>
              <a:rPr lang="en-US" sz="3800" b="1" dirty="0">
                <a:solidFill>
                  <a:srgbClr val="2BCFCF"/>
                </a:solidFill>
                <a:latin typeface="Calibri" pitchFamily="34" charset="0"/>
                <a:ea typeface="Calibri" pitchFamily="34" charset="-122"/>
                <a:cs typeface="Calibri" pitchFamily="34" charset="-120"/>
              </a:rPr>
              <a:t>59%</a:t>
            </a:r>
            <a:endParaRPr lang="en-US" sz="3800" dirty="0"/>
          </a:p>
        </p:txBody>
      </p:sp>
      <p:sp>
        <p:nvSpPr>
          <p:cNvPr id="6" name="Text 4"/>
          <p:cNvSpPr/>
          <p:nvPr/>
        </p:nvSpPr>
        <p:spPr>
          <a:xfrm>
            <a:off x="8961120" y="1737360"/>
            <a:ext cx="2514600" cy="822960"/>
          </a:xfrm>
          <a:prstGeom prst="rect">
            <a:avLst/>
          </a:prstGeom>
          <a:noFill/>
          <a:ln/>
        </p:spPr>
        <p:txBody>
          <a:bodyPr wrap="square" lIns="0" tIns="0" rIns="0" bIns="0" rtlCol="0" anchor="t"/>
          <a:lstStyle/>
          <a:p>
            <a:pPr algn="l" indent="0" marL="0">
              <a:buNone/>
            </a:pPr>
            <a:r>
              <a:rPr lang="en-US" sz="1200" dirty="0">
                <a:solidFill>
                  <a:srgbClr val="F1F0EE"/>
                </a:solidFill>
                <a:latin typeface="Calibri" pitchFamily="34" charset="0"/>
                <a:ea typeface="Calibri" pitchFamily="34" charset="-122"/>
                <a:cs typeface="Calibri" pitchFamily="34" charset="-120"/>
              </a:rPr>
              <a:t>report an AI skills gap, despite 82% providing some training</a:t>
            </a:r>
            <a:endParaRPr lang="en-US" sz="1200" dirty="0"/>
          </a:p>
        </p:txBody>
      </p:sp>
      <p:sp>
        <p:nvSpPr>
          <p:cNvPr id="7" name="Text 5"/>
          <p:cNvSpPr/>
          <p:nvPr/>
        </p:nvSpPr>
        <p:spPr>
          <a:xfrm>
            <a:off x="8961120" y="2514600"/>
            <a:ext cx="2514600" cy="274320"/>
          </a:xfrm>
          <a:prstGeom prst="rect">
            <a:avLst/>
          </a:prstGeom>
          <a:noFill/>
          <a:ln/>
        </p:spPr>
        <p:txBody>
          <a:bodyPr wrap="square" lIns="0" tIns="0" rIns="0" bIns="0" rtlCol="0" anchor="ctr"/>
          <a:lstStyle/>
          <a:p>
            <a:pPr algn="l" indent="0" marL="0">
              <a:buNone/>
            </a:pPr>
            <a:r>
              <a:rPr lang="en-US" sz="900" i="1" dirty="0">
                <a:solidFill>
                  <a:srgbClr val="A8B5C2"/>
                </a:solidFill>
                <a:latin typeface="Calibri" pitchFamily="34" charset="0"/>
                <a:ea typeface="Calibri" pitchFamily="34" charset="-122"/>
                <a:cs typeface="Calibri" pitchFamily="34" charset="-120"/>
              </a:rPr>
              <a:t>DataCamp 2026</a:t>
            </a:r>
            <a:endParaRPr lang="en-US" sz="900" dirty="0"/>
          </a:p>
        </p:txBody>
      </p:sp>
      <p:sp>
        <p:nvSpPr>
          <p:cNvPr id="8" name="Shape 6"/>
          <p:cNvSpPr/>
          <p:nvPr/>
        </p:nvSpPr>
        <p:spPr>
          <a:xfrm>
            <a:off x="7589520" y="3017520"/>
            <a:ext cx="4023360" cy="1325880"/>
          </a:xfrm>
          <a:prstGeom prst="rect">
            <a:avLst/>
          </a:prstGeom>
          <a:solidFill>
            <a:srgbClr val="07344F"/>
          </a:solidFill>
          <a:ln w="12700">
            <a:solidFill>
              <a:srgbClr val="07344F"/>
            </a:solidFill>
            <a:prstDash val="solid"/>
          </a:ln>
        </p:spPr>
      </p:sp>
      <p:sp>
        <p:nvSpPr>
          <p:cNvPr id="9" name="Text 7"/>
          <p:cNvSpPr/>
          <p:nvPr/>
        </p:nvSpPr>
        <p:spPr>
          <a:xfrm>
            <a:off x="7726680" y="3154680"/>
            <a:ext cx="1188720" cy="1051560"/>
          </a:xfrm>
          <a:prstGeom prst="rect">
            <a:avLst/>
          </a:prstGeom>
          <a:noFill/>
          <a:ln/>
        </p:spPr>
        <p:txBody>
          <a:bodyPr wrap="square" lIns="0" tIns="0" rIns="0" bIns="0" rtlCol="0" anchor="ctr"/>
          <a:lstStyle/>
          <a:p>
            <a:pPr algn="ctr" indent="0" marL="0">
              <a:buNone/>
            </a:pPr>
            <a:r>
              <a:rPr lang="en-US" sz="3800" b="1" dirty="0">
                <a:solidFill>
                  <a:srgbClr val="2BCFCF"/>
                </a:solidFill>
                <a:latin typeface="Calibri" pitchFamily="34" charset="0"/>
                <a:ea typeface="Calibri" pitchFamily="34" charset="-122"/>
                <a:cs typeface="Calibri" pitchFamily="34" charset="-120"/>
              </a:rPr>
              <a:t>26%</a:t>
            </a:r>
            <a:endParaRPr lang="en-US" sz="3800" dirty="0"/>
          </a:p>
        </p:txBody>
      </p:sp>
      <p:sp>
        <p:nvSpPr>
          <p:cNvPr id="10" name="Text 8"/>
          <p:cNvSpPr/>
          <p:nvPr/>
        </p:nvSpPr>
        <p:spPr>
          <a:xfrm>
            <a:off x="8961120" y="3200400"/>
            <a:ext cx="2514600" cy="822960"/>
          </a:xfrm>
          <a:prstGeom prst="rect">
            <a:avLst/>
          </a:prstGeom>
          <a:noFill/>
          <a:ln/>
        </p:spPr>
        <p:txBody>
          <a:bodyPr wrap="square" lIns="0" tIns="0" rIns="0" bIns="0" rtlCol="0" anchor="t"/>
          <a:lstStyle/>
          <a:p>
            <a:pPr algn="l" indent="0" marL="0">
              <a:buNone/>
            </a:pPr>
            <a:r>
              <a:rPr lang="en-US" sz="1200" dirty="0">
                <a:solidFill>
                  <a:srgbClr val="F1F0EE"/>
                </a:solidFill>
                <a:latin typeface="Calibri" pitchFamily="34" charset="0"/>
                <a:ea typeface="Calibri" pitchFamily="34" charset="-122"/>
                <a:cs typeface="Calibri" pitchFamily="34" charset="-120"/>
              </a:rPr>
              <a:t>of workers report being trained on how to collaborate with AI</a:t>
            </a:r>
            <a:endParaRPr lang="en-US" sz="1200" dirty="0"/>
          </a:p>
        </p:txBody>
      </p:sp>
      <p:sp>
        <p:nvSpPr>
          <p:cNvPr id="11" name="Text 9"/>
          <p:cNvSpPr/>
          <p:nvPr/>
        </p:nvSpPr>
        <p:spPr>
          <a:xfrm>
            <a:off x="8961120" y="3977640"/>
            <a:ext cx="2514600" cy="274320"/>
          </a:xfrm>
          <a:prstGeom prst="rect">
            <a:avLst/>
          </a:prstGeom>
          <a:noFill/>
          <a:ln/>
        </p:spPr>
        <p:txBody>
          <a:bodyPr wrap="square" lIns="0" tIns="0" rIns="0" bIns="0" rtlCol="0" anchor="ctr"/>
          <a:lstStyle/>
          <a:p>
            <a:pPr algn="l" indent="0" marL="0">
              <a:buNone/>
            </a:pPr>
            <a:r>
              <a:rPr lang="en-US" sz="900" i="1" dirty="0">
                <a:solidFill>
                  <a:srgbClr val="A8B5C2"/>
                </a:solidFill>
                <a:latin typeface="Calibri" pitchFamily="34" charset="0"/>
                <a:ea typeface="Calibri" pitchFamily="34" charset="-122"/>
                <a:cs typeface="Calibri" pitchFamily="34" charset="-120"/>
              </a:rPr>
              <a:t>Accenture</a:t>
            </a:r>
            <a:endParaRPr lang="en-US" sz="900" dirty="0"/>
          </a:p>
        </p:txBody>
      </p:sp>
      <p:sp>
        <p:nvSpPr>
          <p:cNvPr id="12" name="Shape 10"/>
          <p:cNvSpPr/>
          <p:nvPr/>
        </p:nvSpPr>
        <p:spPr>
          <a:xfrm>
            <a:off x="7589520" y="4480560"/>
            <a:ext cx="4023360" cy="1325880"/>
          </a:xfrm>
          <a:prstGeom prst="rect">
            <a:avLst/>
          </a:prstGeom>
          <a:solidFill>
            <a:srgbClr val="07344F"/>
          </a:solidFill>
          <a:ln w="12700">
            <a:solidFill>
              <a:srgbClr val="07344F"/>
            </a:solidFill>
            <a:prstDash val="solid"/>
          </a:ln>
        </p:spPr>
      </p:sp>
      <p:sp>
        <p:nvSpPr>
          <p:cNvPr id="13" name="Text 11"/>
          <p:cNvSpPr/>
          <p:nvPr/>
        </p:nvSpPr>
        <p:spPr>
          <a:xfrm>
            <a:off x="7726680" y="4617720"/>
            <a:ext cx="1188720" cy="1051560"/>
          </a:xfrm>
          <a:prstGeom prst="rect">
            <a:avLst/>
          </a:prstGeom>
          <a:noFill/>
          <a:ln/>
        </p:spPr>
        <p:txBody>
          <a:bodyPr wrap="square" lIns="0" tIns="0" rIns="0" bIns="0" rtlCol="0" anchor="ctr"/>
          <a:lstStyle/>
          <a:p>
            <a:pPr algn="ctr" indent="0" marL="0">
              <a:buNone/>
            </a:pPr>
            <a:r>
              <a:rPr lang="en-US" sz="3800" b="1" dirty="0">
                <a:solidFill>
                  <a:srgbClr val="2BCFCF"/>
                </a:solidFill>
                <a:latin typeface="Calibri" pitchFamily="34" charset="0"/>
                <a:ea typeface="Calibri" pitchFamily="34" charset="-122"/>
                <a:cs typeface="Calibri" pitchFamily="34" charset="-120"/>
              </a:rPr>
              <a:t>56%</a:t>
            </a:r>
            <a:endParaRPr lang="en-US" sz="3800" dirty="0"/>
          </a:p>
        </p:txBody>
      </p:sp>
      <p:sp>
        <p:nvSpPr>
          <p:cNvPr id="14" name="Text 12"/>
          <p:cNvSpPr/>
          <p:nvPr/>
        </p:nvSpPr>
        <p:spPr>
          <a:xfrm>
            <a:off x="8961120" y="4663440"/>
            <a:ext cx="2514600" cy="822960"/>
          </a:xfrm>
          <a:prstGeom prst="rect">
            <a:avLst/>
          </a:prstGeom>
          <a:noFill/>
          <a:ln/>
        </p:spPr>
        <p:txBody>
          <a:bodyPr wrap="square" lIns="0" tIns="0" rIns="0" bIns="0" rtlCol="0" anchor="t"/>
          <a:lstStyle/>
          <a:p>
            <a:pPr algn="l" indent="0" marL="0">
              <a:buNone/>
            </a:pPr>
            <a:r>
              <a:rPr lang="en-US" sz="1200" dirty="0">
                <a:solidFill>
                  <a:srgbClr val="F1F0EE"/>
                </a:solidFill>
                <a:latin typeface="Calibri" pitchFamily="34" charset="0"/>
                <a:ea typeface="Calibri" pitchFamily="34" charset="-122"/>
                <a:cs typeface="Calibri" pitchFamily="34" charset="-120"/>
              </a:rPr>
              <a:t>of the global workforce received no recent training</a:t>
            </a:r>
            <a:endParaRPr lang="en-US" sz="1200" dirty="0"/>
          </a:p>
        </p:txBody>
      </p:sp>
      <p:sp>
        <p:nvSpPr>
          <p:cNvPr id="15" name="Text 13"/>
          <p:cNvSpPr/>
          <p:nvPr/>
        </p:nvSpPr>
        <p:spPr>
          <a:xfrm>
            <a:off x="8961120" y="5440680"/>
            <a:ext cx="2514600" cy="274320"/>
          </a:xfrm>
          <a:prstGeom prst="rect">
            <a:avLst/>
          </a:prstGeom>
          <a:noFill/>
          <a:ln/>
        </p:spPr>
        <p:txBody>
          <a:bodyPr wrap="square" lIns="0" tIns="0" rIns="0" bIns="0" rtlCol="0" anchor="ctr"/>
          <a:lstStyle/>
          <a:p>
            <a:pPr algn="l" indent="0" marL="0">
              <a:buNone/>
            </a:pPr>
            <a:r>
              <a:rPr lang="en-US" sz="900" i="1" dirty="0">
                <a:solidFill>
                  <a:srgbClr val="A8B5C2"/>
                </a:solidFill>
                <a:latin typeface="Calibri" pitchFamily="34" charset="0"/>
                <a:ea typeface="Calibri" pitchFamily="34" charset="-122"/>
                <a:cs typeface="Calibri" pitchFamily="34" charset="-120"/>
              </a:rPr>
              <a:t>Manpower 2026</a:t>
            </a:r>
            <a:endParaRPr lang="en-US" sz="900" dirty="0"/>
          </a:p>
        </p:txBody>
      </p:sp>
      <p:sp>
        <p:nvSpPr>
          <p:cNvPr id="16" name="Text 14"/>
          <p:cNvSpPr/>
          <p:nvPr/>
        </p:nvSpPr>
        <p:spPr>
          <a:xfrm>
            <a:off x="457200" y="6446520"/>
            <a:ext cx="1097280" cy="274320"/>
          </a:xfrm>
          <a:prstGeom prst="rect">
            <a:avLst/>
          </a:prstGeom>
          <a:noFill/>
          <a:ln/>
        </p:spPr>
        <p:txBody>
          <a:bodyPr wrap="square" lIns="0" tIns="0" rIns="0" bIns="0" rtlCol="0" anchor="ctr"/>
          <a:lstStyle/>
          <a:p>
            <a:pPr indent="0" marL="0">
              <a:buNone/>
            </a:pPr>
            <a:r>
              <a:rPr lang="en-US" sz="1100" b="1" dirty="0">
                <a:solidFill>
                  <a:srgbClr val="F1F0EE"/>
                </a:solidFill>
                <a:latin typeface="Calibri" pitchFamily="34" charset="0"/>
                <a:ea typeface="Calibri" pitchFamily="34" charset="-122"/>
                <a:cs typeface="Calibri" pitchFamily="34" charset="-120"/>
              </a:rPr>
              <a:t>WeDo</a:t>
            </a:r>
            <a:pPr indent="0" marL="0">
              <a:buNone/>
            </a:pPr>
            <a:r>
              <a:rPr lang="en-US" sz="1100" b="1" dirty="0">
                <a:solidFill>
                  <a:srgbClr val="2BCFCF"/>
                </a:solidFill>
                <a:latin typeface="Calibri" pitchFamily="34" charset="0"/>
                <a:ea typeface="Calibri" pitchFamily="34" charset="-122"/>
                <a:cs typeface="Calibri" pitchFamily="34" charset="-120"/>
              </a:rPr>
              <a:t>AI</a:t>
            </a:r>
            <a:endParaRPr lang="en-US" sz="1100" dirty="0"/>
          </a:p>
        </p:txBody>
      </p:sp>
      <p:sp>
        <p:nvSpPr>
          <p:cNvPr id="17" name="Text 15"/>
          <p:cNvSpPr/>
          <p:nvPr/>
        </p:nvSpPr>
        <p:spPr>
          <a:xfrm>
            <a:off x="11064240" y="6446520"/>
            <a:ext cx="640080" cy="274320"/>
          </a:xfrm>
          <a:prstGeom prst="rect">
            <a:avLst/>
          </a:prstGeom>
          <a:noFill/>
          <a:ln/>
        </p:spPr>
        <p:txBody>
          <a:bodyPr wrap="square" lIns="0" tIns="0" rIns="0" bIns="0" rtlCol="0" anchor="ctr"/>
          <a:lstStyle/>
          <a:p>
            <a:pPr algn="r" indent="0" marL="0">
              <a:buNone/>
            </a:pPr>
            <a:r>
              <a:rPr lang="en-US" sz="1000" dirty="0">
                <a:solidFill>
                  <a:srgbClr val="A8B5C2"/>
                </a:solidFill>
                <a:latin typeface="Calibri" pitchFamily="34" charset="0"/>
                <a:ea typeface="Calibri" pitchFamily="34" charset="-122"/>
                <a:cs typeface="Calibri" pitchFamily="34" charset="-120"/>
              </a:rPr>
              <a:t>12 / 21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2A45"/>
        </a:solidFill>
      </p:bgPr>
    </p:bg>
    <p:spTree>
      <p:nvGrpSpPr>
        <p:cNvPr id="1" name=""/>
        <p:cNvGrpSpPr/>
        <p:nvPr/>
      </p:nvGrpSpPr>
      <p:grpSpPr>
        <a:xfrm>
          <a:off x="0" y="0"/>
          <a:ext cx="0" cy="0"/>
          <a:chOff x="0" y="0"/>
          <a:chExt cx="0" cy="0"/>
        </a:xfrm>
      </p:grpSpPr>
      <p:sp>
        <p:nvSpPr>
          <p:cNvPr id="2" name="Text 0"/>
          <p:cNvSpPr/>
          <p:nvPr/>
        </p:nvSpPr>
        <p:spPr>
          <a:xfrm>
            <a:off x="640080" y="1280160"/>
            <a:ext cx="2743200" cy="914400"/>
          </a:xfrm>
          <a:prstGeom prst="rect">
            <a:avLst/>
          </a:prstGeom>
          <a:noFill/>
          <a:ln/>
        </p:spPr>
        <p:txBody>
          <a:bodyPr wrap="square" lIns="0" tIns="0" rIns="0" bIns="0" rtlCol="0" anchor="ctr"/>
          <a:lstStyle/>
          <a:p>
            <a:pPr algn="l" indent="0" marL="0">
              <a:buNone/>
            </a:pPr>
            <a:r>
              <a:rPr lang="en-US" sz="2800" b="1" spc="200" kern="0" dirty="0">
                <a:solidFill>
                  <a:srgbClr val="A8B5C2"/>
                </a:solidFill>
                <a:latin typeface="Calibri" pitchFamily="34" charset="0"/>
                <a:ea typeface="Calibri" pitchFamily="34" charset="-122"/>
                <a:cs typeface="Calibri" pitchFamily="34" charset="-120"/>
              </a:rPr>
              <a:t>04</a:t>
            </a:r>
            <a:endParaRPr lang="en-US" sz="2800" dirty="0"/>
          </a:p>
        </p:txBody>
      </p:sp>
      <p:sp>
        <p:nvSpPr>
          <p:cNvPr id="3" name="Text 1"/>
          <p:cNvSpPr/>
          <p:nvPr/>
        </p:nvSpPr>
        <p:spPr>
          <a:xfrm>
            <a:off x="640080" y="2286000"/>
            <a:ext cx="10881360" cy="1645920"/>
          </a:xfrm>
          <a:prstGeom prst="rect">
            <a:avLst/>
          </a:prstGeom>
          <a:noFill/>
          <a:ln/>
        </p:spPr>
        <p:txBody>
          <a:bodyPr wrap="square" lIns="0" tIns="0" rIns="0" bIns="0" rtlCol="0" anchor="ctr"/>
          <a:lstStyle/>
          <a:p>
            <a:pPr algn="l" indent="0" marL="0">
              <a:buNone/>
            </a:pPr>
            <a:r>
              <a:rPr lang="en-US" sz="7000" b="1" dirty="0">
                <a:solidFill>
                  <a:srgbClr val="F1F0EE"/>
                </a:solidFill>
                <a:latin typeface="Calibri" pitchFamily="34" charset="0"/>
                <a:ea typeface="Calibri" pitchFamily="34" charset="-122"/>
                <a:cs typeface="Calibri" pitchFamily="34" charset="-120"/>
              </a:rPr>
              <a:t>Three </a:t>
            </a:r>
            <a:pPr algn="l" indent="0" marL="0">
              <a:buNone/>
            </a:pPr>
            <a:r>
              <a:rPr lang="en-US" sz="7000" b="1" dirty="0">
                <a:solidFill>
                  <a:srgbClr val="2BCFCF"/>
                </a:solidFill>
                <a:latin typeface="Calibri" pitchFamily="34" charset="0"/>
                <a:ea typeface="Calibri" pitchFamily="34" charset="-122"/>
                <a:cs typeface="Calibri" pitchFamily="34" charset="-120"/>
              </a:rPr>
              <a:t>lenses</a:t>
            </a:r>
            <a:pPr algn="l" indent="0" marL="0">
              <a:buNone/>
            </a:pPr>
            <a:r>
              <a:rPr lang="en-US" sz="7000" b="1" dirty="0">
                <a:solidFill>
                  <a:srgbClr val="F1F0EE"/>
                </a:solidFill>
                <a:latin typeface="Calibri" pitchFamily="34" charset="0"/>
                <a:ea typeface="Calibri" pitchFamily="34" charset="-122"/>
                <a:cs typeface="Calibri" pitchFamily="34" charset="-120"/>
              </a:rPr>
              <a:t>.</a:t>
            </a:r>
            <a:endParaRPr lang="en-US" sz="7000" dirty="0"/>
          </a:p>
        </p:txBody>
      </p:sp>
      <p:sp>
        <p:nvSpPr>
          <p:cNvPr id="4" name="Text 2"/>
          <p:cNvSpPr/>
          <p:nvPr/>
        </p:nvSpPr>
        <p:spPr>
          <a:xfrm>
            <a:off x="640080" y="4206240"/>
            <a:ext cx="9418320" cy="1097280"/>
          </a:xfrm>
          <a:prstGeom prst="rect">
            <a:avLst/>
          </a:prstGeom>
          <a:noFill/>
          <a:ln/>
        </p:spPr>
        <p:txBody>
          <a:bodyPr wrap="square" lIns="0" tIns="0" rIns="0" bIns="0" rtlCol="0" anchor="t"/>
          <a:lstStyle/>
          <a:p>
            <a:pPr algn="l" indent="0" marL="0">
              <a:buNone/>
            </a:pPr>
            <a:r>
              <a:rPr lang="en-US" sz="2200" i="1" dirty="0">
                <a:solidFill>
                  <a:srgbClr val="A8B5C2"/>
                </a:solidFill>
                <a:latin typeface="Calibri" pitchFamily="34" charset="0"/>
                <a:ea typeface="Calibri" pitchFamily="34" charset="-122"/>
                <a:cs typeface="Calibri" pitchFamily="34" charset="-120"/>
              </a:rPr>
              <a:t>Assuming readiness is in place, here is how to pressure-test any specific AI proposal.</a:t>
            </a:r>
            <a:endParaRPr lang="en-US" sz="2200" dirty="0"/>
          </a:p>
        </p:txBody>
      </p:sp>
      <p:sp>
        <p:nvSpPr>
          <p:cNvPr id="5" name="Text 3"/>
          <p:cNvSpPr/>
          <p:nvPr/>
        </p:nvSpPr>
        <p:spPr>
          <a:xfrm>
            <a:off x="10698480" y="6035040"/>
            <a:ext cx="1828800" cy="548640"/>
          </a:xfrm>
          <a:prstGeom prst="rect">
            <a:avLst/>
          </a:prstGeom>
          <a:noFill/>
          <a:ln/>
        </p:spPr>
        <p:txBody>
          <a:bodyPr wrap="square" lIns="0" tIns="0" rIns="0" bIns="0" rtlCol="0" anchor="ctr"/>
          <a:lstStyle/>
          <a:p>
            <a:pPr algn="l" indent="0" marL="0">
              <a:buNone/>
            </a:pPr>
            <a:r>
              <a:rPr lang="en-US" sz="1600" b="1" dirty="0">
                <a:solidFill>
                  <a:srgbClr val="F1F0EE"/>
                </a:solidFill>
                <a:latin typeface="Calibri" pitchFamily="34" charset="0"/>
                <a:ea typeface="Calibri" pitchFamily="34" charset="-122"/>
                <a:cs typeface="Calibri" pitchFamily="34" charset="-120"/>
              </a:rPr>
              <a:t>WeDo</a:t>
            </a:r>
            <a:pPr algn="l" indent="0" marL="0">
              <a:buNone/>
            </a:pPr>
            <a:r>
              <a:rPr lang="en-US" sz="1600" b="1" dirty="0">
                <a:solidFill>
                  <a:srgbClr val="2BCFCF"/>
                </a:solidFill>
                <a:latin typeface="Calibri" pitchFamily="34" charset="0"/>
                <a:ea typeface="Calibri" pitchFamily="34" charset="-122"/>
                <a:cs typeface="Calibri" pitchFamily="34" charset="-120"/>
              </a:rPr>
              <a:t>AI</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2A45"/>
        </a:solidFill>
      </p:bgPr>
    </p:bg>
    <p:spTree>
      <p:nvGrpSpPr>
        <p:cNvPr id="1" name=""/>
        <p:cNvGrpSpPr/>
        <p:nvPr/>
      </p:nvGrpSpPr>
      <p:grpSpPr>
        <a:xfrm>
          <a:off x="0" y="0"/>
          <a:ext cx="0" cy="0"/>
          <a:chOff x="0" y="0"/>
          <a:chExt cx="0" cy="0"/>
        </a:xfrm>
      </p:grpSpPr>
      <p:sp>
        <p:nvSpPr>
          <p:cNvPr id="2" name="Text 0"/>
          <p:cNvSpPr/>
          <p:nvPr/>
        </p:nvSpPr>
        <p:spPr>
          <a:xfrm>
            <a:off x="640080" y="457200"/>
            <a:ext cx="10881360" cy="822960"/>
          </a:xfrm>
          <a:prstGeom prst="rect">
            <a:avLst/>
          </a:prstGeom>
          <a:noFill/>
          <a:ln/>
        </p:spPr>
        <p:txBody>
          <a:bodyPr wrap="square" lIns="0" tIns="0" rIns="0" bIns="0" rtlCol="0" anchor="ctr"/>
          <a:lstStyle/>
          <a:p>
            <a:pPr algn="l" indent="0" marL="0">
              <a:buNone/>
            </a:pPr>
            <a:r>
              <a:rPr lang="en-US" sz="3200" b="1" dirty="0">
                <a:solidFill>
                  <a:srgbClr val="F1F0EE"/>
                </a:solidFill>
                <a:latin typeface="Calibri" pitchFamily="34" charset="0"/>
                <a:ea typeface="Calibri" pitchFamily="34" charset="-122"/>
                <a:cs typeface="Calibri" pitchFamily="34" charset="-120"/>
              </a:rPr>
              <a:t>Three lenses. One coherent test.</a:t>
            </a:r>
            <a:endParaRPr lang="en-US" sz="3200" dirty="0"/>
          </a:p>
        </p:txBody>
      </p:sp>
      <p:sp>
        <p:nvSpPr>
          <p:cNvPr id="3" name="Shape 1"/>
          <p:cNvSpPr/>
          <p:nvPr/>
        </p:nvSpPr>
        <p:spPr>
          <a:xfrm>
            <a:off x="640080" y="1554480"/>
            <a:ext cx="3444240" cy="4206240"/>
          </a:xfrm>
          <a:prstGeom prst="rect">
            <a:avLst/>
          </a:prstGeom>
          <a:solidFill>
            <a:srgbClr val="07344F"/>
          </a:solidFill>
          <a:ln w="12700">
            <a:solidFill>
              <a:srgbClr val="07344F"/>
            </a:solidFill>
            <a:prstDash val="solid"/>
          </a:ln>
        </p:spPr>
      </p:sp>
      <p:sp>
        <p:nvSpPr>
          <p:cNvPr id="4" name="Text 2"/>
          <p:cNvSpPr/>
          <p:nvPr/>
        </p:nvSpPr>
        <p:spPr>
          <a:xfrm>
            <a:off x="914400" y="1828800"/>
            <a:ext cx="2895600" cy="640080"/>
          </a:xfrm>
          <a:prstGeom prst="rect">
            <a:avLst/>
          </a:prstGeom>
          <a:noFill/>
          <a:ln/>
        </p:spPr>
        <p:txBody>
          <a:bodyPr wrap="square" lIns="0" tIns="0" rIns="0" bIns="0" rtlCol="0" anchor="ctr"/>
          <a:lstStyle/>
          <a:p>
            <a:pPr indent="0" marL="0">
              <a:buNone/>
            </a:pPr>
            <a:r>
              <a:rPr lang="en-US" sz="3600" b="1" dirty="0">
                <a:solidFill>
                  <a:srgbClr val="2BCFCF"/>
                </a:solidFill>
                <a:latin typeface="Calibri" pitchFamily="34" charset="0"/>
                <a:ea typeface="Calibri" pitchFamily="34" charset="-122"/>
                <a:cs typeface="Calibri" pitchFamily="34" charset="-120"/>
              </a:rPr>
              <a:t>01</a:t>
            </a:r>
            <a:endParaRPr lang="en-US" sz="3600" dirty="0"/>
          </a:p>
        </p:txBody>
      </p:sp>
      <p:sp>
        <p:nvSpPr>
          <p:cNvPr id="5" name="Text 3"/>
          <p:cNvSpPr/>
          <p:nvPr/>
        </p:nvSpPr>
        <p:spPr>
          <a:xfrm>
            <a:off x="914400" y="2560320"/>
            <a:ext cx="2895600" cy="457200"/>
          </a:xfrm>
          <a:prstGeom prst="rect">
            <a:avLst/>
          </a:prstGeom>
          <a:noFill/>
          <a:ln/>
        </p:spPr>
        <p:txBody>
          <a:bodyPr wrap="square" lIns="0" tIns="0" rIns="0" bIns="0" rtlCol="0" anchor="ctr"/>
          <a:lstStyle/>
          <a:p>
            <a:pPr indent="0" marL="0">
              <a:buNone/>
            </a:pPr>
            <a:r>
              <a:rPr lang="en-US" sz="1400" b="1" spc="400" kern="0" dirty="0">
                <a:solidFill>
                  <a:srgbClr val="F1F0EE"/>
                </a:solidFill>
                <a:latin typeface="Calibri" pitchFamily="34" charset="0"/>
                <a:ea typeface="Calibri" pitchFamily="34" charset="-122"/>
                <a:cs typeface="Calibri" pitchFamily="34" charset="-120"/>
              </a:rPr>
              <a:t>UNIT ECONOMICS</a:t>
            </a:r>
            <a:endParaRPr lang="en-US" sz="1400" dirty="0"/>
          </a:p>
        </p:txBody>
      </p:sp>
      <p:sp>
        <p:nvSpPr>
          <p:cNvPr id="6" name="Text 4"/>
          <p:cNvSpPr/>
          <p:nvPr/>
        </p:nvSpPr>
        <p:spPr>
          <a:xfrm>
            <a:off x="914400" y="3017520"/>
            <a:ext cx="2895600" cy="365760"/>
          </a:xfrm>
          <a:prstGeom prst="rect">
            <a:avLst/>
          </a:prstGeom>
          <a:noFill/>
          <a:ln/>
        </p:spPr>
        <p:txBody>
          <a:bodyPr wrap="square" lIns="0" tIns="0" rIns="0" bIns="0" rtlCol="0" anchor="ctr"/>
          <a:lstStyle/>
          <a:p>
            <a:pPr indent="0" marL="0">
              <a:buNone/>
            </a:pPr>
            <a:r>
              <a:rPr lang="en-US" sz="1400" i="1" dirty="0">
                <a:solidFill>
                  <a:srgbClr val="A8B5C2"/>
                </a:solidFill>
                <a:latin typeface="Calibri" pitchFamily="34" charset="0"/>
                <a:ea typeface="Calibri" pitchFamily="34" charset="-122"/>
                <a:cs typeface="Calibri" pitchFamily="34" charset="-120"/>
              </a:rPr>
              <a:t>Stand alone</a:t>
            </a:r>
            <a:endParaRPr lang="en-US" sz="1400" dirty="0"/>
          </a:p>
        </p:txBody>
      </p:sp>
      <p:sp>
        <p:nvSpPr>
          <p:cNvPr id="7" name="Text 5"/>
          <p:cNvSpPr/>
          <p:nvPr/>
        </p:nvSpPr>
        <p:spPr>
          <a:xfrm>
            <a:off x="914400" y="3566160"/>
            <a:ext cx="2895600" cy="2011680"/>
          </a:xfrm>
          <a:prstGeom prst="rect">
            <a:avLst/>
          </a:prstGeom>
          <a:noFill/>
          <a:ln/>
        </p:spPr>
        <p:txBody>
          <a:bodyPr wrap="square" lIns="0" tIns="0" rIns="0" bIns="0" rtlCol="0" anchor="t"/>
          <a:lstStyle/>
          <a:p>
            <a:pPr indent="0" marL="0">
              <a:buNone/>
            </a:pPr>
            <a:r>
              <a:rPr lang="en-US" sz="1500" dirty="0">
                <a:solidFill>
                  <a:srgbClr val="F1F0EE"/>
                </a:solidFill>
                <a:latin typeface="Calibri" pitchFamily="34" charset="0"/>
                <a:ea typeface="Calibri" pitchFamily="34" charset="-122"/>
                <a:cs typeface="Calibri" pitchFamily="34" charset="-120"/>
              </a:rPr>
              <a:t>Can this proposal justify itself on its own merits, in dollars or minutes per task?</a:t>
            </a:r>
            <a:endParaRPr lang="en-US" sz="1500" dirty="0"/>
          </a:p>
        </p:txBody>
      </p:sp>
      <p:sp>
        <p:nvSpPr>
          <p:cNvPr id="8" name="Shape 6"/>
          <p:cNvSpPr/>
          <p:nvPr/>
        </p:nvSpPr>
        <p:spPr>
          <a:xfrm>
            <a:off x="4358640" y="1554480"/>
            <a:ext cx="3444240" cy="4206240"/>
          </a:xfrm>
          <a:prstGeom prst="rect">
            <a:avLst/>
          </a:prstGeom>
          <a:solidFill>
            <a:srgbClr val="07344F"/>
          </a:solidFill>
          <a:ln w="12700">
            <a:solidFill>
              <a:srgbClr val="07344F"/>
            </a:solidFill>
            <a:prstDash val="solid"/>
          </a:ln>
        </p:spPr>
      </p:sp>
      <p:sp>
        <p:nvSpPr>
          <p:cNvPr id="9" name="Text 7"/>
          <p:cNvSpPr/>
          <p:nvPr/>
        </p:nvSpPr>
        <p:spPr>
          <a:xfrm>
            <a:off x="4632960" y="1828800"/>
            <a:ext cx="2895600" cy="640080"/>
          </a:xfrm>
          <a:prstGeom prst="rect">
            <a:avLst/>
          </a:prstGeom>
          <a:noFill/>
          <a:ln/>
        </p:spPr>
        <p:txBody>
          <a:bodyPr wrap="square" lIns="0" tIns="0" rIns="0" bIns="0" rtlCol="0" anchor="ctr"/>
          <a:lstStyle/>
          <a:p>
            <a:pPr indent="0" marL="0">
              <a:buNone/>
            </a:pPr>
            <a:r>
              <a:rPr lang="en-US" sz="3600" b="1" dirty="0">
                <a:solidFill>
                  <a:srgbClr val="2BCFCF"/>
                </a:solidFill>
                <a:latin typeface="Calibri" pitchFamily="34" charset="0"/>
                <a:ea typeface="Calibri" pitchFamily="34" charset="-122"/>
                <a:cs typeface="Calibri" pitchFamily="34" charset="-120"/>
              </a:rPr>
              <a:t>02</a:t>
            </a:r>
            <a:endParaRPr lang="en-US" sz="3600" dirty="0"/>
          </a:p>
        </p:txBody>
      </p:sp>
      <p:sp>
        <p:nvSpPr>
          <p:cNvPr id="10" name="Text 8"/>
          <p:cNvSpPr/>
          <p:nvPr/>
        </p:nvSpPr>
        <p:spPr>
          <a:xfrm>
            <a:off x="4632960" y="2560320"/>
            <a:ext cx="2895600" cy="457200"/>
          </a:xfrm>
          <a:prstGeom prst="rect">
            <a:avLst/>
          </a:prstGeom>
          <a:noFill/>
          <a:ln/>
        </p:spPr>
        <p:txBody>
          <a:bodyPr wrap="square" lIns="0" tIns="0" rIns="0" bIns="0" rtlCol="0" anchor="ctr"/>
          <a:lstStyle/>
          <a:p>
            <a:pPr indent="0" marL="0">
              <a:buNone/>
            </a:pPr>
            <a:r>
              <a:rPr lang="en-US" sz="1400" b="1" spc="400" kern="0" dirty="0">
                <a:solidFill>
                  <a:srgbClr val="F1F0EE"/>
                </a:solidFill>
                <a:latin typeface="Calibri" pitchFamily="34" charset="0"/>
                <a:ea typeface="Calibri" pitchFamily="34" charset="-122"/>
                <a:cs typeface="Calibri" pitchFamily="34" charset="-120"/>
              </a:rPr>
              <a:t>KNOWLEDGE FOUNDATION</a:t>
            </a:r>
            <a:endParaRPr lang="en-US" sz="1400" dirty="0"/>
          </a:p>
        </p:txBody>
      </p:sp>
      <p:sp>
        <p:nvSpPr>
          <p:cNvPr id="11" name="Text 9"/>
          <p:cNvSpPr/>
          <p:nvPr/>
        </p:nvSpPr>
        <p:spPr>
          <a:xfrm>
            <a:off x="4632960" y="3017520"/>
            <a:ext cx="2895600" cy="365760"/>
          </a:xfrm>
          <a:prstGeom prst="rect">
            <a:avLst/>
          </a:prstGeom>
          <a:noFill/>
          <a:ln/>
        </p:spPr>
        <p:txBody>
          <a:bodyPr wrap="square" lIns="0" tIns="0" rIns="0" bIns="0" rtlCol="0" anchor="ctr"/>
          <a:lstStyle/>
          <a:p>
            <a:pPr indent="0" marL="0">
              <a:buNone/>
            </a:pPr>
            <a:r>
              <a:rPr lang="en-US" sz="1400" i="1" dirty="0">
                <a:solidFill>
                  <a:srgbClr val="A8B5C2"/>
                </a:solidFill>
                <a:latin typeface="Calibri" pitchFamily="34" charset="0"/>
                <a:ea typeface="Calibri" pitchFamily="34" charset="-122"/>
                <a:cs typeface="Calibri" pitchFamily="34" charset="-120"/>
              </a:rPr>
              <a:t>Compound</a:t>
            </a:r>
            <a:endParaRPr lang="en-US" sz="1400" dirty="0"/>
          </a:p>
        </p:txBody>
      </p:sp>
      <p:sp>
        <p:nvSpPr>
          <p:cNvPr id="12" name="Text 10"/>
          <p:cNvSpPr/>
          <p:nvPr/>
        </p:nvSpPr>
        <p:spPr>
          <a:xfrm>
            <a:off x="4632960" y="3566160"/>
            <a:ext cx="2895600" cy="2011680"/>
          </a:xfrm>
          <a:prstGeom prst="rect">
            <a:avLst/>
          </a:prstGeom>
          <a:noFill/>
          <a:ln/>
        </p:spPr>
        <p:txBody>
          <a:bodyPr wrap="square" lIns="0" tIns="0" rIns="0" bIns="0" rtlCol="0" anchor="t"/>
          <a:lstStyle/>
          <a:p>
            <a:pPr indent="0" marL="0">
              <a:buNone/>
            </a:pPr>
            <a:r>
              <a:rPr lang="en-US" sz="1500" dirty="0">
                <a:solidFill>
                  <a:srgbClr val="F1F0EE"/>
                </a:solidFill>
                <a:latin typeface="Calibri" pitchFamily="34" charset="0"/>
                <a:ea typeface="Calibri" pitchFamily="34" charset="-122"/>
                <a:cs typeface="Calibri" pitchFamily="34" charset="-120"/>
              </a:rPr>
              <a:t>Does it build a reusable foundation that other use cases can leverage, or a silo that dies?</a:t>
            </a:r>
            <a:endParaRPr lang="en-US" sz="1500" dirty="0"/>
          </a:p>
        </p:txBody>
      </p:sp>
      <p:sp>
        <p:nvSpPr>
          <p:cNvPr id="13" name="Shape 11"/>
          <p:cNvSpPr/>
          <p:nvPr/>
        </p:nvSpPr>
        <p:spPr>
          <a:xfrm>
            <a:off x="8077200" y="1554480"/>
            <a:ext cx="3444240" cy="4206240"/>
          </a:xfrm>
          <a:prstGeom prst="rect">
            <a:avLst/>
          </a:prstGeom>
          <a:solidFill>
            <a:srgbClr val="07344F"/>
          </a:solidFill>
          <a:ln w="12700">
            <a:solidFill>
              <a:srgbClr val="07344F"/>
            </a:solidFill>
            <a:prstDash val="solid"/>
          </a:ln>
        </p:spPr>
      </p:sp>
      <p:sp>
        <p:nvSpPr>
          <p:cNvPr id="14" name="Text 12"/>
          <p:cNvSpPr/>
          <p:nvPr/>
        </p:nvSpPr>
        <p:spPr>
          <a:xfrm>
            <a:off x="8351520" y="1828800"/>
            <a:ext cx="2895600" cy="640080"/>
          </a:xfrm>
          <a:prstGeom prst="rect">
            <a:avLst/>
          </a:prstGeom>
          <a:noFill/>
          <a:ln/>
        </p:spPr>
        <p:txBody>
          <a:bodyPr wrap="square" lIns="0" tIns="0" rIns="0" bIns="0" rtlCol="0" anchor="ctr"/>
          <a:lstStyle/>
          <a:p>
            <a:pPr indent="0" marL="0">
              <a:buNone/>
            </a:pPr>
            <a:r>
              <a:rPr lang="en-US" sz="3600" b="1" dirty="0">
                <a:solidFill>
                  <a:srgbClr val="2BCFCF"/>
                </a:solidFill>
                <a:latin typeface="Calibri" pitchFamily="34" charset="0"/>
                <a:ea typeface="Calibri" pitchFamily="34" charset="-122"/>
                <a:cs typeface="Calibri" pitchFamily="34" charset="-120"/>
              </a:rPr>
              <a:t>03</a:t>
            </a:r>
            <a:endParaRPr lang="en-US" sz="3600" dirty="0"/>
          </a:p>
        </p:txBody>
      </p:sp>
      <p:sp>
        <p:nvSpPr>
          <p:cNvPr id="15" name="Text 13"/>
          <p:cNvSpPr/>
          <p:nvPr/>
        </p:nvSpPr>
        <p:spPr>
          <a:xfrm>
            <a:off x="8351520" y="2560320"/>
            <a:ext cx="2895600" cy="457200"/>
          </a:xfrm>
          <a:prstGeom prst="rect">
            <a:avLst/>
          </a:prstGeom>
          <a:noFill/>
          <a:ln/>
        </p:spPr>
        <p:txBody>
          <a:bodyPr wrap="square" lIns="0" tIns="0" rIns="0" bIns="0" rtlCol="0" anchor="ctr"/>
          <a:lstStyle/>
          <a:p>
            <a:pPr indent="0" marL="0">
              <a:buNone/>
            </a:pPr>
            <a:r>
              <a:rPr lang="en-US" sz="1400" b="1" spc="400" kern="0" dirty="0">
                <a:solidFill>
                  <a:srgbClr val="F1F0EE"/>
                </a:solidFill>
                <a:latin typeface="Calibri" pitchFamily="34" charset="0"/>
                <a:ea typeface="Calibri" pitchFamily="34" charset="-122"/>
                <a:cs typeface="Calibri" pitchFamily="34" charset="-120"/>
              </a:rPr>
              <a:t>ROADMAP FIT</a:t>
            </a:r>
            <a:endParaRPr lang="en-US" sz="1400" dirty="0"/>
          </a:p>
        </p:txBody>
      </p:sp>
      <p:sp>
        <p:nvSpPr>
          <p:cNvPr id="16" name="Text 14"/>
          <p:cNvSpPr/>
          <p:nvPr/>
        </p:nvSpPr>
        <p:spPr>
          <a:xfrm>
            <a:off x="8351520" y="3017520"/>
            <a:ext cx="2895600" cy="365760"/>
          </a:xfrm>
          <a:prstGeom prst="rect">
            <a:avLst/>
          </a:prstGeom>
          <a:noFill/>
          <a:ln/>
        </p:spPr>
        <p:txBody>
          <a:bodyPr wrap="square" lIns="0" tIns="0" rIns="0" bIns="0" rtlCol="0" anchor="ctr"/>
          <a:lstStyle/>
          <a:p>
            <a:pPr indent="0" marL="0">
              <a:buNone/>
            </a:pPr>
            <a:r>
              <a:rPr lang="en-US" sz="1400" i="1" dirty="0">
                <a:solidFill>
                  <a:srgbClr val="A8B5C2"/>
                </a:solidFill>
                <a:latin typeface="Calibri" pitchFamily="34" charset="0"/>
                <a:ea typeface="Calibri" pitchFamily="34" charset="-122"/>
                <a:cs typeface="Calibri" pitchFamily="34" charset="-120"/>
              </a:rPr>
              <a:t>Connect</a:t>
            </a:r>
            <a:endParaRPr lang="en-US" sz="1400" dirty="0"/>
          </a:p>
        </p:txBody>
      </p:sp>
      <p:sp>
        <p:nvSpPr>
          <p:cNvPr id="17" name="Text 15"/>
          <p:cNvSpPr/>
          <p:nvPr/>
        </p:nvSpPr>
        <p:spPr>
          <a:xfrm>
            <a:off x="8351520" y="3566160"/>
            <a:ext cx="2895600" cy="2011680"/>
          </a:xfrm>
          <a:prstGeom prst="rect">
            <a:avLst/>
          </a:prstGeom>
          <a:noFill/>
          <a:ln/>
        </p:spPr>
        <p:txBody>
          <a:bodyPr wrap="square" lIns="0" tIns="0" rIns="0" bIns="0" rtlCol="0" anchor="t"/>
          <a:lstStyle/>
          <a:p>
            <a:pPr indent="0" marL="0">
              <a:buNone/>
            </a:pPr>
            <a:r>
              <a:rPr lang="en-US" sz="1500" dirty="0">
                <a:solidFill>
                  <a:srgbClr val="F1F0EE"/>
                </a:solidFill>
                <a:latin typeface="Calibri" pitchFamily="34" charset="0"/>
                <a:ea typeface="Calibri" pitchFamily="34" charset="-122"/>
                <a:cs typeface="Calibri" pitchFamily="34" charset="-120"/>
              </a:rPr>
              <a:t>Does it connect to the bigger picture, or is it another disconnected pilot?</a:t>
            </a:r>
            <a:endParaRPr lang="en-US" sz="1500" dirty="0"/>
          </a:p>
        </p:txBody>
      </p:sp>
      <p:sp>
        <p:nvSpPr>
          <p:cNvPr id="18" name="Text 16"/>
          <p:cNvSpPr/>
          <p:nvPr/>
        </p:nvSpPr>
        <p:spPr>
          <a:xfrm>
            <a:off x="640080" y="5943600"/>
            <a:ext cx="10881360" cy="365760"/>
          </a:xfrm>
          <a:prstGeom prst="rect">
            <a:avLst/>
          </a:prstGeom>
          <a:noFill/>
          <a:ln/>
        </p:spPr>
        <p:txBody>
          <a:bodyPr wrap="square" lIns="0" tIns="0" rIns="0" bIns="0" rtlCol="0" anchor="ctr"/>
          <a:lstStyle/>
          <a:p>
            <a:pPr algn="ctr" indent="0" marL="0">
              <a:buNone/>
            </a:pPr>
            <a:r>
              <a:rPr lang="en-US" sz="1500" i="1" dirty="0">
                <a:solidFill>
                  <a:srgbClr val="2BCFCF"/>
                </a:solidFill>
                <a:latin typeface="Calibri" pitchFamily="34" charset="0"/>
                <a:ea typeface="Calibri" pitchFamily="34" charset="-122"/>
                <a:cs typeface="Calibri" pitchFamily="34" charset="-120"/>
              </a:rPr>
              <a:t>Pass all three: probably real. Fail any one: probably not ready.</a:t>
            </a:r>
            <a:endParaRPr lang="en-US" sz="1500" dirty="0"/>
          </a:p>
        </p:txBody>
      </p:sp>
      <p:sp>
        <p:nvSpPr>
          <p:cNvPr id="19" name="Text 17"/>
          <p:cNvSpPr/>
          <p:nvPr/>
        </p:nvSpPr>
        <p:spPr>
          <a:xfrm>
            <a:off x="457200" y="6446520"/>
            <a:ext cx="1097280" cy="274320"/>
          </a:xfrm>
          <a:prstGeom prst="rect">
            <a:avLst/>
          </a:prstGeom>
          <a:noFill/>
          <a:ln/>
        </p:spPr>
        <p:txBody>
          <a:bodyPr wrap="square" lIns="0" tIns="0" rIns="0" bIns="0" rtlCol="0" anchor="ctr"/>
          <a:lstStyle/>
          <a:p>
            <a:pPr indent="0" marL="0">
              <a:buNone/>
            </a:pPr>
            <a:r>
              <a:rPr lang="en-US" sz="1100" b="1" dirty="0">
                <a:solidFill>
                  <a:srgbClr val="F1F0EE"/>
                </a:solidFill>
                <a:latin typeface="Calibri" pitchFamily="34" charset="0"/>
                <a:ea typeface="Calibri" pitchFamily="34" charset="-122"/>
                <a:cs typeface="Calibri" pitchFamily="34" charset="-120"/>
              </a:rPr>
              <a:t>WeDo</a:t>
            </a:r>
            <a:pPr indent="0" marL="0">
              <a:buNone/>
            </a:pPr>
            <a:r>
              <a:rPr lang="en-US" sz="1100" b="1" dirty="0">
                <a:solidFill>
                  <a:srgbClr val="2BCFCF"/>
                </a:solidFill>
                <a:latin typeface="Calibri" pitchFamily="34" charset="0"/>
                <a:ea typeface="Calibri" pitchFamily="34" charset="-122"/>
                <a:cs typeface="Calibri" pitchFamily="34" charset="-120"/>
              </a:rPr>
              <a:t>AI</a:t>
            </a:r>
            <a:endParaRPr lang="en-US" sz="1100" dirty="0"/>
          </a:p>
        </p:txBody>
      </p:sp>
      <p:sp>
        <p:nvSpPr>
          <p:cNvPr id="20" name="Text 18"/>
          <p:cNvSpPr/>
          <p:nvPr/>
        </p:nvSpPr>
        <p:spPr>
          <a:xfrm>
            <a:off x="11064240" y="6446520"/>
            <a:ext cx="640080" cy="274320"/>
          </a:xfrm>
          <a:prstGeom prst="rect">
            <a:avLst/>
          </a:prstGeom>
          <a:noFill/>
          <a:ln/>
        </p:spPr>
        <p:txBody>
          <a:bodyPr wrap="square" lIns="0" tIns="0" rIns="0" bIns="0" rtlCol="0" anchor="ctr"/>
          <a:lstStyle/>
          <a:p>
            <a:pPr algn="r" indent="0" marL="0">
              <a:buNone/>
            </a:pPr>
            <a:r>
              <a:rPr lang="en-US" sz="1000" dirty="0">
                <a:solidFill>
                  <a:srgbClr val="A8B5C2"/>
                </a:solidFill>
                <a:latin typeface="Calibri" pitchFamily="34" charset="0"/>
                <a:ea typeface="Calibri" pitchFamily="34" charset="-122"/>
                <a:cs typeface="Calibri" pitchFamily="34" charset="-120"/>
              </a:rPr>
              <a:t>14 / 21</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2A45"/>
        </a:solidFill>
      </p:bgPr>
    </p:bg>
    <p:spTree>
      <p:nvGrpSpPr>
        <p:cNvPr id="1" name=""/>
        <p:cNvGrpSpPr/>
        <p:nvPr/>
      </p:nvGrpSpPr>
      <p:grpSpPr>
        <a:xfrm>
          <a:off x="0" y="0"/>
          <a:ext cx="0" cy="0"/>
          <a:chOff x="0" y="0"/>
          <a:chExt cx="0" cy="0"/>
        </a:xfrm>
      </p:grpSpPr>
      <p:sp>
        <p:nvSpPr>
          <p:cNvPr id="2" name="Text 0"/>
          <p:cNvSpPr/>
          <p:nvPr/>
        </p:nvSpPr>
        <p:spPr>
          <a:xfrm>
            <a:off x="640080" y="457200"/>
            <a:ext cx="10881360" cy="822960"/>
          </a:xfrm>
          <a:prstGeom prst="rect">
            <a:avLst/>
          </a:prstGeom>
          <a:noFill/>
          <a:ln/>
        </p:spPr>
        <p:txBody>
          <a:bodyPr wrap="square" lIns="0" tIns="0" rIns="0" bIns="0" rtlCol="0" anchor="ctr"/>
          <a:lstStyle/>
          <a:p>
            <a:pPr algn="l" indent="0" marL="0">
              <a:buNone/>
            </a:pPr>
            <a:r>
              <a:rPr lang="en-US" sz="3200" b="1" dirty="0">
                <a:solidFill>
                  <a:srgbClr val="F1F0EE"/>
                </a:solidFill>
                <a:latin typeface="Calibri" pitchFamily="34" charset="0"/>
                <a:ea typeface="Calibri" pitchFamily="34" charset="-122"/>
                <a:cs typeface="Calibri" pitchFamily="34" charset="-120"/>
              </a:rPr>
              <a:t>Lens 01.  Unit economics.</a:t>
            </a:r>
            <a:endParaRPr lang="en-US" sz="3200" dirty="0"/>
          </a:p>
        </p:txBody>
      </p:sp>
      <p:sp>
        <p:nvSpPr>
          <p:cNvPr id="3" name="Text 1"/>
          <p:cNvSpPr/>
          <p:nvPr/>
        </p:nvSpPr>
        <p:spPr>
          <a:xfrm>
            <a:off x="640080" y="1554480"/>
            <a:ext cx="6400800" cy="365760"/>
          </a:xfrm>
          <a:prstGeom prst="rect">
            <a:avLst/>
          </a:prstGeom>
          <a:noFill/>
          <a:ln/>
        </p:spPr>
        <p:txBody>
          <a:bodyPr wrap="square" lIns="0" tIns="0" rIns="0" bIns="0" rtlCol="0" anchor="ctr"/>
          <a:lstStyle/>
          <a:p>
            <a:pPr indent="0" marL="0">
              <a:buNone/>
            </a:pPr>
            <a:r>
              <a:rPr lang="en-US" sz="1300" b="1" spc="400" kern="0" dirty="0">
                <a:solidFill>
                  <a:srgbClr val="2BCFCF"/>
                </a:solidFill>
                <a:latin typeface="Calibri" pitchFamily="34" charset="0"/>
                <a:ea typeface="Calibri" pitchFamily="34" charset="-122"/>
                <a:cs typeface="Calibri" pitchFamily="34" charset="-120"/>
              </a:rPr>
              <a:t>THE QUESTION</a:t>
            </a:r>
            <a:endParaRPr lang="en-US" sz="1300" dirty="0"/>
          </a:p>
        </p:txBody>
      </p:sp>
      <p:sp>
        <p:nvSpPr>
          <p:cNvPr id="4" name="Text 2"/>
          <p:cNvSpPr/>
          <p:nvPr/>
        </p:nvSpPr>
        <p:spPr>
          <a:xfrm>
            <a:off x="640080" y="1920240"/>
            <a:ext cx="6400800" cy="1280160"/>
          </a:xfrm>
          <a:prstGeom prst="rect">
            <a:avLst/>
          </a:prstGeom>
          <a:noFill/>
          <a:ln/>
        </p:spPr>
        <p:txBody>
          <a:bodyPr wrap="square" lIns="0" tIns="0" rIns="0" bIns="0" rtlCol="0" anchor="t"/>
          <a:lstStyle/>
          <a:p>
            <a:pPr indent="0" marL="0">
              <a:buNone/>
            </a:pPr>
            <a:r>
              <a:rPr lang="en-US" sz="1900" b="1" dirty="0">
                <a:solidFill>
                  <a:srgbClr val="F1F0EE"/>
                </a:solidFill>
                <a:latin typeface="Calibri" pitchFamily="34" charset="0"/>
                <a:ea typeface="Calibri" pitchFamily="34" charset="-122"/>
                <a:cs typeface="Calibri" pitchFamily="34" charset="-120"/>
              </a:rPr>
              <a:t>Can you name what this changes per task, per transaction, per decision, in dollars or minutes? A number, not an adjective.</a:t>
            </a:r>
            <a:endParaRPr lang="en-US" sz="1900" dirty="0"/>
          </a:p>
        </p:txBody>
      </p:sp>
      <p:sp>
        <p:nvSpPr>
          <p:cNvPr id="5" name="Text 3"/>
          <p:cNvSpPr/>
          <p:nvPr/>
        </p:nvSpPr>
        <p:spPr>
          <a:xfrm>
            <a:off x="640080" y="3383280"/>
            <a:ext cx="6400800" cy="365760"/>
          </a:xfrm>
          <a:prstGeom prst="rect">
            <a:avLst/>
          </a:prstGeom>
          <a:noFill/>
          <a:ln/>
        </p:spPr>
        <p:txBody>
          <a:bodyPr wrap="square" lIns="0" tIns="0" rIns="0" bIns="0" rtlCol="0" anchor="ctr"/>
          <a:lstStyle/>
          <a:p>
            <a:pPr indent="0" marL="0">
              <a:buNone/>
            </a:pPr>
            <a:r>
              <a:rPr lang="en-US" sz="1300" b="1" spc="400" kern="0" dirty="0">
                <a:solidFill>
                  <a:srgbClr val="2BCFCF"/>
                </a:solidFill>
                <a:latin typeface="Calibri" pitchFamily="34" charset="0"/>
                <a:ea typeface="Calibri" pitchFamily="34" charset="-122"/>
                <a:cs typeface="Calibri" pitchFamily="34" charset="-120"/>
              </a:rPr>
              <a:t>WHY IT CUTS THROUGH HYPE</a:t>
            </a:r>
            <a:endParaRPr lang="en-US" sz="1300" dirty="0"/>
          </a:p>
        </p:txBody>
      </p:sp>
      <p:sp>
        <p:nvSpPr>
          <p:cNvPr id="6" name="Text 4"/>
          <p:cNvSpPr/>
          <p:nvPr/>
        </p:nvSpPr>
        <p:spPr>
          <a:xfrm>
            <a:off x="640080" y="3749040"/>
            <a:ext cx="6400800" cy="1463040"/>
          </a:xfrm>
          <a:prstGeom prst="rect">
            <a:avLst/>
          </a:prstGeom>
          <a:noFill/>
          <a:ln/>
        </p:spPr>
        <p:txBody>
          <a:bodyPr wrap="square" lIns="0" tIns="0" rIns="0" bIns="0" rtlCol="0" anchor="t"/>
          <a:lstStyle/>
          <a:p>
            <a:pPr indent="0" marL="0">
              <a:buNone/>
            </a:pPr>
            <a:r>
              <a:rPr lang="en-US" sz="1600" dirty="0">
                <a:solidFill>
                  <a:srgbClr val="F1F0EE"/>
                </a:solidFill>
                <a:latin typeface="Calibri" pitchFamily="34" charset="0"/>
                <a:ea typeface="Calibri" pitchFamily="34" charset="-122"/>
                <a:cs typeface="Calibri" pitchFamily="34" charset="-120"/>
              </a:rPr>
              <a:t>Most pitches describe capability without committing to a unit. Forcing a unit kills 60% of bad proposals before they leave the room.</a:t>
            </a:r>
            <a:endParaRPr lang="en-US" sz="1600" dirty="0"/>
          </a:p>
        </p:txBody>
      </p:sp>
      <p:sp>
        <p:nvSpPr>
          <p:cNvPr id="7" name="Shape 5"/>
          <p:cNvSpPr/>
          <p:nvPr/>
        </p:nvSpPr>
        <p:spPr>
          <a:xfrm>
            <a:off x="7589520" y="1554480"/>
            <a:ext cx="4023360" cy="4572000"/>
          </a:xfrm>
          <a:prstGeom prst="rect">
            <a:avLst/>
          </a:prstGeom>
          <a:solidFill>
            <a:srgbClr val="07344F"/>
          </a:solidFill>
          <a:ln w="12700">
            <a:solidFill>
              <a:srgbClr val="07344F"/>
            </a:solidFill>
            <a:prstDash val="solid"/>
          </a:ln>
        </p:spPr>
      </p:sp>
      <p:sp>
        <p:nvSpPr>
          <p:cNvPr id="8" name="Text 6"/>
          <p:cNvSpPr/>
          <p:nvPr/>
        </p:nvSpPr>
        <p:spPr>
          <a:xfrm>
            <a:off x="7772400" y="1737360"/>
            <a:ext cx="3657600" cy="365760"/>
          </a:xfrm>
          <a:prstGeom prst="rect">
            <a:avLst/>
          </a:prstGeom>
          <a:noFill/>
          <a:ln/>
        </p:spPr>
        <p:txBody>
          <a:bodyPr wrap="square" lIns="0" tIns="0" rIns="0" bIns="0" rtlCol="0" anchor="ctr"/>
          <a:lstStyle/>
          <a:p>
            <a:pPr indent="0" marL="0">
              <a:buNone/>
            </a:pPr>
            <a:r>
              <a:rPr lang="en-US" sz="1300" b="1" spc="400" kern="0" dirty="0">
                <a:solidFill>
                  <a:srgbClr val="2BCFCF"/>
                </a:solidFill>
                <a:latin typeface="Calibri" pitchFamily="34" charset="0"/>
                <a:ea typeface="Calibri" pitchFamily="34" charset="-122"/>
                <a:cs typeface="Calibri" pitchFamily="34" charset="-120"/>
              </a:rPr>
              <a:t>THE TRAP</a:t>
            </a:r>
            <a:endParaRPr lang="en-US" sz="1300" dirty="0"/>
          </a:p>
        </p:txBody>
      </p:sp>
      <p:sp>
        <p:nvSpPr>
          <p:cNvPr id="9" name="Text 7"/>
          <p:cNvSpPr/>
          <p:nvPr/>
        </p:nvSpPr>
        <p:spPr>
          <a:xfrm>
            <a:off x="7772400" y="2194560"/>
            <a:ext cx="3657600" cy="548640"/>
          </a:xfrm>
          <a:prstGeom prst="rect">
            <a:avLst/>
          </a:prstGeom>
          <a:noFill/>
          <a:ln/>
        </p:spPr>
        <p:txBody>
          <a:bodyPr wrap="square" lIns="0" tIns="0" rIns="0" bIns="0" rtlCol="0" anchor="ctr"/>
          <a:lstStyle/>
          <a:p>
            <a:pPr indent="0" marL="0">
              <a:buNone/>
            </a:pPr>
            <a:r>
              <a:rPr lang="en-US" sz="1800" b="1" i="1" dirty="0">
                <a:solidFill>
                  <a:srgbClr val="F1F0EE"/>
                </a:solidFill>
                <a:latin typeface="Calibri" pitchFamily="34" charset="0"/>
                <a:ea typeface="Calibri" pitchFamily="34" charset="-122"/>
                <a:cs typeface="Calibri" pitchFamily="34" charset="-120"/>
              </a:rPr>
              <a:t>"Deflects 30% of tickets."</a:t>
            </a:r>
            <a:endParaRPr lang="en-US" sz="1800" dirty="0"/>
          </a:p>
        </p:txBody>
      </p:sp>
      <p:sp>
        <p:nvSpPr>
          <p:cNvPr id="10" name="Text 8"/>
          <p:cNvSpPr/>
          <p:nvPr/>
        </p:nvSpPr>
        <p:spPr>
          <a:xfrm>
            <a:off x="7772400" y="2834640"/>
            <a:ext cx="3657600" cy="3108960"/>
          </a:xfrm>
          <a:prstGeom prst="rect">
            <a:avLst/>
          </a:prstGeom>
          <a:noFill/>
          <a:ln/>
        </p:spPr>
        <p:txBody>
          <a:bodyPr wrap="square" lIns="0" tIns="0" rIns="0" bIns="0" rtlCol="0" anchor="t"/>
          <a:lstStyle/>
          <a:p>
            <a:pPr indent="0" marL="0">
              <a:spcAft>
                <a:spcPts val="800"/>
              </a:spcAft>
              <a:buNone/>
            </a:pPr>
            <a:r>
              <a:rPr lang="en-US" sz="1300" i="1" dirty="0">
                <a:solidFill>
                  <a:srgbClr val="2BCFCF"/>
                </a:solidFill>
                <a:latin typeface="Calibri" pitchFamily="34" charset="0"/>
                <a:ea typeface="Calibri" pitchFamily="34" charset="-122"/>
                <a:cs typeface="Calibri" pitchFamily="34" charset="-120"/>
              </a:rPr>
              <a:t>Deflects to where?</a:t>
            </a:r>
            <a:endParaRPr lang="en-US" sz="1300" dirty="0"/>
          </a:p>
          <a:p>
            <a:pPr indent="0" marL="0">
              <a:spcAft>
                <a:spcPts val="600"/>
              </a:spcAft>
              <a:buNone/>
            </a:pPr>
            <a:r>
              <a:rPr lang="en-US" sz="1300" dirty="0">
                <a:solidFill>
                  <a:srgbClr val="F1F0EE"/>
                </a:solidFill>
                <a:latin typeface="Calibri" pitchFamily="34" charset="0"/>
                <a:ea typeface="Calibri" pitchFamily="34" charset="-122"/>
                <a:cs typeface="Calibri" pitchFamily="34" charset="-120"/>
              </a:rPr>
              <a:t>Remaining tickets are harder.</a:t>
            </a:r>
            <a:endParaRPr lang="en-US" sz="1300" dirty="0"/>
          </a:p>
          <a:p>
            <a:pPr indent="0" marL="0">
              <a:spcAft>
                <a:spcPts val="600"/>
              </a:spcAft>
              <a:buNone/>
            </a:pPr>
            <a:r>
              <a:rPr lang="en-US" sz="1300" dirty="0">
                <a:solidFill>
                  <a:srgbClr val="F1F0EE"/>
                </a:solidFill>
                <a:latin typeface="Calibri" pitchFamily="34" charset="0"/>
                <a:ea typeface="Calibri" pitchFamily="34" charset="-122"/>
                <a:cs typeface="Calibri" pitchFamily="34" charset="-120"/>
              </a:rPr>
              <a:t>Agents get slower.</a:t>
            </a:r>
            <a:endParaRPr lang="en-US" sz="1300" dirty="0"/>
          </a:p>
          <a:p>
            <a:pPr indent="0" marL="0">
              <a:spcAft>
                <a:spcPts val="600"/>
              </a:spcAft>
              <a:buNone/>
            </a:pPr>
            <a:r>
              <a:rPr lang="en-US" sz="1300" dirty="0">
                <a:solidFill>
                  <a:srgbClr val="F1F0EE"/>
                </a:solidFill>
                <a:latin typeface="Calibri" pitchFamily="34" charset="0"/>
                <a:ea typeface="Calibri" pitchFamily="34" charset="-122"/>
                <a:cs typeface="Calibri" pitchFamily="34" charset="-120"/>
              </a:rPr>
              <a:t>Easy questions that built morale are gone.</a:t>
            </a:r>
            <a:endParaRPr lang="en-US" sz="1300" dirty="0"/>
          </a:p>
          <a:p>
            <a:pPr indent="0" marL="0">
              <a:buNone/>
            </a:pPr>
            <a:r>
              <a:rPr lang="en-US" sz="1300" dirty="0">
                <a:solidFill>
                  <a:srgbClr val="F1F0EE"/>
                </a:solidFill>
                <a:latin typeface="Calibri" pitchFamily="34" charset="0"/>
                <a:ea typeface="Calibri" pitchFamily="34" charset="-122"/>
                <a:cs typeface="Calibri" pitchFamily="34" charset="-120"/>
              </a:rPr>
              <a:t>CSAT drops. The unit might be net negative.</a:t>
            </a:r>
            <a:endParaRPr lang="en-US" sz="1300" dirty="0"/>
          </a:p>
        </p:txBody>
      </p:sp>
      <p:sp>
        <p:nvSpPr>
          <p:cNvPr id="11" name="Text 9"/>
          <p:cNvSpPr/>
          <p:nvPr/>
        </p:nvSpPr>
        <p:spPr>
          <a:xfrm>
            <a:off x="457200" y="6446520"/>
            <a:ext cx="1097280" cy="274320"/>
          </a:xfrm>
          <a:prstGeom prst="rect">
            <a:avLst/>
          </a:prstGeom>
          <a:noFill/>
          <a:ln/>
        </p:spPr>
        <p:txBody>
          <a:bodyPr wrap="square" lIns="0" tIns="0" rIns="0" bIns="0" rtlCol="0" anchor="ctr"/>
          <a:lstStyle/>
          <a:p>
            <a:pPr indent="0" marL="0">
              <a:buNone/>
            </a:pPr>
            <a:r>
              <a:rPr lang="en-US" sz="1100" b="1" dirty="0">
                <a:solidFill>
                  <a:srgbClr val="F1F0EE"/>
                </a:solidFill>
                <a:latin typeface="Calibri" pitchFamily="34" charset="0"/>
                <a:ea typeface="Calibri" pitchFamily="34" charset="-122"/>
                <a:cs typeface="Calibri" pitchFamily="34" charset="-120"/>
              </a:rPr>
              <a:t>WeDo</a:t>
            </a:r>
            <a:pPr indent="0" marL="0">
              <a:buNone/>
            </a:pPr>
            <a:r>
              <a:rPr lang="en-US" sz="1100" b="1" dirty="0">
                <a:solidFill>
                  <a:srgbClr val="2BCFCF"/>
                </a:solidFill>
                <a:latin typeface="Calibri" pitchFamily="34" charset="0"/>
                <a:ea typeface="Calibri" pitchFamily="34" charset="-122"/>
                <a:cs typeface="Calibri" pitchFamily="34" charset="-120"/>
              </a:rPr>
              <a:t>AI</a:t>
            </a:r>
            <a:endParaRPr lang="en-US" sz="1100" dirty="0"/>
          </a:p>
        </p:txBody>
      </p:sp>
      <p:sp>
        <p:nvSpPr>
          <p:cNvPr id="12" name="Text 10"/>
          <p:cNvSpPr/>
          <p:nvPr/>
        </p:nvSpPr>
        <p:spPr>
          <a:xfrm>
            <a:off x="11064240" y="6446520"/>
            <a:ext cx="640080" cy="274320"/>
          </a:xfrm>
          <a:prstGeom prst="rect">
            <a:avLst/>
          </a:prstGeom>
          <a:noFill/>
          <a:ln/>
        </p:spPr>
        <p:txBody>
          <a:bodyPr wrap="square" lIns="0" tIns="0" rIns="0" bIns="0" rtlCol="0" anchor="ctr"/>
          <a:lstStyle/>
          <a:p>
            <a:pPr algn="r" indent="0" marL="0">
              <a:buNone/>
            </a:pPr>
            <a:r>
              <a:rPr lang="en-US" sz="1000" dirty="0">
                <a:solidFill>
                  <a:srgbClr val="A8B5C2"/>
                </a:solidFill>
                <a:latin typeface="Calibri" pitchFamily="34" charset="0"/>
                <a:ea typeface="Calibri" pitchFamily="34" charset="-122"/>
                <a:cs typeface="Calibri" pitchFamily="34" charset="-120"/>
              </a:rPr>
              <a:t>15 / 21</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2A45"/>
        </a:solidFill>
      </p:bgPr>
    </p:bg>
    <p:spTree>
      <p:nvGrpSpPr>
        <p:cNvPr id="1" name=""/>
        <p:cNvGrpSpPr/>
        <p:nvPr/>
      </p:nvGrpSpPr>
      <p:grpSpPr>
        <a:xfrm>
          <a:off x="0" y="0"/>
          <a:ext cx="0" cy="0"/>
          <a:chOff x="0" y="0"/>
          <a:chExt cx="0" cy="0"/>
        </a:xfrm>
      </p:grpSpPr>
      <p:sp>
        <p:nvSpPr>
          <p:cNvPr id="2" name="Text 0"/>
          <p:cNvSpPr/>
          <p:nvPr/>
        </p:nvSpPr>
        <p:spPr>
          <a:xfrm>
            <a:off x="640080" y="457200"/>
            <a:ext cx="10881360" cy="822960"/>
          </a:xfrm>
          <a:prstGeom prst="rect">
            <a:avLst/>
          </a:prstGeom>
          <a:noFill/>
          <a:ln/>
        </p:spPr>
        <p:txBody>
          <a:bodyPr wrap="square" lIns="0" tIns="0" rIns="0" bIns="0" rtlCol="0" anchor="ctr"/>
          <a:lstStyle/>
          <a:p>
            <a:pPr algn="l" indent="0" marL="0">
              <a:buNone/>
            </a:pPr>
            <a:r>
              <a:rPr lang="en-US" sz="3200" b="1" dirty="0">
                <a:solidFill>
                  <a:srgbClr val="F1F0EE"/>
                </a:solidFill>
                <a:latin typeface="Calibri" pitchFamily="34" charset="0"/>
                <a:ea typeface="Calibri" pitchFamily="34" charset="-122"/>
                <a:cs typeface="Calibri" pitchFamily="34" charset="-120"/>
              </a:rPr>
              <a:t>Lens 02.  Knowledge foundation.</a:t>
            </a:r>
            <a:endParaRPr lang="en-US" sz="3200" dirty="0"/>
          </a:p>
        </p:txBody>
      </p:sp>
      <p:sp>
        <p:nvSpPr>
          <p:cNvPr id="3" name="Text 1"/>
          <p:cNvSpPr/>
          <p:nvPr/>
        </p:nvSpPr>
        <p:spPr>
          <a:xfrm>
            <a:off x="640080" y="1554480"/>
            <a:ext cx="10881360" cy="365760"/>
          </a:xfrm>
          <a:prstGeom prst="rect">
            <a:avLst/>
          </a:prstGeom>
          <a:noFill/>
          <a:ln/>
        </p:spPr>
        <p:txBody>
          <a:bodyPr wrap="square" lIns="0" tIns="0" rIns="0" bIns="0" rtlCol="0" anchor="ctr"/>
          <a:lstStyle/>
          <a:p>
            <a:pPr indent="0" marL="0">
              <a:buNone/>
            </a:pPr>
            <a:r>
              <a:rPr lang="en-US" sz="1300" b="1" spc="400" kern="0" dirty="0">
                <a:solidFill>
                  <a:srgbClr val="2BCFCF"/>
                </a:solidFill>
                <a:latin typeface="Calibri" pitchFamily="34" charset="0"/>
                <a:ea typeface="Calibri" pitchFamily="34" charset="-122"/>
                <a:cs typeface="Calibri" pitchFamily="34" charset="-120"/>
              </a:rPr>
              <a:t>THE QUESTION</a:t>
            </a:r>
            <a:endParaRPr lang="en-US" sz="1300" dirty="0"/>
          </a:p>
        </p:txBody>
      </p:sp>
      <p:sp>
        <p:nvSpPr>
          <p:cNvPr id="4" name="Text 2"/>
          <p:cNvSpPr/>
          <p:nvPr/>
        </p:nvSpPr>
        <p:spPr>
          <a:xfrm>
            <a:off x="640080" y="1920240"/>
            <a:ext cx="10881360" cy="914400"/>
          </a:xfrm>
          <a:prstGeom prst="rect">
            <a:avLst/>
          </a:prstGeom>
          <a:noFill/>
          <a:ln/>
        </p:spPr>
        <p:txBody>
          <a:bodyPr wrap="square" lIns="0" tIns="0" rIns="0" bIns="0" rtlCol="0" anchor="t"/>
          <a:lstStyle/>
          <a:p>
            <a:pPr indent="0" marL="0">
              <a:buNone/>
            </a:pPr>
            <a:r>
              <a:rPr lang="en-US" sz="2000" b="1" dirty="0">
                <a:solidFill>
                  <a:srgbClr val="F1F0EE"/>
                </a:solidFill>
                <a:latin typeface="Calibri" pitchFamily="34" charset="0"/>
                <a:ea typeface="Calibri" pitchFamily="34" charset="-122"/>
                <a:cs typeface="Calibri" pitchFamily="34" charset="-120"/>
              </a:rPr>
              <a:t>Does this build a reusable knowledge foundation other use cases can leverage, or a silo that dies?</a:t>
            </a:r>
            <a:endParaRPr lang="en-US" sz="2000" dirty="0"/>
          </a:p>
        </p:txBody>
      </p:sp>
      <p:sp>
        <p:nvSpPr>
          <p:cNvPr id="5" name="Shape 3"/>
          <p:cNvSpPr/>
          <p:nvPr/>
        </p:nvSpPr>
        <p:spPr>
          <a:xfrm>
            <a:off x="640080" y="3108960"/>
            <a:ext cx="3444240" cy="1554480"/>
          </a:xfrm>
          <a:prstGeom prst="rect">
            <a:avLst/>
          </a:prstGeom>
          <a:solidFill>
            <a:srgbClr val="07344F"/>
          </a:solidFill>
          <a:ln w="12700">
            <a:solidFill>
              <a:srgbClr val="07344F"/>
            </a:solidFill>
            <a:prstDash val="solid"/>
          </a:ln>
        </p:spPr>
      </p:sp>
      <p:sp>
        <p:nvSpPr>
          <p:cNvPr id="6" name="Text 4"/>
          <p:cNvSpPr/>
          <p:nvPr/>
        </p:nvSpPr>
        <p:spPr>
          <a:xfrm>
            <a:off x="914400" y="3383280"/>
            <a:ext cx="2895600" cy="457200"/>
          </a:xfrm>
          <a:prstGeom prst="rect">
            <a:avLst/>
          </a:prstGeom>
          <a:noFill/>
          <a:ln/>
        </p:spPr>
        <p:txBody>
          <a:bodyPr wrap="square" lIns="0" tIns="0" rIns="0" bIns="0" rtlCol="0" anchor="ctr"/>
          <a:lstStyle/>
          <a:p>
            <a:pPr indent="0" marL="0">
              <a:buNone/>
            </a:pPr>
            <a:r>
              <a:rPr lang="en-US" sz="1400" b="1" spc="400" kern="0" dirty="0">
                <a:solidFill>
                  <a:srgbClr val="2BCFCF"/>
                </a:solidFill>
                <a:latin typeface="Calibri" pitchFamily="34" charset="0"/>
                <a:ea typeface="Calibri" pitchFamily="34" charset="-122"/>
                <a:cs typeface="Calibri" pitchFamily="34" charset="-120"/>
              </a:rPr>
              <a:t>VOICE</a:t>
            </a:r>
            <a:endParaRPr lang="en-US" sz="1400" dirty="0"/>
          </a:p>
        </p:txBody>
      </p:sp>
      <p:sp>
        <p:nvSpPr>
          <p:cNvPr id="7" name="Text 5"/>
          <p:cNvSpPr/>
          <p:nvPr/>
        </p:nvSpPr>
        <p:spPr>
          <a:xfrm>
            <a:off x="914400" y="3886200"/>
            <a:ext cx="2895600" cy="640080"/>
          </a:xfrm>
          <a:prstGeom prst="rect">
            <a:avLst/>
          </a:prstGeom>
          <a:noFill/>
          <a:ln/>
        </p:spPr>
        <p:txBody>
          <a:bodyPr wrap="square" lIns="0" tIns="0" rIns="0" bIns="0" rtlCol="0" anchor="t"/>
          <a:lstStyle/>
          <a:p>
            <a:pPr indent="0" marL="0">
              <a:buNone/>
            </a:pPr>
            <a:r>
              <a:rPr lang="en-US" sz="1300" dirty="0">
                <a:solidFill>
                  <a:srgbClr val="F1F0EE"/>
                </a:solidFill>
                <a:latin typeface="Calibri" pitchFamily="34" charset="0"/>
                <a:ea typeface="Calibri" pitchFamily="34" charset="-122"/>
                <a:cs typeface="Calibri" pitchFamily="34" charset="-120"/>
              </a:rPr>
              <a:t>Calls, transcripts, sentiment, intent, voice of customer</a:t>
            </a:r>
            <a:endParaRPr lang="en-US" sz="1300" dirty="0"/>
          </a:p>
        </p:txBody>
      </p:sp>
      <p:sp>
        <p:nvSpPr>
          <p:cNvPr id="8" name="Shape 6"/>
          <p:cNvSpPr/>
          <p:nvPr/>
        </p:nvSpPr>
        <p:spPr>
          <a:xfrm>
            <a:off x="4358640" y="3108960"/>
            <a:ext cx="3444240" cy="1554480"/>
          </a:xfrm>
          <a:prstGeom prst="rect">
            <a:avLst/>
          </a:prstGeom>
          <a:solidFill>
            <a:srgbClr val="07344F"/>
          </a:solidFill>
          <a:ln w="12700">
            <a:solidFill>
              <a:srgbClr val="07344F"/>
            </a:solidFill>
            <a:prstDash val="solid"/>
          </a:ln>
        </p:spPr>
      </p:sp>
      <p:sp>
        <p:nvSpPr>
          <p:cNvPr id="9" name="Text 7"/>
          <p:cNvSpPr/>
          <p:nvPr/>
        </p:nvSpPr>
        <p:spPr>
          <a:xfrm>
            <a:off x="4632960" y="3383280"/>
            <a:ext cx="2895600" cy="457200"/>
          </a:xfrm>
          <a:prstGeom prst="rect">
            <a:avLst/>
          </a:prstGeom>
          <a:noFill/>
          <a:ln/>
        </p:spPr>
        <p:txBody>
          <a:bodyPr wrap="square" lIns="0" tIns="0" rIns="0" bIns="0" rtlCol="0" anchor="ctr"/>
          <a:lstStyle/>
          <a:p>
            <a:pPr indent="0" marL="0">
              <a:buNone/>
            </a:pPr>
            <a:r>
              <a:rPr lang="en-US" sz="1400" b="1" spc="400" kern="0" dirty="0">
                <a:solidFill>
                  <a:srgbClr val="2BCFCF"/>
                </a:solidFill>
                <a:latin typeface="Calibri" pitchFamily="34" charset="0"/>
                <a:ea typeface="Calibri" pitchFamily="34" charset="-122"/>
                <a:cs typeface="Calibri" pitchFamily="34" charset="-120"/>
              </a:rPr>
              <a:t>DOCUMENTS</a:t>
            </a:r>
            <a:endParaRPr lang="en-US" sz="1400" dirty="0"/>
          </a:p>
        </p:txBody>
      </p:sp>
      <p:sp>
        <p:nvSpPr>
          <p:cNvPr id="10" name="Text 8"/>
          <p:cNvSpPr/>
          <p:nvPr/>
        </p:nvSpPr>
        <p:spPr>
          <a:xfrm>
            <a:off x="4632960" y="3886200"/>
            <a:ext cx="2895600" cy="640080"/>
          </a:xfrm>
          <a:prstGeom prst="rect">
            <a:avLst/>
          </a:prstGeom>
          <a:noFill/>
          <a:ln/>
        </p:spPr>
        <p:txBody>
          <a:bodyPr wrap="square" lIns="0" tIns="0" rIns="0" bIns="0" rtlCol="0" anchor="t"/>
          <a:lstStyle/>
          <a:p>
            <a:pPr indent="0" marL="0">
              <a:buNone/>
            </a:pPr>
            <a:r>
              <a:rPr lang="en-US" sz="1300" dirty="0">
                <a:solidFill>
                  <a:srgbClr val="F1F0EE"/>
                </a:solidFill>
                <a:latin typeface="Calibri" pitchFamily="34" charset="0"/>
                <a:ea typeface="Calibri" pitchFamily="34" charset="-122"/>
                <a:cs typeface="Calibri" pitchFamily="34" charset="-120"/>
              </a:rPr>
              <a:t>Contracts, complaints, policies, accuracy checks</a:t>
            </a:r>
            <a:endParaRPr lang="en-US" sz="1300" dirty="0"/>
          </a:p>
        </p:txBody>
      </p:sp>
      <p:sp>
        <p:nvSpPr>
          <p:cNvPr id="11" name="Shape 9"/>
          <p:cNvSpPr/>
          <p:nvPr/>
        </p:nvSpPr>
        <p:spPr>
          <a:xfrm>
            <a:off x="8077200" y="3108960"/>
            <a:ext cx="3444240" cy="1554480"/>
          </a:xfrm>
          <a:prstGeom prst="rect">
            <a:avLst/>
          </a:prstGeom>
          <a:solidFill>
            <a:srgbClr val="07344F"/>
          </a:solidFill>
          <a:ln w="12700">
            <a:solidFill>
              <a:srgbClr val="07344F"/>
            </a:solidFill>
            <a:prstDash val="solid"/>
          </a:ln>
        </p:spPr>
      </p:sp>
      <p:sp>
        <p:nvSpPr>
          <p:cNvPr id="12" name="Text 10"/>
          <p:cNvSpPr/>
          <p:nvPr/>
        </p:nvSpPr>
        <p:spPr>
          <a:xfrm>
            <a:off x="8351520" y="3383280"/>
            <a:ext cx="2895600" cy="457200"/>
          </a:xfrm>
          <a:prstGeom prst="rect">
            <a:avLst/>
          </a:prstGeom>
          <a:noFill/>
          <a:ln/>
        </p:spPr>
        <p:txBody>
          <a:bodyPr wrap="square" lIns="0" tIns="0" rIns="0" bIns="0" rtlCol="0" anchor="ctr"/>
          <a:lstStyle/>
          <a:p>
            <a:pPr indent="0" marL="0">
              <a:buNone/>
            </a:pPr>
            <a:r>
              <a:rPr lang="en-US" sz="1400" b="1" spc="400" kern="0" dirty="0">
                <a:solidFill>
                  <a:srgbClr val="2BCFCF"/>
                </a:solidFill>
                <a:latin typeface="Calibri" pitchFamily="34" charset="0"/>
                <a:ea typeface="Calibri" pitchFamily="34" charset="-122"/>
                <a:cs typeface="Calibri" pitchFamily="34" charset="-120"/>
              </a:rPr>
              <a:t>OPERATIONS</a:t>
            </a:r>
            <a:endParaRPr lang="en-US" sz="1400" dirty="0"/>
          </a:p>
        </p:txBody>
      </p:sp>
      <p:sp>
        <p:nvSpPr>
          <p:cNvPr id="13" name="Text 11"/>
          <p:cNvSpPr/>
          <p:nvPr/>
        </p:nvSpPr>
        <p:spPr>
          <a:xfrm>
            <a:off x="8351520" y="3886200"/>
            <a:ext cx="2895600" cy="640080"/>
          </a:xfrm>
          <a:prstGeom prst="rect">
            <a:avLst/>
          </a:prstGeom>
          <a:noFill/>
          <a:ln/>
        </p:spPr>
        <p:txBody>
          <a:bodyPr wrap="square" lIns="0" tIns="0" rIns="0" bIns="0" rtlCol="0" anchor="t"/>
          <a:lstStyle/>
          <a:p>
            <a:pPr indent="0" marL="0">
              <a:buNone/>
            </a:pPr>
            <a:r>
              <a:rPr lang="en-US" sz="1300" dirty="0">
                <a:solidFill>
                  <a:srgbClr val="F1F0EE"/>
                </a:solidFill>
                <a:latin typeface="Calibri" pitchFamily="34" charset="0"/>
                <a:ea typeface="Calibri" pitchFamily="34" charset="-122"/>
                <a:cs typeface="Calibri" pitchFamily="34" charset="-120"/>
              </a:rPr>
              <a:t>Outcomes, claims, finance, employee signals</a:t>
            </a:r>
            <a:endParaRPr lang="en-US" sz="1300" dirty="0"/>
          </a:p>
        </p:txBody>
      </p:sp>
      <p:sp>
        <p:nvSpPr>
          <p:cNvPr id="14" name="Text 12"/>
          <p:cNvSpPr/>
          <p:nvPr/>
        </p:nvSpPr>
        <p:spPr>
          <a:xfrm>
            <a:off x="640080" y="4937760"/>
            <a:ext cx="10881360" cy="457200"/>
          </a:xfrm>
          <a:prstGeom prst="rect">
            <a:avLst/>
          </a:prstGeom>
          <a:noFill/>
          <a:ln/>
        </p:spPr>
        <p:txBody>
          <a:bodyPr wrap="square" lIns="0" tIns="0" rIns="0" bIns="0" rtlCol="0" anchor="ctr"/>
          <a:lstStyle/>
          <a:p>
            <a:pPr algn="ctr" indent="0" marL="0">
              <a:buNone/>
            </a:pPr>
            <a:r>
              <a:rPr lang="en-US" sz="1700" i="1" dirty="0">
                <a:solidFill>
                  <a:srgbClr val="2BCFCF"/>
                </a:solidFill>
                <a:latin typeface="Calibri" pitchFamily="34" charset="0"/>
                <a:ea typeface="Calibri" pitchFamily="34" charset="-122"/>
                <a:cs typeface="Calibri" pitchFamily="34" charset="-120"/>
              </a:rPr>
              <a:t>Combined, they unlock use cases none of them deliver alone.</a:t>
            </a:r>
            <a:endParaRPr lang="en-US" sz="1700" dirty="0"/>
          </a:p>
        </p:txBody>
      </p:sp>
      <p:sp>
        <p:nvSpPr>
          <p:cNvPr id="15" name="Text 13"/>
          <p:cNvSpPr/>
          <p:nvPr/>
        </p:nvSpPr>
        <p:spPr>
          <a:xfrm>
            <a:off x="1371600" y="5394960"/>
            <a:ext cx="9418320" cy="640080"/>
          </a:xfrm>
          <a:prstGeom prst="rect">
            <a:avLst/>
          </a:prstGeom>
          <a:noFill/>
          <a:ln/>
        </p:spPr>
        <p:txBody>
          <a:bodyPr wrap="square" lIns="0" tIns="0" rIns="0" bIns="0" rtlCol="0" anchor="t"/>
          <a:lstStyle/>
          <a:p>
            <a:pPr algn="ctr" indent="0" marL="0">
              <a:buNone/>
            </a:pPr>
            <a:r>
              <a:rPr lang="en-US" sz="1400" dirty="0">
                <a:solidFill>
                  <a:srgbClr val="F1F0EE"/>
                </a:solidFill>
                <a:latin typeface="Calibri" pitchFamily="34" charset="0"/>
                <a:ea typeface="Calibri" pitchFamily="34" charset="-122"/>
                <a:cs typeface="Calibri" pitchFamily="34" charset="-120"/>
              </a:rPr>
              <a:t>Voice plus documents plus operations is product, QA, compliance, sentiment, regulatory insight. The pieces compound.</a:t>
            </a:r>
            <a:endParaRPr lang="en-US" sz="1400" dirty="0"/>
          </a:p>
        </p:txBody>
      </p:sp>
      <p:sp>
        <p:nvSpPr>
          <p:cNvPr id="16" name="Text 14"/>
          <p:cNvSpPr/>
          <p:nvPr/>
        </p:nvSpPr>
        <p:spPr>
          <a:xfrm>
            <a:off x="457200" y="6446520"/>
            <a:ext cx="1097280" cy="274320"/>
          </a:xfrm>
          <a:prstGeom prst="rect">
            <a:avLst/>
          </a:prstGeom>
          <a:noFill/>
          <a:ln/>
        </p:spPr>
        <p:txBody>
          <a:bodyPr wrap="square" lIns="0" tIns="0" rIns="0" bIns="0" rtlCol="0" anchor="ctr"/>
          <a:lstStyle/>
          <a:p>
            <a:pPr indent="0" marL="0">
              <a:buNone/>
            </a:pPr>
            <a:r>
              <a:rPr lang="en-US" sz="1100" b="1" dirty="0">
                <a:solidFill>
                  <a:srgbClr val="F1F0EE"/>
                </a:solidFill>
                <a:latin typeface="Calibri" pitchFamily="34" charset="0"/>
                <a:ea typeface="Calibri" pitchFamily="34" charset="-122"/>
                <a:cs typeface="Calibri" pitchFamily="34" charset="-120"/>
              </a:rPr>
              <a:t>WeDo</a:t>
            </a:r>
            <a:pPr indent="0" marL="0">
              <a:buNone/>
            </a:pPr>
            <a:r>
              <a:rPr lang="en-US" sz="1100" b="1" dirty="0">
                <a:solidFill>
                  <a:srgbClr val="2BCFCF"/>
                </a:solidFill>
                <a:latin typeface="Calibri" pitchFamily="34" charset="0"/>
                <a:ea typeface="Calibri" pitchFamily="34" charset="-122"/>
                <a:cs typeface="Calibri" pitchFamily="34" charset="-120"/>
              </a:rPr>
              <a:t>AI</a:t>
            </a:r>
            <a:endParaRPr lang="en-US" sz="1100" dirty="0"/>
          </a:p>
        </p:txBody>
      </p:sp>
      <p:sp>
        <p:nvSpPr>
          <p:cNvPr id="17" name="Text 15"/>
          <p:cNvSpPr/>
          <p:nvPr/>
        </p:nvSpPr>
        <p:spPr>
          <a:xfrm>
            <a:off x="11064240" y="6446520"/>
            <a:ext cx="640080" cy="274320"/>
          </a:xfrm>
          <a:prstGeom prst="rect">
            <a:avLst/>
          </a:prstGeom>
          <a:noFill/>
          <a:ln/>
        </p:spPr>
        <p:txBody>
          <a:bodyPr wrap="square" lIns="0" tIns="0" rIns="0" bIns="0" rtlCol="0" anchor="ctr"/>
          <a:lstStyle/>
          <a:p>
            <a:pPr algn="r" indent="0" marL="0">
              <a:buNone/>
            </a:pPr>
            <a:r>
              <a:rPr lang="en-US" sz="1000" dirty="0">
                <a:solidFill>
                  <a:srgbClr val="A8B5C2"/>
                </a:solidFill>
                <a:latin typeface="Calibri" pitchFamily="34" charset="0"/>
                <a:ea typeface="Calibri" pitchFamily="34" charset="-122"/>
                <a:cs typeface="Calibri" pitchFamily="34" charset="-120"/>
              </a:rPr>
              <a:t>16 / 21</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2A45"/>
        </a:solidFill>
      </p:bgPr>
    </p:bg>
    <p:spTree>
      <p:nvGrpSpPr>
        <p:cNvPr id="1" name=""/>
        <p:cNvGrpSpPr/>
        <p:nvPr/>
      </p:nvGrpSpPr>
      <p:grpSpPr>
        <a:xfrm>
          <a:off x="0" y="0"/>
          <a:ext cx="0" cy="0"/>
          <a:chOff x="0" y="0"/>
          <a:chExt cx="0" cy="0"/>
        </a:xfrm>
      </p:grpSpPr>
      <p:sp>
        <p:nvSpPr>
          <p:cNvPr id="2" name="Text 0"/>
          <p:cNvSpPr/>
          <p:nvPr/>
        </p:nvSpPr>
        <p:spPr>
          <a:xfrm>
            <a:off x="640080" y="457200"/>
            <a:ext cx="10881360" cy="822960"/>
          </a:xfrm>
          <a:prstGeom prst="rect">
            <a:avLst/>
          </a:prstGeom>
          <a:noFill/>
          <a:ln/>
        </p:spPr>
        <p:txBody>
          <a:bodyPr wrap="square" lIns="0" tIns="0" rIns="0" bIns="0" rtlCol="0" anchor="ctr"/>
          <a:lstStyle/>
          <a:p>
            <a:pPr algn="l" indent="0" marL="0">
              <a:buNone/>
            </a:pPr>
            <a:r>
              <a:rPr lang="en-US" sz="3200" b="1" dirty="0">
                <a:solidFill>
                  <a:srgbClr val="F1F0EE"/>
                </a:solidFill>
                <a:latin typeface="Calibri" pitchFamily="34" charset="0"/>
                <a:ea typeface="Calibri" pitchFamily="34" charset="-122"/>
                <a:cs typeface="Calibri" pitchFamily="34" charset="-120"/>
              </a:rPr>
              <a:t>Lens 03.  Roadmap fit.</a:t>
            </a:r>
            <a:endParaRPr lang="en-US" sz="3200" dirty="0"/>
          </a:p>
        </p:txBody>
      </p:sp>
      <p:sp>
        <p:nvSpPr>
          <p:cNvPr id="3" name="Text 1"/>
          <p:cNvSpPr/>
          <p:nvPr/>
        </p:nvSpPr>
        <p:spPr>
          <a:xfrm>
            <a:off x="640080" y="1554480"/>
            <a:ext cx="6766560" cy="365760"/>
          </a:xfrm>
          <a:prstGeom prst="rect">
            <a:avLst/>
          </a:prstGeom>
          <a:noFill/>
          <a:ln/>
        </p:spPr>
        <p:txBody>
          <a:bodyPr wrap="square" lIns="0" tIns="0" rIns="0" bIns="0" rtlCol="0" anchor="ctr"/>
          <a:lstStyle/>
          <a:p>
            <a:pPr indent="0" marL="0">
              <a:buNone/>
            </a:pPr>
            <a:r>
              <a:rPr lang="en-US" sz="1300" b="1" spc="400" kern="0" dirty="0">
                <a:solidFill>
                  <a:srgbClr val="2BCFCF"/>
                </a:solidFill>
                <a:latin typeface="Calibri" pitchFamily="34" charset="0"/>
                <a:ea typeface="Calibri" pitchFamily="34" charset="-122"/>
                <a:cs typeface="Calibri" pitchFamily="34" charset="-120"/>
              </a:rPr>
              <a:t>THE QUESTION</a:t>
            </a:r>
            <a:endParaRPr lang="en-US" sz="1300" dirty="0"/>
          </a:p>
        </p:txBody>
      </p:sp>
      <p:sp>
        <p:nvSpPr>
          <p:cNvPr id="4" name="Text 2"/>
          <p:cNvSpPr/>
          <p:nvPr/>
        </p:nvSpPr>
        <p:spPr>
          <a:xfrm>
            <a:off x="640080" y="1920240"/>
            <a:ext cx="6766560" cy="1371600"/>
          </a:xfrm>
          <a:prstGeom prst="rect">
            <a:avLst/>
          </a:prstGeom>
          <a:noFill/>
          <a:ln/>
        </p:spPr>
        <p:txBody>
          <a:bodyPr wrap="square" lIns="0" tIns="0" rIns="0" bIns="0" rtlCol="0" anchor="t"/>
          <a:lstStyle/>
          <a:p>
            <a:pPr indent="0" marL="0">
              <a:buNone/>
            </a:pPr>
            <a:r>
              <a:rPr lang="en-US" sz="1900" b="1" dirty="0">
                <a:solidFill>
                  <a:srgbClr val="F1F0EE"/>
                </a:solidFill>
                <a:latin typeface="Calibri" pitchFamily="34" charset="0"/>
                <a:ea typeface="Calibri" pitchFamily="34" charset="-122"/>
                <a:cs typeface="Calibri" pitchFamily="34" charset="-120"/>
              </a:rPr>
              <a:t>How does this connect to the bigger picture? Where else in your business could this intelligence be used?</a:t>
            </a:r>
            <a:endParaRPr lang="en-US" sz="1900" dirty="0"/>
          </a:p>
        </p:txBody>
      </p:sp>
      <p:sp>
        <p:nvSpPr>
          <p:cNvPr id="5" name="Text 3"/>
          <p:cNvSpPr/>
          <p:nvPr/>
        </p:nvSpPr>
        <p:spPr>
          <a:xfrm>
            <a:off x="640080" y="3474720"/>
            <a:ext cx="6766560" cy="365760"/>
          </a:xfrm>
          <a:prstGeom prst="rect">
            <a:avLst/>
          </a:prstGeom>
          <a:noFill/>
          <a:ln/>
        </p:spPr>
        <p:txBody>
          <a:bodyPr wrap="square" lIns="0" tIns="0" rIns="0" bIns="0" rtlCol="0" anchor="ctr"/>
          <a:lstStyle/>
          <a:p>
            <a:pPr indent="0" marL="0">
              <a:buNone/>
            </a:pPr>
            <a:r>
              <a:rPr lang="en-US" sz="1300" b="1" spc="400" kern="0" dirty="0">
                <a:solidFill>
                  <a:srgbClr val="2BCFCF"/>
                </a:solidFill>
                <a:latin typeface="Calibri" pitchFamily="34" charset="0"/>
                <a:ea typeface="Calibri" pitchFamily="34" charset="-122"/>
                <a:cs typeface="Calibri" pitchFamily="34" charset="-120"/>
              </a:rPr>
              <a:t>WHY IT MATTERS</a:t>
            </a:r>
            <a:endParaRPr lang="en-US" sz="1300" dirty="0"/>
          </a:p>
        </p:txBody>
      </p:sp>
      <p:sp>
        <p:nvSpPr>
          <p:cNvPr id="6" name="Text 4"/>
          <p:cNvSpPr/>
          <p:nvPr/>
        </p:nvSpPr>
        <p:spPr>
          <a:xfrm>
            <a:off x="640080" y="3840480"/>
            <a:ext cx="6766560" cy="1463040"/>
          </a:xfrm>
          <a:prstGeom prst="rect">
            <a:avLst/>
          </a:prstGeom>
          <a:noFill/>
          <a:ln/>
        </p:spPr>
        <p:txBody>
          <a:bodyPr wrap="square" lIns="0" tIns="0" rIns="0" bIns="0" rtlCol="0" anchor="t"/>
          <a:lstStyle/>
          <a:p>
            <a:pPr indent="0" marL="0">
              <a:buNone/>
            </a:pPr>
            <a:r>
              <a:rPr lang="en-US" sz="1600" dirty="0">
                <a:solidFill>
                  <a:srgbClr val="F1F0EE"/>
                </a:solidFill>
                <a:latin typeface="Calibri" pitchFamily="34" charset="0"/>
                <a:ea typeface="Calibri" pitchFamily="34" charset="-122"/>
                <a:cs typeface="Calibri" pitchFamily="34" charset="-120"/>
              </a:rPr>
              <a:t>Each AI initiative either contributes to a system that gets smarter, or it adds another disconnected pilot. There is no third option.</a:t>
            </a:r>
            <a:endParaRPr lang="en-US" sz="1600" dirty="0"/>
          </a:p>
        </p:txBody>
      </p:sp>
      <p:sp>
        <p:nvSpPr>
          <p:cNvPr id="7" name="Shape 5"/>
          <p:cNvSpPr/>
          <p:nvPr/>
        </p:nvSpPr>
        <p:spPr>
          <a:xfrm>
            <a:off x="7772400" y="1554480"/>
            <a:ext cx="3840480" cy="4572000"/>
          </a:xfrm>
          <a:prstGeom prst="rect">
            <a:avLst/>
          </a:prstGeom>
          <a:solidFill>
            <a:srgbClr val="07344F"/>
          </a:solidFill>
          <a:ln w="12700">
            <a:solidFill>
              <a:srgbClr val="07344F"/>
            </a:solidFill>
            <a:prstDash val="solid"/>
          </a:ln>
        </p:spPr>
      </p:sp>
      <p:sp>
        <p:nvSpPr>
          <p:cNvPr id="8" name="Text 6"/>
          <p:cNvSpPr/>
          <p:nvPr/>
        </p:nvSpPr>
        <p:spPr>
          <a:xfrm>
            <a:off x="7772400" y="1737360"/>
            <a:ext cx="3840480" cy="1554480"/>
          </a:xfrm>
          <a:prstGeom prst="rect">
            <a:avLst/>
          </a:prstGeom>
          <a:noFill/>
          <a:ln/>
        </p:spPr>
        <p:txBody>
          <a:bodyPr wrap="square" lIns="0" tIns="0" rIns="0" bIns="0" rtlCol="0" anchor="ctr"/>
          <a:lstStyle/>
          <a:p>
            <a:pPr algn="ctr" indent="0" marL="0">
              <a:buNone/>
            </a:pPr>
            <a:r>
              <a:rPr lang="en-US" sz="11000" b="1" dirty="0">
                <a:solidFill>
                  <a:srgbClr val="2BCFCF"/>
                </a:solidFill>
                <a:latin typeface="Calibri" pitchFamily="34" charset="0"/>
                <a:ea typeface="Calibri" pitchFamily="34" charset="-122"/>
                <a:cs typeface="Calibri" pitchFamily="34" charset="-120"/>
              </a:rPr>
              <a:t>74%</a:t>
            </a:r>
            <a:endParaRPr lang="en-US" sz="11000" dirty="0"/>
          </a:p>
        </p:txBody>
      </p:sp>
      <p:sp>
        <p:nvSpPr>
          <p:cNvPr id="9" name="Text 7"/>
          <p:cNvSpPr/>
          <p:nvPr/>
        </p:nvSpPr>
        <p:spPr>
          <a:xfrm>
            <a:off x="7955280" y="3383280"/>
            <a:ext cx="3474720" cy="1280160"/>
          </a:xfrm>
          <a:prstGeom prst="rect">
            <a:avLst/>
          </a:prstGeom>
          <a:noFill/>
          <a:ln/>
        </p:spPr>
        <p:txBody>
          <a:bodyPr wrap="square" lIns="0" tIns="0" rIns="0" bIns="0" rtlCol="0" anchor="t"/>
          <a:lstStyle/>
          <a:p>
            <a:pPr algn="ctr" indent="0" marL="0">
              <a:buNone/>
            </a:pPr>
            <a:r>
              <a:rPr lang="en-US" sz="1500" dirty="0">
                <a:solidFill>
                  <a:srgbClr val="F1F0EE"/>
                </a:solidFill>
                <a:latin typeface="Calibri" pitchFamily="34" charset="0"/>
                <a:ea typeface="Calibri" pitchFamily="34" charset="-122"/>
                <a:cs typeface="Calibri" pitchFamily="34" charset="-120"/>
              </a:rPr>
              <a:t>of AI's economic value is captured by 20% of organisations.</a:t>
            </a:r>
            <a:endParaRPr lang="en-US" sz="1500" dirty="0"/>
          </a:p>
        </p:txBody>
      </p:sp>
      <p:sp>
        <p:nvSpPr>
          <p:cNvPr id="10" name="Text 8"/>
          <p:cNvSpPr/>
          <p:nvPr/>
        </p:nvSpPr>
        <p:spPr>
          <a:xfrm>
            <a:off x="7955280" y="4754880"/>
            <a:ext cx="3474720" cy="914400"/>
          </a:xfrm>
          <a:prstGeom prst="rect">
            <a:avLst/>
          </a:prstGeom>
          <a:noFill/>
          <a:ln/>
        </p:spPr>
        <p:txBody>
          <a:bodyPr wrap="square" lIns="0" tIns="0" rIns="0" bIns="0" rtlCol="0" anchor="t"/>
          <a:lstStyle/>
          <a:p>
            <a:pPr algn="ctr" indent="0" marL="0">
              <a:buNone/>
            </a:pPr>
            <a:r>
              <a:rPr lang="en-US" sz="1200" i="1" dirty="0">
                <a:solidFill>
                  <a:srgbClr val="A8B5C2"/>
                </a:solidFill>
                <a:latin typeface="Calibri" pitchFamily="34" charset="0"/>
                <a:ea typeface="Calibri" pitchFamily="34" charset="-122"/>
                <a:cs typeface="Calibri" pitchFamily="34" charset="-120"/>
              </a:rPr>
              <a:t>They tie outcomes to revenue, build governance before scaling, and treat AI as organisational redesign.</a:t>
            </a:r>
            <a:endParaRPr lang="en-US" sz="1200" dirty="0"/>
          </a:p>
        </p:txBody>
      </p:sp>
      <p:sp>
        <p:nvSpPr>
          <p:cNvPr id="11" name="Text 9"/>
          <p:cNvSpPr/>
          <p:nvPr/>
        </p:nvSpPr>
        <p:spPr>
          <a:xfrm>
            <a:off x="7955280" y="5760720"/>
            <a:ext cx="3474720" cy="274320"/>
          </a:xfrm>
          <a:prstGeom prst="rect">
            <a:avLst/>
          </a:prstGeom>
          <a:noFill/>
          <a:ln/>
        </p:spPr>
        <p:txBody>
          <a:bodyPr wrap="square" lIns="0" tIns="0" rIns="0" bIns="0" rtlCol="0" anchor="ctr"/>
          <a:lstStyle/>
          <a:p>
            <a:pPr algn="ctr" indent="0" marL="0">
              <a:buNone/>
            </a:pPr>
            <a:r>
              <a:rPr lang="en-US" sz="900" i="1" dirty="0">
                <a:solidFill>
                  <a:srgbClr val="A8B5C2"/>
                </a:solidFill>
                <a:latin typeface="Calibri" pitchFamily="34" charset="0"/>
                <a:ea typeface="Calibri" pitchFamily="34" charset="-122"/>
                <a:cs typeface="Calibri" pitchFamily="34" charset="-120"/>
              </a:rPr>
              <a:t>PwC AI Performance Study, 2026</a:t>
            </a:r>
            <a:endParaRPr lang="en-US" sz="900" dirty="0"/>
          </a:p>
        </p:txBody>
      </p:sp>
      <p:sp>
        <p:nvSpPr>
          <p:cNvPr id="12" name="Text 10"/>
          <p:cNvSpPr/>
          <p:nvPr/>
        </p:nvSpPr>
        <p:spPr>
          <a:xfrm>
            <a:off x="457200" y="6446520"/>
            <a:ext cx="1097280" cy="274320"/>
          </a:xfrm>
          <a:prstGeom prst="rect">
            <a:avLst/>
          </a:prstGeom>
          <a:noFill/>
          <a:ln/>
        </p:spPr>
        <p:txBody>
          <a:bodyPr wrap="square" lIns="0" tIns="0" rIns="0" bIns="0" rtlCol="0" anchor="ctr"/>
          <a:lstStyle/>
          <a:p>
            <a:pPr indent="0" marL="0">
              <a:buNone/>
            </a:pPr>
            <a:r>
              <a:rPr lang="en-US" sz="1100" b="1" dirty="0">
                <a:solidFill>
                  <a:srgbClr val="F1F0EE"/>
                </a:solidFill>
                <a:latin typeface="Calibri" pitchFamily="34" charset="0"/>
                <a:ea typeface="Calibri" pitchFamily="34" charset="-122"/>
                <a:cs typeface="Calibri" pitchFamily="34" charset="-120"/>
              </a:rPr>
              <a:t>WeDo</a:t>
            </a:r>
            <a:pPr indent="0" marL="0">
              <a:buNone/>
            </a:pPr>
            <a:r>
              <a:rPr lang="en-US" sz="1100" b="1" dirty="0">
                <a:solidFill>
                  <a:srgbClr val="2BCFCF"/>
                </a:solidFill>
                <a:latin typeface="Calibri" pitchFamily="34" charset="0"/>
                <a:ea typeface="Calibri" pitchFamily="34" charset="-122"/>
                <a:cs typeface="Calibri" pitchFamily="34" charset="-120"/>
              </a:rPr>
              <a:t>AI</a:t>
            </a:r>
            <a:endParaRPr lang="en-US" sz="1100" dirty="0"/>
          </a:p>
        </p:txBody>
      </p:sp>
      <p:sp>
        <p:nvSpPr>
          <p:cNvPr id="13" name="Text 11"/>
          <p:cNvSpPr/>
          <p:nvPr/>
        </p:nvSpPr>
        <p:spPr>
          <a:xfrm>
            <a:off x="11064240" y="6446520"/>
            <a:ext cx="640080" cy="274320"/>
          </a:xfrm>
          <a:prstGeom prst="rect">
            <a:avLst/>
          </a:prstGeom>
          <a:noFill/>
          <a:ln/>
        </p:spPr>
        <p:txBody>
          <a:bodyPr wrap="square" lIns="0" tIns="0" rIns="0" bIns="0" rtlCol="0" anchor="ctr"/>
          <a:lstStyle/>
          <a:p>
            <a:pPr algn="r" indent="0" marL="0">
              <a:buNone/>
            </a:pPr>
            <a:r>
              <a:rPr lang="en-US" sz="1000" dirty="0">
                <a:solidFill>
                  <a:srgbClr val="A8B5C2"/>
                </a:solidFill>
                <a:latin typeface="Calibri" pitchFamily="34" charset="0"/>
                <a:ea typeface="Calibri" pitchFamily="34" charset="-122"/>
                <a:cs typeface="Calibri" pitchFamily="34" charset="-120"/>
              </a:rPr>
              <a:t>17 / 21</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2A45"/>
        </a:solidFill>
      </p:bgPr>
    </p:bg>
    <p:spTree>
      <p:nvGrpSpPr>
        <p:cNvPr id="1" name=""/>
        <p:cNvGrpSpPr/>
        <p:nvPr/>
      </p:nvGrpSpPr>
      <p:grpSpPr>
        <a:xfrm>
          <a:off x="0" y="0"/>
          <a:ext cx="0" cy="0"/>
          <a:chOff x="0" y="0"/>
          <a:chExt cx="0" cy="0"/>
        </a:xfrm>
      </p:grpSpPr>
      <p:sp>
        <p:nvSpPr>
          <p:cNvPr id="2" name="Text 0"/>
          <p:cNvSpPr/>
          <p:nvPr/>
        </p:nvSpPr>
        <p:spPr>
          <a:xfrm>
            <a:off x="640080" y="1280160"/>
            <a:ext cx="2743200" cy="914400"/>
          </a:xfrm>
          <a:prstGeom prst="rect">
            <a:avLst/>
          </a:prstGeom>
          <a:noFill/>
          <a:ln/>
        </p:spPr>
        <p:txBody>
          <a:bodyPr wrap="square" lIns="0" tIns="0" rIns="0" bIns="0" rtlCol="0" anchor="ctr"/>
          <a:lstStyle/>
          <a:p>
            <a:pPr algn="l" indent="0" marL="0">
              <a:buNone/>
            </a:pPr>
            <a:r>
              <a:rPr lang="en-US" sz="2800" b="1" spc="200" kern="0" dirty="0">
                <a:solidFill>
                  <a:srgbClr val="A8B5C2"/>
                </a:solidFill>
                <a:latin typeface="Calibri" pitchFamily="34" charset="0"/>
                <a:ea typeface="Calibri" pitchFamily="34" charset="-122"/>
                <a:cs typeface="Calibri" pitchFamily="34" charset="-120"/>
              </a:rPr>
              <a:t>05</a:t>
            </a:r>
            <a:endParaRPr lang="en-US" sz="2800" dirty="0"/>
          </a:p>
        </p:txBody>
      </p:sp>
      <p:sp>
        <p:nvSpPr>
          <p:cNvPr id="3" name="Text 1"/>
          <p:cNvSpPr/>
          <p:nvPr/>
        </p:nvSpPr>
        <p:spPr>
          <a:xfrm>
            <a:off x="640080" y="2286000"/>
            <a:ext cx="10881360" cy="1645920"/>
          </a:xfrm>
          <a:prstGeom prst="rect">
            <a:avLst/>
          </a:prstGeom>
          <a:noFill/>
          <a:ln/>
        </p:spPr>
        <p:txBody>
          <a:bodyPr wrap="square" lIns="0" tIns="0" rIns="0" bIns="0" rtlCol="0" anchor="ctr"/>
          <a:lstStyle/>
          <a:p>
            <a:pPr algn="l" indent="0" marL="0">
              <a:buNone/>
            </a:pPr>
            <a:r>
              <a:rPr lang="en-US" sz="5600" b="1" dirty="0">
                <a:solidFill>
                  <a:srgbClr val="F1F0EE"/>
                </a:solidFill>
                <a:latin typeface="Calibri" pitchFamily="34" charset="0"/>
                <a:ea typeface="Calibri" pitchFamily="34" charset="-122"/>
                <a:cs typeface="Calibri" pitchFamily="34" charset="-120"/>
              </a:rPr>
              <a:t>Five questions to ask on </a:t>
            </a:r>
            <a:pPr algn="l" indent="0" marL="0">
              <a:buNone/>
            </a:pPr>
            <a:r>
              <a:rPr lang="en-US" sz="5600" b="1" dirty="0">
                <a:solidFill>
                  <a:srgbClr val="2BCFCF"/>
                </a:solidFill>
                <a:latin typeface="Calibri" pitchFamily="34" charset="0"/>
                <a:ea typeface="Calibri" pitchFamily="34" charset="-122"/>
                <a:cs typeface="Calibri" pitchFamily="34" charset="-120"/>
              </a:rPr>
              <a:t>Monday</a:t>
            </a:r>
            <a:pPr algn="l" indent="0" marL="0">
              <a:buNone/>
            </a:pPr>
            <a:r>
              <a:rPr lang="en-US" sz="5600" b="1" dirty="0">
                <a:solidFill>
                  <a:srgbClr val="F1F0EE"/>
                </a:solidFill>
                <a:latin typeface="Calibri" pitchFamily="34" charset="0"/>
                <a:ea typeface="Calibri" pitchFamily="34" charset="-122"/>
                <a:cs typeface="Calibri" pitchFamily="34" charset="-120"/>
              </a:rPr>
              <a:t>.</a:t>
            </a:r>
            <a:endParaRPr lang="en-US" sz="5600" dirty="0"/>
          </a:p>
        </p:txBody>
      </p:sp>
      <p:sp>
        <p:nvSpPr>
          <p:cNvPr id="4" name="Text 2"/>
          <p:cNvSpPr/>
          <p:nvPr/>
        </p:nvSpPr>
        <p:spPr>
          <a:xfrm>
            <a:off x="640080" y="4206240"/>
            <a:ext cx="9418320" cy="1097280"/>
          </a:xfrm>
          <a:prstGeom prst="rect">
            <a:avLst/>
          </a:prstGeom>
          <a:noFill/>
          <a:ln/>
        </p:spPr>
        <p:txBody>
          <a:bodyPr wrap="square" lIns="0" tIns="0" rIns="0" bIns="0" rtlCol="0" anchor="t"/>
          <a:lstStyle/>
          <a:p>
            <a:pPr algn="l" indent="0" marL="0">
              <a:buNone/>
            </a:pPr>
            <a:r>
              <a:rPr lang="en-US" sz="2200" i="1" dirty="0">
                <a:solidFill>
                  <a:srgbClr val="A8B5C2"/>
                </a:solidFill>
                <a:latin typeface="Calibri" pitchFamily="34" charset="0"/>
                <a:ea typeface="Calibri" pitchFamily="34" charset="-122"/>
                <a:cs typeface="Calibri" pitchFamily="34" charset="-120"/>
              </a:rPr>
              <a:t>Real questions, not rhetorical ones. Photograph this slide.</a:t>
            </a:r>
            <a:endParaRPr lang="en-US" sz="2200" dirty="0"/>
          </a:p>
        </p:txBody>
      </p:sp>
      <p:sp>
        <p:nvSpPr>
          <p:cNvPr id="5" name="Text 3"/>
          <p:cNvSpPr/>
          <p:nvPr/>
        </p:nvSpPr>
        <p:spPr>
          <a:xfrm>
            <a:off x="10698480" y="6035040"/>
            <a:ext cx="1828800" cy="548640"/>
          </a:xfrm>
          <a:prstGeom prst="rect">
            <a:avLst/>
          </a:prstGeom>
          <a:noFill/>
          <a:ln/>
        </p:spPr>
        <p:txBody>
          <a:bodyPr wrap="square" lIns="0" tIns="0" rIns="0" bIns="0" rtlCol="0" anchor="ctr"/>
          <a:lstStyle/>
          <a:p>
            <a:pPr algn="l" indent="0" marL="0">
              <a:buNone/>
            </a:pPr>
            <a:r>
              <a:rPr lang="en-US" sz="1600" b="1" dirty="0">
                <a:solidFill>
                  <a:srgbClr val="F1F0EE"/>
                </a:solidFill>
                <a:latin typeface="Calibri" pitchFamily="34" charset="0"/>
                <a:ea typeface="Calibri" pitchFamily="34" charset="-122"/>
                <a:cs typeface="Calibri" pitchFamily="34" charset="-120"/>
              </a:rPr>
              <a:t>WeDo</a:t>
            </a:r>
            <a:pPr algn="l" indent="0" marL="0">
              <a:buNone/>
            </a:pPr>
            <a:r>
              <a:rPr lang="en-US" sz="1600" b="1" dirty="0">
                <a:solidFill>
                  <a:srgbClr val="2BCFCF"/>
                </a:solidFill>
                <a:latin typeface="Calibri" pitchFamily="34" charset="0"/>
                <a:ea typeface="Calibri" pitchFamily="34" charset="-122"/>
                <a:cs typeface="Calibri" pitchFamily="34" charset="-120"/>
              </a:rPr>
              <a:t>AI</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2A45"/>
        </a:solidFill>
      </p:bgPr>
    </p:bg>
    <p:spTree>
      <p:nvGrpSpPr>
        <p:cNvPr id="1" name=""/>
        <p:cNvGrpSpPr/>
        <p:nvPr/>
      </p:nvGrpSpPr>
      <p:grpSpPr>
        <a:xfrm>
          <a:off x="0" y="0"/>
          <a:ext cx="0" cy="0"/>
          <a:chOff x="0" y="0"/>
          <a:chExt cx="0" cy="0"/>
        </a:xfrm>
      </p:grpSpPr>
      <p:sp>
        <p:nvSpPr>
          <p:cNvPr id="2" name="Text 0"/>
          <p:cNvSpPr/>
          <p:nvPr/>
        </p:nvSpPr>
        <p:spPr>
          <a:xfrm>
            <a:off x="640080" y="457200"/>
            <a:ext cx="10881360" cy="822960"/>
          </a:xfrm>
          <a:prstGeom prst="rect">
            <a:avLst/>
          </a:prstGeom>
          <a:noFill/>
          <a:ln/>
        </p:spPr>
        <p:txBody>
          <a:bodyPr wrap="square" lIns="0" tIns="0" rIns="0" bIns="0" rtlCol="0" anchor="ctr"/>
          <a:lstStyle/>
          <a:p>
            <a:pPr algn="l" indent="0" marL="0">
              <a:buNone/>
            </a:pPr>
            <a:r>
              <a:rPr lang="en-US" sz="3200" b="1" dirty="0">
                <a:solidFill>
                  <a:srgbClr val="F1F0EE"/>
                </a:solidFill>
                <a:latin typeface="Calibri" pitchFamily="34" charset="0"/>
                <a:ea typeface="Calibri" pitchFamily="34" charset="-122"/>
                <a:cs typeface="Calibri" pitchFamily="34" charset="-120"/>
              </a:rPr>
              <a:t>The five questions.</a:t>
            </a:r>
            <a:endParaRPr lang="en-US" sz="3200" dirty="0"/>
          </a:p>
        </p:txBody>
      </p:sp>
      <p:sp>
        <p:nvSpPr>
          <p:cNvPr id="3" name="Shape 1"/>
          <p:cNvSpPr/>
          <p:nvPr/>
        </p:nvSpPr>
        <p:spPr>
          <a:xfrm>
            <a:off x="640080" y="1463040"/>
            <a:ext cx="777240" cy="868680"/>
          </a:xfrm>
          <a:prstGeom prst="rect">
            <a:avLst/>
          </a:prstGeom>
          <a:solidFill>
            <a:srgbClr val="07344F"/>
          </a:solidFill>
          <a:ln w="12700">
            <a:solidFill>
              <a:srgbClr val="07344F"/>
            </a:solidFill>
            <a:prstDash val="solid"/>
          </a:ln>
        </p:spPr>
      </p:sp>
      <p:sp>
        <p:nvSpPr>
          <p:cNvPr id="4" name="Text 2"/>
          <p:cNvSpPr/>
          <p:nvPr/>
        </p:nvSpPr>
        <p:spPr>
          <a:xfrm>
            <a:off x="640080" y="1463040"/>
            <a:ext cx="777240" cy="868680"/>
          </a:xfrm>
          <a:prstGeom prst="rect">
            <a:avLst/>
          </a:prstGeom>
          <a:noFill/>
          <a:ln/>
        </p:spPr>
        <p:txBody>
          <a:bodyPr wrap="square" lIns="0" tIns="0" rIns="0" bIns="0" rtlCol="0" anchor="ctr"/>
          <a:lstStyle/>
          <a:p>
            <a:pPr algn="ctr" indent="0" marL="0">
              <a:buNone/>
            </a:pPr>
            <a:r>
              <a:rPr lang="en-US" sz="3600" b="1" dirty="0">
                <a:solidFill>
                  <a:srgbClr val="2BCFCF"/>
                </a:solidFill>
                <a:latin typeface="Calibri" pitchFamily="34" charset="0"/>
                <a:ea typeface="Calibri" pitchFamily="34" charset="-122"/>
                <a:cs typeface="Calibri" pitchFamily="34" charset="-120"/>
              </a:rPr>
              <a:t>1</a:t>
            </a:r>
            <a:endParaRPr lang="en-US" sz="3600" dirty="0"/>
          </a:p>
        </p:txBody>
      </p:sp>
      <p:sp>
        <p:nvSpPr>
          <p:cNvPr id="5" name="Text 3"/>
          <p:cNvSpPr/>
          <p:nvPr/>
        </p:nvSpPr>
        <p:spPr>
          <a:xfrm>
            <a:off x="1554480" y="1554480"/>
            <a:ext cx="2194560" cy="320040"/>
          </a:xfrm>
          <a:prstGeom prst="rect">
            <a:avLst/>
          </a:prstGeom>
          <a:noFill/>
          <a:ln/>
        </p:spPr>
        <p:txBody>
          <a:bodyPr wrap="square" lIns="0" tIns="0" rIns="0" bIns="0" rtlCol="0" anchor="ctr"/>
          <a:lstStyle/>
          <a:p>
            <a:pPr indent="0" marL="0">
              <a:buNone/>
            </a:pPr>
            <a:r>
              <a:rPr lang="en-US" sz="1100" b="1" spc="400" kern="0" dirty="0">
                <a:solidFill>
                  <a:srgbClr val="2BCFCF"/>
                </a:solidFill>
                <a:latin typeface="Calibri" pitchFamily="34" charset="0"/>
                <a:ea typeface="Calibri" pitchFamily="34" charset="-122"/>
                <a:cs typeface="Calibri" pitchFamily="34" charset="-120"/>
              </a:rPr>
              <a:t>PROCESS</a:t>
            </a:r>
            <a:endParaRPr lang="en-US" sz="1100" dirty="0"/>
          </a:p>
        </p:txBody>
      </p:sp>
      <p:sp>
        <p:nvSpPr>
          <p:cNvPr id="6" name="Text 4"/>
          <p:cNvSpPr/>
          <p:nvPr/>
        </p:nvSpPr>
        <p:spPr>
          <a:xfrm>
            <a:off x="1554480" y="1828800"/>
            <a:ext cx="10058400" cy="457200"/>
          </a:xfrm>
          <a:prstGeom prst="rect">
            <a:avLst/>
          </a:prstGeom>
          <a:noFill/>
          <a:ln/>
        </p:spPr>
        <p:txBody>
          <a:bodyPr wrap="square" lIns="0" tIns="0" rIns="0" bIns="0" rtlCol="0" anchor="t"/>
          <a:lstStyle/>
          <a:p>
            <a:pPr indent="0" marL="0">
              <a:buNone/>
            </a:pPr>
            <a:r>
              <a:rPr lang="en-US" sz="1600" dirty="0">
                <a:solidFill>
                  <a:srgbClr val="F1F0EE"/>
                </a:solidFill>
                <a:latin typeface="Calibri" pitchFamily="34" charset="0"/>
                <a:ea typeface="Calibri" pitchFamily="34" charset="-122"/>
                <a:cs typeface="Calibri" pitchFamily="34" charset="-120"/>
              </a:rPr>
              <a:t>Do we understand our end-to-end process?</a:t>
            </a:r>
            <a:endParaRPr lang="en-US" sz="1600" dirty="0"/>
          </a:p>
        </p:txBody>
      </p:sp>
      <p:sp>
        <p:nvSpPr>
          <p:cNvPr id="7" name="Shape 5"/>
          <p:cNvSpPr/>
          <p:nvPr/>
        </p:nvSpPr>
        <p:spPr>
          <a:xfrm>
            <a:off x="640080" y="2423160"/>
            <a:ext cx="777240" cy="868680"/>
          </a:xfrm>
          <a:prstGeom prst="rect">
            <a:avLst/>
          </a:prstGeom>
          <a:solidFill>
            <a:srgbClr val="07344F"/>
          </a:solidFill>
          <a:ln w="12700">
            <a:solidFill>
              <a:srgbClr val="07344F"/>
            </a:solidFill>
            <a:prstDash val="solid"/>
          </a:ln>
        </p:spPr>
      </p:sp>
      <p:sp>
        <p:nvSpPr>
          <p:cNvPr id="8" name="Text 6"/>
          <p:cNvSpPr/>
          <p:nvPr/>
        </p:nvSpPr>
        <p:spPr>
          <a:xfrm>
            <a:off x="640080" y="2423160"/>
            <a:ext cx="777240" cy="868680"/>
          </a:xfrm>
          <a:prstGeom prst="rect">
            <a:avLst/>
          </a:prstGeom>
          <a:noFill/>
          <a:ln/>
        </p:spPr>
        <p:txBody>
          <a:bodyPr wrap="square" lIns="0" tIns="0" rIns="0" bIns="0" rtlCol="0" anchor="ctr"/>
          <a:lstStyle/>
          <a:p>
            <a:pPr algn="ctr" indent="0" marL="0">
              <a:buNone/>
            </a:pPr>
            <a:r>
              <a:rPr lang="en-US" sz="3600" b="1" dirty="0">
                <a:solidFill>
                  <a:srgbClr val="2BCFCF"/>
                </a:solidFill>
                <a:latin typeface="Calibri" pitchFamily="34" charset="0"/>
                <a:ea typeface="Calibri" pitchFamily="34" charset="-122"/>
                <a:cs typeface="Calibri" pitchFamily="34" charset="-120"/>
              </a:rPr>
              <a:t>2</a:t>
            </a:r>
            <a:endParaRPr lang="en-US" sz="3600" dirty="0"/>
          </a:p>
        </p:txBody>
      </p:sp>
      <p:sp>
        <p:nvSpPr>
          <p:cNvPr id="9" name="Text 7"/>
          <p:cNvSpPr/>
          <p:nvPr/>
        </p:nvSpPr>
        <p:spPr>
          <a:xfrm>
            <a:off x="1554480" y="2514600"/>
            <a:ext cx="2194560" cy="320040"/>
          </a:xfrm>
          <a:prstGeom prst="rect">
            <a:avLst/>
          </a:prstGeom>
          <a:noFill/>
          <a:ln/>
        </p:spPr>
        <p:txBody>
          <a:bodyPr wrap="square" lIns="0" tIns="0" rIns="0" bIns="0" rtlCol="0" anchor="ctr"/>
          <a:lstStyle/>
          <a:p>
            <a:pPr indent="0" marL="0">
              <a:buNone/>
            </a:pPr>
            <a:r>
              <a:rPr lang="en-US" sz="1100" b="1" spc="400" kern="0" dirty="0">
                <a:solidFill>
                  <a:srgbClr val="2BCFCF"/>
                </a:solidFill>
                <a:latin typeface="Calibri" pitchFamily="34" charset="0"/>
                <a:ea typeface="Calibri" pitchFamily="34" charset="-122"/>
                <a:cs typeface="Calibri" pitchFamily="34" charset="-120"/>
              </a:rPr>
              <a:t>PROBLEM FIT</a:t>
            </a:r>
            <a:endParaRPr lang="en-US" sz="1100" dirty="0"/>
          </a:p>
        </p:txBody>
      </p:sp>
      <p:sp>
        <p:nvSpPr>
          <p:cNvPr id="10" name="Text 8"/>
          <p:cNvSpPr/>
          <p:nvPr/>
        </p:nvSpPr>
        <p:spPr>
          <a:xfrm>
            <a:off x="1554480" y="2788920"/>
            <a:ext cx="10058400" cy="457200"/>
          </a:xfrm>
          <a:prstGeom prst="rect">
            <a:avLst/>
          </a:prstGeom>
          <a:noFill/>
          <a:ln/>
        </p:spPr>
        <p:txBody>
          <a:bodyPr wrap="square" lIns="0" tIns="0" rIns="0" bIns="0" rtlCol="0" anchor="t"/>
          <a:lstStyle/>
          <a:p>
            <a:pPr indent="0" marL="0">
              <a:buNone/>
            </a:pPr>
            <a:r>
              <a:rPr lang="en-US" sz="1600" dirty="0">
                <a:solidFill>
                  <a:srgbClr val="F1F0EE"/>
                </a:solidFill>
                <a:latin typeface="Calibri" pitchFamily="34" charset="0"/>
                <a:ea typeface="Calibri" pitchFamily="34" charset="-122"/>
                <a:cs typeface="Calibri" pitchFamily="34" charset="-120"/>
              </a:rPr>
              <a:t>What specific problem are we solving, who notices when it is solved, and could we solve it without AI?</a:t>
            </a:r>
            <a:endParaRPr lang="en-US" sz="1600" dirty="0"/>
          </a:p>
        </p:txBody>
      </p:sp>
      <p:sp>
        <p:nvSpPr>
          <p:cNvPr id="11" name="Shape 9"/>
          <p:cNvSpPr/>
          <p:nvPr/>
        </p:nvSpPr>
        <p:spPr>
          <a:xfrm>
            <a:off x="640080" y="3383280"/>
            <a:ext cx="777240" cy="868680"/>
          </a:xfrm>
          <a:prstGeom prst="rect">
            <a:avLst/>
          </a:prstGeom>
          <a:solidFill>
            <a:srgbClr val="07344F"/>
          </a:solidFill>
          <a:ln w="12700">
            <a:solidFill>
              <a:srgbClr val="07344F"/>
            </a:solidFill>
            <a:prstDash val="solid"/>
          </a:ln>
        </p:spPr>
      </p:sp>
      <p:sp>
        <p:nvSpPr>
          <p:cNvPr id="12" name="Text 10"/>
          <p:cNvSpPr/>
          <p:nvPr/>
        </p:nvSpPr>
        <p:spPr>
          <a:xfrm>
            <a:off x="640080" y="3383280"/>
            <a:ext cx="777240" cy="868680"/>
          </a:xfrm>
          <a:prstGeom prst="rect">
            <a:avLst/>
          </a:prstGeom>
          <a:noFill/>
          <a:ln/>
        </p:spPr>
        <p:txBody>
          <a:bodyPr wrap="square" lIns="0" tIns="0" rIns="0" bIns="0" rtlCol="0" anchor="ctr"/>
          <a:lstStyle/>
          <a:p>
            <a:pPr algn="ctr" indent="0" marL="0">
              <a:buNone/>
            </a:pPr>
            <a:r>
              <a:rPr lang="en-US" sz="3600" b="1" dirty="0">
                <a:solidFill>
                  <a:srgbClr val="2BCFCF"/>
                </a:solidFill>
                <a:latin typeface="Calibri" pitchFamily="34" charset="0"/>
                <a:ea typeface="Calibri" pitchFamily="34" charset="-122"/>
                <a:cs typeface="Calibri" pitchFamily="34" charset="-120"/>
              </a:rPr>
              <a:t>3</a:t>
            </a:r>
            <a:endParaRPr lang="en-US" sz="3600" dirty="0"/>
          </a:p>
        </p:txBody>
      </p:sp>
      <p:sp>
        <p:nvSpPr>
          <p:cNvPr id="13" name="Text 11"/>
          <p:cNvSpPr/>
          <p:nvPr/>
        </p:nvSpPr>
        <p:spPr>
          <a:xfrm>
            <a:off x="1554480" y="3474720"/>
            <a:ext cx="2194560" cy="320040"/>
          </a:xfrm>
          <a:prstGeom prst="rect">
            <a:avLst/>
          </a:prstGeom>
          <a:noFill/>
          <a:ln/>
        </p:spPr>
        <p:txBody>
          <a:bodyPr wrap="square" lIns="0" tIns="0" rIns="0" bIns="0" rtlCol="0" anchor="ctr"/>
          <a:lstStyle/>
          <a:p>
            <a:pPr indent="0" marL="0">
              <a:buNone/>
            </a:pPr>
            <a:r>
              <a:rPr lang="en-US" sz="1100" b="1" spc="400" kern="0" dirty="0">
                <a:solidFill>
                  <a:srgbClr val="2BCFCF"/>
                </a:solidFill>
                <a:latin typeface="Calibri" pitchFamily="34" charset="0"/>
                <a:ea typeface="Calibri" pitchFamily="34" charset="-122"/>
                <a:cs typeface="Calibri" pitchFamily="34" charset="-120"/>
              </a:rPr>
              <a:t>UNIT ECONOMICS</a:t>
            </a:r>
            <a:endParaRPr lang="en-US" sz="1100" dirty="0"/>
          </a:p>
        </p:txBody>
      </p:sp>
      <p:sp>
        <p:nvSpPr>
          <p:cNvPr id="14" name="Text 12"/>
          <p:cNvSpPr/>
          <p:nvPr/>
        </p:nvSpPr>
        <p:spPr>
          <a:xfrm>
            <a:off x="1554480" y="3749040"/>
            <a:ext cx="10058400" cy="457200"/>
          </a:xfrm>
          <a:prstGeom prst="rect">
            <a:avLst/>
          </a:prstGeom>
          <a:noFill/>
          <a:ln/>
        </p:spPr>
        <p:txBody>
          <a:bodyPr wrap="square" lIns="0" tIns="0" rIns="0" bIns="0" rtlCol="0" anchor="t"/>
          <a:lstStyle/>
          <a:p>
            <a:pPr indent="0" marL="0">
              <a:buNone/>
            </a:pPr>
            <a:r>
              <a:rPr lang="en-US" sz="1600" dirty="0">
                <a:solidFill>
                  <a:srgbClr val="F1F0EE"/>
                </a:solidFill>
                <a:latin typeface="Calibri" pitchFamily="34" charset="0"/>
                <a:ea typeface="Calibri" pitchFamily="34" charset="-122"/>
                <a:cs typeface="Calibri" pitchFamily="34" charset="-120"/>
              </a:rPr>
              <a:t>What is the cost or value per transaction today, in dollars, and what does it become after?</a:t>
            </a:r>
            <a:endParaRPr lang="en-US" sz="1600" dirty="0"/>
          </a:p>
        </p:txBody>
      </p:sp>
      <p:sp>
        <p:nvSpPr>
          <p:cNvPr id="15" name="Shape 13"/>
          <p:cNvSpPr/>
          <p:nvPr/>
        </p:nvSpPr>
        <p:spPr>
          <a:xfrm>
            <a:off x="640080" y="4343400"/>
            <a:ext cx="777240" cy="868680"/>
          </a:xfrm>
          <a:prstGeom prst="rect">
            <a:avLst/>
          </a:prstGeom>
          <a:solidFill>
            <a:srgbClr val="07344F"/>
          </a:solidFill>
          <a:ln w="12700">
            <a:solidFill>
              <a:srgbClr val="07344F"/>
            </a:solidFill>
            <a:prstDash val="solid"/>
          </a:ln>
        </p:spPr>
      </p:sp>
      <p:sp>
        <p:nvSpPr>
          <p:cNvPr id="16" name="Text 14"/>
          <p:cNvSpPr/>
          <p:nvPr/>
        </p:nvSpPr>
        <p:spPr>
          <a:xfrm>
            <a:off x="640080" y="4343400"/>
            <a:ext cx="777240" cy="868680"/>
          </a:xfrm>
          <a:prstGeom prst="rect">
            <a:avLst/>
          </a:prstGeom>
          <a:noFill/>
          <a:ln/>
        </p:spPr>
        <p:txBody>
          <a:bodyPr wrap="square" lIns="0" tIns="0" rIns="0" bIns="0" rtlCol="0" anchor="ctr"/>
          <a:lstStyle/>
          <a:p>
            <a:pPr algn="ctr" indent="0" marL="0">
              <a:buNone/>
            </a:pPr>
            <a:r>
              <a:rPr lang="en-US" sz="3600" b="1" dirty="0">
                <a:solidFill>
                  <a:srgbClr val="2BCFCF"/>
                </a:solidFill>
                <a:latin typeface="Calibri" pitchFamily="34" charset="0"/>
                <a:ea typeface="Calibri" pitchFamily="34" charset="-122"/>
                <a:cs typeface="Calibri" pitchFamily="34" charset="-120"/>
              </a:rPr>
              <a:t>4</a:t>
            </a:r>
            <a:endParaRPr lang="en-US" sz="3600" dirty="0"/>
          </a:p>
        </p:txBody>
      </p:sp>
      <p:sp>
        <p:nvSpPr>
          <p:cNvPr id="17" name="Text 15"/>
          <p:cNvSpPr/>
          <p:nvPr/>
        </p:nvSpPr>
        <p:spPr>
          <a:xfrm>
            <a:off x="1554480" y="4434840"/>
            <a:ext cx="2194560" cy="320040"/>
          </a:xfrm>
          <a:prstGeom prst="rect">
            <a:avLst/>
          </a:prstGeom>
          <a:noFill/>
          <a:ln/>
        </p:spPr>
        <p:txBody>
          <a:bodyPr wrap="square" lIns="0" tIns="0" rIns="0" bIns="0" rtlCol="0" anchor="ctr"/>
          <a:lstStyle/>
          <a:p>
            <a:pPr indent="0" marL="0">
              <a:buNone/>
            </a:pPr>
            <a:r>
              <a:rPr lang="en-US" sz="1100" b="1" spc="400" kern="0" dirty="0">
                <a:solidFill>
                  <a:srgbClr val="2BCFCF"/>
                </a:solidFill>
                <a:latin typeface="Calibri" pitchFamily="34" charset="0"/>
                <a:ea typeface="Calibri" pitchFamily="34" charset="-122"/>
                <a:cs typeface="Calibri" pitchFamily="34" charset="-120"/>
              </a:rPr>
              <a:t>REUSE</a:t>
            </a:r>
            <a:endParaRPr lang="en-US" sz="1100" dirty="0"/>
          </a:p>
        </p:txBody>
      </p:sp>
      <p:sp>
        <p:nvSpPr>
          <p:cNvPr id="18" name="Text 16"/>
          <p:cNvSpPr/>
          <p:nvPr/>
        </p:nvSpPr>
        <p:spPr>
          <a:xfrm>
            <a:off x="1554480" y="4709160"/>
            <a:ext cx="10058400" cy="457200"/>
          </a:xfrm>
          <a:prstGeom prst="rect">
            <a:avLst/>
          </a:prstGeom>
          <a:noFill/>
          <a:ln/>
        </p:spPr>
        <p:txBody>
          <a:bodyPr wrap="square" lIns="0" tIns="0" rIns="0" bIns="0" rtlCol="0" anchor="t"/>
          <a:lstStyle/>
          <a:p>
            <a:pPr indent="0" marL="0">
              <a:buNone/>
            </a:pPr>
            <a:r>
              <a:rPr lang="en-US" sz="1600" dirty="0">
                <a:solidFill>
                  <a:srgbClr val="F1F0EE"/>
                </a:solidFill>
                <a:latin typeface="Calibri" pitchFamily="34" charset="0"/>
                <a:ea typeface="Calibri" pitchFamily="34" charset="-122"/>
                <a:cs typeface="Calibri" pitchFamily="34" charset="-120"/>
              </a:rPr>
              <a:t>Does this build reusable capability that other use cases can leverage, or is it a silo?</a:t>
            </a:r>
            <a:endParaRPr lang="en-US" sz="1600" dirty="0"/>
          </a:p>
        </p:txBody>
      </p:sp>
      <p:sp>
        <p:nvSpPr>
          <p:cNvPr id="19" name="Shape 17"/>
          <p:cNvSpPr/>
          <p:nvPr/>
        </p:nvSpPr>
        <p:spPr>
          <a:xfrm>
            <a:off x="640080" y="5303520"/>
            <a:ext cx="777240" cy="868680"/>
          </a:xfrm>
          <a:prstGeom prst="rect">
            <a:avLst/>
          </a:prstGeom>
          <a:solidFill>
            <a:srgbClr val="07344F"/>
          </a:solidFill>
          <a:ln w="12700">
            <a:solidFill>
              <a:srgbClr val="07344F"/>
            </a:solidFill>
            <a:prstDash val="solid"/>
          </a:ln>
        </p:spPr>
      </p:sp>
      <p:sp>
        <p:nvSpPr>
          <p:cNvPr id="20" name="Text 18"/>
          <p:cNvSpPr/>
          <p:nvPr/>
        </p:nvSpPr>
        <p:spPr>
          <a:xfrm>
            <a:off x="640080" y="5303520"/>
            <a:ext cx="777240" cy="868680"/>
          </a:xfrm>
          <a:prstGeom prst="rect">
            <a:avLst/>
          </a:prstGeom>
          <a:noFill/>
          <a:ln/>
        </p:spPr>
        <p:txBody>
          <a:bodyPr wrap="square" lIns="0" tIns="0" rIns="0" bIns="0" rtlCol="0" anchor="ctr"/>
          <a:lstStyle/>
          <a:p>
            <a:pPr algn="ctr" indent="0" marL="0">
              <a:buNone/>
            </a:pPr>
            <a:r>
              <a:rPr lang="en-US" sz="3600" b="1" dirty="0">
                <a:solidFill>
                  <a:srgbClr val="2BCFCF"/>
                </a:solidFill>
                <a:latin typeface="Calibri" pitchFamily="34" charset="0"/>
                <a:ea typeface="Calibri" pitchFamily="34" charset="-122"/>
                <a:cs typeface="Calibri" pitchFamily="34" charset="-120"/>
              </a:rPr>
              <a:t>5</a:t>
            </a:r>
            <a:endParaRPr lang="en-US" sz="3600" dirty="0"/>
          </a:p>
        </p:txBody>
      </p:sp>
      <p:sp>
        <p:nvSpPr>
          <p:cNvPr id="21" name="Text 19"/>
          <p:cNvSpPr/>
          <p:nvPr/>
        </p:nvSpPr>
        <p:spPr>
          <a:xfrm>
            <a:off x="1554480" y="5394960"/>
            <a:ext cx="2194560" cy="320040"/>
          </a:xfrm>
          <a:prstGeom prst="rect">
            <a:avLst/>
          </a:prstGeom>
          <a:noFill/>
          <a:ln/>
        </p:spPr>
        <p:txBody>
          <a:bodyPr wrap="square" lIns="0" tIns="0" rIns="0" bIns="0" rtlCol="0" anchor="ctr"/>
          <a:lstStyle/>
          <a:p>
            <a:pPr indent="0" marL="0">
              <a:buNone/>
            </a:pPr>
            <a:r>
              <a:rPr lang="en-US" sz="1100" b="1" spc="400" kern="0" dirty="0">
                <a:solidFill>
                  <a:srgbClr val="2BCFCF"/>
                </a:solidFill>
                <a:latin typeface="Calibri" pitchFamily="34" charset="0"/>
                <a:ea typeface="Calibri" pitchFamily="34" charset="-122"/>
                <a:cs typeface="Calibri" pitchFamily="34" charset="-120"/>
              </a:rPr>
              <a:t>BIGGER PICTURE</a:t>
            </a:r>
            <a:endParaRPr lang="en-US" sz="1100" dirty="0"/>
          </a:p>
        </p:txBody>
      </p:sp>
      <p:sp>
        <p:nvSpPr>
          <p:cNvPr id="22" name="Text 20"/>
          <p:cNvSpPr/>
          <p:nvPr/>
        </p:nvSpPr>
        <p:spPr>
          <a:xfrm>
            <a:off x="1554480" y="5669280"/>
            <a:ext cx="10058400" cy="457200"/>
          </a:xfrm>
          <a:prstGeom prst="rect">
            <a:avLst/>
          </a:prstGeom>
          <a:noFill/>
          <a:ln/>
        </p:spPr>
        <p:txBody>
          <a:bodyPr wrap="square" lIns="0" tIns="0" rIns="0" bIns="0" rtlCol="0" anchor="t"/>
          <a:lstStyle/>
          <a:p>
            <a:pPr indent="0" marL="0">
              <a:buNone/>
            </a:pPr>
            <a:r>
              <a:rPr lang="en-US" sz="1600" dirty="0">
                <a:solidFill>
                  <a:srgbClr val="F1F0EE"/>
                </a:solidFill>
                <a:latin typeface="Calibri" pitchFamily="34" charset="0"/>
                <a:ea typeface="Calibri" pitchFamily="34" charset="-122"/>
                <a:cs typeface="Calibri" pitchFamily="34" charset="-120"/>
              </a:rPr>
              <a:t>How does this connect to the bigger picture and the other things we are building?</a:t>
            </a:r>
            <a:endParaRPr lang="en-US" sz="1600" dirty="0"/>
          </a:p>
        </p:txBody>
      </p:sp>
      <p:sp>
        <p:nvSpPr>
          <p:cNvPr id="23" name="Text 21"/>
          <p:cNvSpPr/>
          <p:nvPr/>
        </p:nvSpPr>
        <p:spPr>
          <a:xfrm>
            <a:off x="640080" y="6217920"/>
            <a:ext cx="10881360" cy="365760"/>
          </a:xfrm>
          <a:prstGeom prst="rect">
            <a:avLst/>
          </a:prstGeom>
          <a:noFill/>
          <a:ln/>
        </p:spPr>
        <p:txBody>
          <a:bodyPr wrap="square" lIns="0" tIns="0" rIns="0" bIns="0" rtlCol="0" anchor="ctr"/>
          <a:lstStyle/>
          <a:p>
            <a:pPr algn="ctr" indent="0" marL="0">
              <a:buNone/>
            </a:pPr>
            <a:r>
              <a:rPr lang="en-US" sz="1300" i="1" dirty="0">
                <a:solidFill>
                  <a:srgbClr val="A8B5C2"/>
                </a:solidFill>
                <a:latin typeface="Calibri" pitchFamily="34" charset="0"/>
                <a:ea typeface="Calibri" pitchFamily="34" charset="-122"/>
                <a:cs typeface="Calibri" pitchFamily="34" charset="-120"/>
              </a:rPr>
              <a:t>Each question has put real proposals on real desks back into proportion. Use them.</a:t>
            </a:r>
            <a:endParaRPr lang="en-US" sz="1300" dirty="0"/>
          </a:p>
        </p:txBody>
      </p:sp>
      <p:sp>
        <p:nvSpPr>
          <p:cNvPr id="24" name="Text 22"/>
          <p:cNvSpPr/>
          <p:nvPr/>
        </p:nvSpPr>
        <p:spPr>
          <a:xfrm>
            <a:off x="457200" y="6446520"/>
            <a:ext cx="1097280" cy="274320"/>
          </a:xfrm>
          <a:prstGeom prst="rect">
            <a:avLst/>
          </a:prstGeom>
          <a:noFill/>
          <a:ln/>
        </p:spPr>
        <p:txBody>
          <a:bodyPr wrap="square" lIns="0" tIns="0" rIns="0" bIns="0" rtlCol="0" anchor="ctr"/>
          <a:lstStyle/>
          <a:p>
            <a:pPr indent="0" marL="0">
              <a:buNone/>
            </a:pPr>
            <a:r>
              <a:rPr lang="en-US" sz="1100" b="1" dirty="0">
                <a:solidFill>
                  <a:srgbClr val="F1F0EE"/>
                </a:solidFill>
                <a:latin typeface="Calibri" pitchFamily="34" charset="0"/>
                <a:ea typeface="Calibri" pitchFamily="34" charset="-122"/>
                <a:cs typeface="Calibri" pitchFamily="34" charset="-120"/>
              </a:rPr>
              <a:t>WeDo</a:t>
            </a:r>
            <a:pPr indent="0" marL="0">
              <a:buNone/>
            </a:pPr>
            <a:r>
              <a:rPr lang="en-US" sz="1100" b="1" dirty="0">
                <a:solidFill>
                  <a:srgbClr val="2BCFCF"/>
                </a:solidFill>
                <a:latin typeface="Calibri" pitchFamily="34" charset="0"/>
                <a:ea typeface="Calibri" pitchFamily="34" charset="-122"/>
                <a:cs typeface="Calibri" pitchFamily="34" charset="-120"/>
              </a:rPr>
              <a:t>AI</a:t>
            </a:r>
            <a:endParaRPr lang="en-US" sz="1100" dirty="0"/>
          </a:p>
        </p:txBody>
      </p:sp>
      <p:sp>
        <p:nvSpPr>
          <p:cNvPr id="25" name="Text 23"/>
          <p:cNvSpPr/>
          <p:nvPr/>
        </p:nvSpPr>
        <p:spPr>
          <a:xfrm>
            <a:off x="11064240" y="6446520"/>
            <a:ext cx="640080" cy="274320"/>
          </a:xfrm>
          <a:prstGeom prst="rect">
            <a:avLst/>
          </a:prstGeom>
          <a:noFill/>
          <a:ln/>
        </p:spPr>
        <p:txBody>
          <a:bodyPr wrap="square" lIns="0" tIns="0" rIns="0" bIns="0" rtlCol="0" anchor="ctr"/>
          <a:lstStyle/>
          <a:p>
            <a:pPr algn="r" indent="0" marL="0">
              <a:buNone/>
            </a:pPr>
            <a:r>
              <a:rPr lang="en-US" sz="1000" dirty="0">
                <a:solidFill>
                  <a:srgbClr val="A8B5C2"/>
                </a:solidFill>
                <a:latin typeface="Calibri" pitchFamily="34" charset="0"/>
                <a:ea typeface="Calibri" pitchFamily="34" charset="-122"/>
                <a:cs typeface="Calibri" pitchFamily="34" charset="-120"/>
              </a:rPr>
              <a:t>19 / 21</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2A45"/>
        </a:solidFill>
      </p:bgPr>
    </p:bg>
    <p:spTree>
      <p:nvGrpSpPr>
        <p:cNvPr id="1" name=""/>
        <p:cNvGrpSpPr/>
        <p:nvPr/>
      </p:nvGrpSpPr>
      <p:grpSpPr>
        <a:xfrm>
          <a:off x="0" y="0"/>
          <a:ext cx="0" cy="0"/>
          <a:chOff x="0" y="0"/>
          <a:chExt cx="0" cy="0"/>
        </a:xfrm>
      </p:grpSpPr>
      <p:sp>
        <p:nvSpPr>
          <p:cNvPr id="2" name="Text 0"/>
          <p:cNvSpPr/>
          <p:nvPr/>
        </p:nvSpPr>
        <p:spPr>
          <a:xfrm>
            <a:off x="640080" y="1280160"/>
            <a:ext cx="2743200" cy="914400"/>
          </a:xfrm>
          <a:prstGeom prst="rect">
            <a:avLst/>
          </a:prstGeom>
          <a:noFill/>
          <a:ln/>
        </p:spPr>
        <p:txBody>
          <a:bodyPr wrap="square" lIns="0" tIns="0" rIns="0" bIns="0" rtlCol="0" anchor="ctr"/>
          <a:lstStyle/>
          <a:p>
            <a:pPr algn="l" indent="0" marL="0">
              <a:buNone/>
            </a:pPr>
            <a:r>
              <a:rPr lang="en-US" sz="2800" b="1" spc="200" kern="0" dirty="0">
                <a:solidFill>
                  <a:srgbClr val="A8B5C2"/>
                </a:solidFill>
                <a:latin typeface="Calibri" pitchFamily="34" charset="0"/>
                <a:ea typeface="Calibri" pitchFamily="34" charset="-122"/>
                <a:cs typeface="Calibri" pitchFamily="34" charset="-120"/>
              </a:rPr>
              <a:t>06</a:t>
            </a:r>
            <a:endParaRPr lang="en-US" sz="2800" dirty="0"/>
          </a:p>
        </p:txBody>
      </p:sp>
      <p:sp>
        <p:nvSpPr>
          <p:cNvPr id="3" name="Text 1"/>
          <p:cNvSpPr/>
          <p:nvPr/>
        </p:nvSpPr>
        <p:spPr>
          <a:xfrm>
            <a:off x="640080" y="2286000"/>
            <a:ext cx="10881360" cy="1645920"/>
          </a:xfrm>
          <a:prstGeom prst="rect">
            <a:avLst/>
          </a:prstGeom>
          <a:noFill/>
          <a:ln/>
        </p:spPr>
        <p:txBody>
          <a:bodyPr wrap="square" lIns="0" tIns="0" rIns="0" bIns="0" rtlCol="0" anchor="ctr"/>
          <a:lstStyle/>
          <a:p>
            <a:pPr algn="l" indent="0" marL="0">
              <a:buNone/>
            </a:pPr>
            <a:r>
              <a:rPr lang="en-US" sz="6400" b="1" dirty="0">
                <a:solidFill>
                  <a:srgbClr val="F1F0EE"/>
                </a:solidFill>
                <a:latin typeface="Calibri" pitchFamily="34" charset="0"/>
                <a:ea typeface="Calibri" pitchFamily="34" charset="-122"/>
                <a:cs typeface="Calibri" pitchFamily="34" charset="-120"/>
              </a:rPr>
              <a:t>Where this is </a:t>
            </a:r>
            <a:pPr algn="l" indent="0" marL="0">
              <a:buNone/>
            </a:pPr>
            <a:r>
              <a:rPr lang="en-US" sz="6400" b="1" dirty="0">
                <a:solidFill>
                  <a:srgbClr val="2BCFCF"/>
                </a:solidFill>
                <a:latin typeface="Calibri" pitchFamily="34" charset="0"/>
                <a:ea typeface="Calibri" pitchFamily="34" charset="-122"/>
                <a:cs typeface="Calibri" pitchFamily="34" charset="-120"/>
              </a:rPr>
              <a:t>heading</a:t>
            </a:r>
            <a:pPr algn="l" indent="0" marL="0">
              <a:buNone/>
            </a:pPr>
            <a:r>
              <a:rPr lang="en-US" sz="6400" b="1" dirty="0">
                <a:solidFill>
                  <a:srgbClr val="F1F0EE"/>
                </a:solidFill>
                <a:latin typeface="Calibri" pitchFamily="34" charset="0"/>
                <a:ea typeface="Calibri" pitchFamily="34" charset="-122"/>
                <a:cs typeface="Calibri" pitchFamily="34" charset="-120"/>
              </a:rPr>
              <a:t>.</a:t>
            </a:r>
            <a:endParaRPr lang="en-US" sz="6400" dirty="0"/>
          </a:p>
        </p:txBody>
      </p:sp>
      <p:sp>
        <p:nvSpPr>
          <p:cNvPr id="4" name="Text 2"/>
          <p:cNvSpPr/>
          <p:nvPr/>
        </p:nvSpPr>
        <p:spPr>
          <a:xfrm>
            <a:off x="640080" y="4206240"/>
            <a:ext cx="9418320" cy="1097280"/>
          </a:xfrm>
          <a:prstGeom prst="rect">
            <a:avLst/>
          </a:prstGeom>
          <a:noFill/>
          <a:ln/>
        </p:spPr>
        <p:txBody>
          <a:bodyPr wrap="square" lIns="0" tIns="0" rIns="0" bIns="0" rtlCol="0" anchor="t"/>
          <a:lstStyle/>
          <a:p>
            <a:pPr algn="l" indent="0" marL="0">
              <a:buNone/>
            </a:pPr>
            <a:r>
              <a:rPr lang="en-US" sz="2200" i="1" dirty="0">
                <a:solidFill>
                  <a:srgbClr val="A8B5C2"/>
                </a:solidFill>
                <a:latin typeface="Calibri" pitchFamily="34" charset="0"/>
                <a:ea typeface="Calibri" pitchFamily="34" charset="-122"/>
                <a:cs typeface="Calibri" pitchFamily="34" charset="-120"/>
              </a:rPr>
              <a:t>Three observations. Grounded, not speculative.</a:t>
            </a:r>
            <a:endParaRPr lang="en-US" sz="2200" dirty="0"/>
          </a:p>
        </p:txBody>
      </p:sp>
      <p:sp>
        <p:nvSpPr>
          <p:cNvPr id="5" name="Text 3"/>
          <p:cNvSpPr/>
          <p:nvPr/>
        </p:nvSpPr>
        <p:spPr>
          <a:xfrm>
            <a:off x="10698480" y="6035040"/>
            <a:ext cx="1828800" cy="548640"/>
          </a:xfrm>
          <a:prstGeom prst="rect">
            <a:avLst/>
          </a:prstGeom>
          <a:noFill/>
          <a:ln/>
        </p:spPr>
        <p:txBody>
          <a:bodyPr wrap="square" lIns="0" tIns="0" rIns="0" bIns="0" rtlCol="0" anchor="ctr"/>
          <a:lstStyle/>
          <a:p>
            <a:pPr algn="l" indent="0" marL="0">
              <a:buNone/>
            </a:pPr>
            <a:r>
              <a:rPr lang="en-US" sz="1600" b="1" dirty="0">
                <a:solidFill>
                  <a:srgbClr val="F1F0EE"/>
                </a:solidFill>
                <a:latin typeface="Calibri" pitchFamily="34" charset="0"/>
                <a:ea typeface="Calibri" pitchFamily="34" charset="-122"/>
                <a:cs typeface="Calibri" pitchFamily="34" charset="-120"/>
              </a:rPr>
              <a:t>WeDo</a:t>
            </a:r>
            <a:pPr algn="l" indent="0" marL="0">
              <a:buNone/>
            </a:pPr>
            <a:r>
              <a:rPr lang="en-US" sz="1600" b="1" dirty="0">
                <a:solidFill>
                  <a:srgbClr val="2BCFCF"/>
                </a:solidFill>
                <a:latin typeface="Calibri" pitchFamily="34" charset="0"/>
                <a:ea typeface="Calibri" pitchFamily="34" charset="-122"/>
                <a:cs typeface="Calibri" pitchFamily="34" charset="-120"/>
              </a:rPr>
              <a:t>AI</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2A45"/>
        </a:solidFill>
      </p:bgPr>
    </p:bg>
    <p:spTree>
      <p:nvGrpSpPr>
        <p:cNvPr id="1" name=""/>
        <p:cNvGrpSpPr/>
        <p:nvPr/>
      </p:nvGrpSpPr>
      <p:grpSpPr>
        <a:xfrm>
          <a:off x="0" y="0"/>
          <a:ext cx="0" cy="0"/>
          <a:chOff x="0" y="0"/>
          <a:chExt cx="0" cy="0"/>
        </a:xfrm>
      </p:grpSpPr>
      <p:sp>
        <p:nvSpPr>
          <p:cNvPr id="2" name="Text 0"/>
          <p:cNvSpPr/>
          <p:nvPr/>
        </p:nvSpPr>
        <p:spPr>
          <a:xfrm>
            <a:off x="640080" y="457200"/>
            <a:ext cx="10881360" cy="822960"/>
          </a:xfrm>
          <a:prstGeom prst="rect">
            <a:avLst/>
          </a:prstGeom>
          <a:noFill/>
          <a:ln/>
        </p:spPr>
        <p:txBody>
          <a:bodyPr wrap="square" lIns="0" tIns="0" rIns="0" bIns="0" rtlCol="0" anchor="ctr"/>
          <a:lstStyle/>
          <a:p>
            <a:pPr algn="l" indent="0" marL="0">
              <a:buNone/>
            </a:pPr>
            <a:r>
              <a:rPr lang="en-US" sz="3200" b="1" dirty="0">
                <a:solidFill>
                  <a:srgbClr val="F1F0EE"/>
                </a:solidFill>
                <a:latin typeface="Calibri" pitchFamily="34" charset="0"/>
                <a:ea typeface="Calibri" pitchFamily="34" charset="-122"/>
                <a:cs typeface="Calibri" pitchFamily="34" charset="-120"/>
              </a:rPr>
              <a:t>Three things I think are true.</a:t>
            </a:r>
            <a:endParaRPr lang="en-US" sz="3200" dirty="0"/>
          </a:p>
        </p:txBody>
      </p:sp>
      <p:sp>
        <p:nvSpPr>
          <p:cNvPr id="3" name="Shape 1"/>
          <p:cNvSpPr/>
          <p:nvPr/>
        </p:nvSpPr>
        <p:spPr>
          <a:xfrm>
            <a:off x="640080" y="1463040"/>
            <a:ext cx="3444240" cy="4572000"/>
          </a:xfrm>
          <a:prstGeom prst="rect">
            <a:avLst/>
          </a:prstGeom>
          <a:solidFill>
            <a:srgbClr val="07344F"/>
          </a:solidFill>
          <a:ln w="12700">
            <a:solidFill>
              <a:srgbClr val="07344F"/>
            </a:solidFill>
            <a:prstDash val="solid"/>
          </a:ln>
        </p:spPr>
      </p:sp>
      <p:sp>
        <p:nvSpPr>
          <p:cNvPr id="4" name="Text 2"/>
          <p:cNvSpPr/>
          <p:nvPr/>
        </p:nvSpPr>
        <p:spPr>
          <a:xfrm>
            <a:off x="914400" y="1737360"/>
            <a:ext cx="2895600" cy="457200"/>
          </a:xfrm>
          <a:prstGeom prst="rect">
            <a:avLst/>
          </a:prstGeom>
          <a:noFill/>
          <a:ln/>
        </p:spPr>
        <p:txBody>
          <a:bodyPr wrap="square" lIns="0" tIns="0" rIns="0" bIns="0" rtlCol="0" anchor="ctr"/>
          <a:lstStyle/>
          <a:p>
            <a:pPr indent="0" marL="0">
              <a:buNone/>
            </a:pPr>
            <a:r>
              <a:rPr lang="en-US" sz="2800" b="1" dirty="0">
                <a:solidFill>
                  <a:srgbClr val="2BCFCF"/>
                </a:solidFill>
                <a:latin typeface="Calibri" pitchFamily="34" charset="0"/>
                <a:ea typeface="Calibri" pitchFamily="34" charset="-122"/>
                <a:cs typeface="Calibri" pitchFamily="34" charset="-120"/>
              </a:rPr>
              <a:t>01</a:t>
            </a:r>
            <a:endParaRPr lang="en-US" sz="2800" dirty="0"/>
          </a:p>
        </p:txBody>
      </p:sp>
      <p:sp>
        <p:nvSpPr>
          <p:cNvPr id="5" name="Text 3"/>
          <p:cNvSpPr/>
          <p:nvPr/>
        </p:nvSpPr>
        <p:spPr>
          <a:xfrm>
            <a:off x="914400" y="2240280"/>
            <a:ext cx="2895600" cy="914400"/>
          </a:xfrm>
          <a:prstGeom prst="rect">
            <a:avLst/>
          </a:prstGeom>
          <a:noFill/>
          <a:ln/>
        </p:spPr>
        <p:txBody>
          <a:bodyPr wrap="square" lIns="0" tIns="0" rIns="0" bIns="0" rtlCol="0" anchor="t"/>
          <a:lstStyle/>
          <a:p>
            <a:pPr indent="0" marL="0">
              <a:buNone/>
            </a:pPr>
            <a:r>
              <a:rPr lang="en-US" sz="1500" b="1" dirty="0">
                <a:solidFill>
                  <a:srgbClr val="F1F0EE"/>
                </a:solidFill>
                <a:latin typeface="Calibri" pitchFamily="34" charset="0"/>
                <a:ea typeface="Calibri" pitchFamily="34" charset="-122"/>
                <a:cs typeface="Calibri" pitchFamily="34" charset="-120"/>
              </a:rPr>
              <a:t>Transformative change is real. Readiness decides who benefits.</a:t>
            </a:r>
            <a:endParaRPr lang="en-US" sz="1500" dirty="0"/>
          </a:p>
        </p:txBody>
      </p:sp>
      <p:sp>
        <p:nvSpPr>
          <p:cNvPr id="6" name="Text 4"/>
          <p:cNvSpPr/>
          <p:nvPr/>
        </p:nvSpPr>
        <p:spPr>
          <a:xfrm>
            <a:off x="914400" y="3291840"/>
            <a:ext cx="2895600" cy="2560320"/>
          </a:xfrm>
          <a:prstGeom prst="rect">
            <a:avLst/>
          </a:prstGeom>
          <a:noFill/>
          <a:ln/>
        </p:spPr>
        <p:txBody>
          <a:bodyPr wrap="square" lIns="0" tIns="0" rIns="0" bIns="0" rtlCol="0" anchor="t"/>
          <a:lstStyle/>
          <a:p>
            <a:pPr indent="0" marL="0">
              <a:buNone/>
            </a:pPr>
            <a:r>
              <a:rPr lang="en-US" sz="1200" dirty="0">
                <a:solidFill>
                  <a:srgbClr val="F1F0EE"/>
                </a:solidFill>
                <a:latin typeface="Calibri" pitchFamily="34" charset="0"/>
                <a:ea typeface="Calibri" pitchFamily="34" charset="-122"/>
                <a:cs typeface="Calibri" pitchFamily="34" charset="-120"/>
              </a:rPr>
              <a:t>Organisations with process clarity, data foundations, and educated teams are seeing meaningful returns. Those without are stalling. 79% of organisations report AI adoption challenges. 54% of C-suite say it is tearing the company apart.</a:t>
            </a:r>
            <a:endParaRPr lang="en-US" sz="1200" dirty="0"/>
          </a:p>
        </p:txBody>
      </p:sp>
      <p:sp>
        <p:nvSpPr>
          <p:cNvPr id="7" name="Shape 5"/>
          <p:cNvSpPr/>
          <p:nvPr/>
        </p:nvSpPr>
        <p:spPr>
          <a:xfrm>
            <a:off x="4358640" y="1463040"/>
            <a:ext cx="3444240" cy="4572000"/>
          </a:xfrm>
          <a:prstGeom prst="rect">
            <a:avLst/>
          </a:prstGeom>
          <a:solidFill>
            <a:srgbClr val="07344F"/>
          </a:solidFill>
          <a:ln w="12700">
            <a:solidFill>
              <a:srgbClr val="07344F"/>
            </a:solidFill>
            <a:prstDash val="solid"/>
          </a:ln>
        </p:spPr>
      </p:sp>
      <p:sp>
        <p:nvSpPr>
          <p:cNvPr id="8" name="Text 6"/>
          <p:cNvSpPr/>
          <p:nvPr/>
        </p:nvSpPr>
        <p:spPr>
          <a:xfrm>
            <a:off x="4632960" y="1737360"/>
            <a:ext cx="2895600" cy="457200"/>
          </a:xfrm>
          <a:prstGeom prst="rect">
            <a:avLst/>
          </a:prstGeom>
          <a:noFill/>
          <a:ln/>
        </p:spPr>
        <p:txBody>
          <a:bodyPr wrap="square" lIns="0" tIns="0" rIns="0" bIns="0" rtlCol="0" anchor="ctr"/>
          <a:lstStyle/>
          <a:p>
            <a:pPr indent="0" marL="0">
              <a:buNone/>
            </a:pPr>
            <a:r>
              <a:rPr lang="en-US" sz="2800" b="1" dirty="0">
                <a:solidFill>
                  <a:srgbClr val="2BCFCF"/>
                </a:solidFill>
                <a:latin typeface="Calibri" pitchFamily="34" charset="0"/>
                <a:ea typeface="Calibri" pitchFamily="34" charset="-122"/>
                <a:cs typeface="Calibri" pitchFamily="34" charset="-120"/>
              </a:rPr>
              <a:t>02</a:t>
            </a:r>
            <a:endParaRPr lang="en-US" sz="2800" dirty="0"/>
          </a:p>
        </p:txBody>
      </p:sp>
      <p:sp>
        <p:nvSpPr>
          <p:cNvPr id="9" name="Text 7"/>
          <p:cNvSpPr/>
          <p:nvPr/>
        </p:nvSpPr>
        <p:spPr>
          <a:xfrm>
            <a:off x="4632960" y="2240280"/>
            <a:ext cx="2895600" cy="914400"/>
          </a:xfrm>
          <a:prstGeom prst="rect">
            <a:avLst/>
          </a:prstGeom>
          <a:noFill/>
          <a:ln/>
        </p:spPr>
        <p:txBody>
          <a:bodyPr wrap="square" lIns="0" tIns="0" rIns="0" bIns="0" rtlCol="0" anchor="t"/>
          <a:lstStyle/>
          <a:p>
            <a:pPr indent="0" marL="0">
              <a:buNone/>
            </a:pPr>
            <a:r>
              <a:rPr lang="en-US" sz="1500" b="1" dirty="0">
                <a:solidFill>
                  <a:srgbClr val="F1F0EE"/>
                </a:solidFill>
                <a:latin typeface="Calibri" pitchFamily="34" charset="0"/>
                <a:ea typeface="Calibri" pitchFamily="34" charset="-122"/>
                <a:cs typeface="Calibri" pitchFamily="34" charset="-120"/>
              </a:rPr>
              <a:t>Workforce disruption is happening. Quieter offices are not.</a:t>
            </a:r>
            <a:endParaRPr lang="en-US" sz="1500" dirty="0"/>
          </a:p>
        </p:txBody>
      </p:sp>
      <p:sp>
        <p:nvSpPr>
          <p:cNvPr id="10" name="Text 8"/>
          <p:cNvSpPr/>
          <p:nvPr/>
        </p:nvSpPr>
        <p:spPr>
          <a:xfrm>
            <a:off x="4632960" y="3291840"/>
            <a:ext cx="2895600" cy="2560320"/>
          </a:xfrm>
          <a:prstGeom prst="rect">
            <a:avLst/>
          </a:prstGeom>
          <a:noFill/>
          <a:ln/>
        </p:spPr>
        <p:txBody>
          <a:bodyPr wrap="square" lIns="0" tIns="0" rIns="0" bIns="0" rtlCol="0" anchor="t"/>
          <a:lstStyle/>
          <a:p>
            <a:pPr indent="0" marL="0">
              <a:buNone/>
            </a:pPr>
            <a:r>
              <a:rPr lang="en-US" sz="1200" dirty="0">
                <a:solidFill>
                  <a:srgbClr val="F1F0EE"/>
                </a:solidFill>
                <a:latin typeface="Calibri" pitchFamily="34" charset="0"/>
                <a:ea typeface="Calibri" pitchFamily="34" charset="-122"/>
                <a:cs typeface="Calibri" pitchFamily="34" charset="-120"/>
              </a:rPr>
              <a:t>Employees using AI are individually more productive, taking on broader scope, working faster, extending hours. AI does not reduce work. It intensifies it. The leadership question is whether that intensity creates value or burns the team out.</a:t>
            </a:r>
            <a:endParaRPr lang="en-US" sz="1200" dirty="0"/>
          </a:p>
        </p:txBody>
      </p:sp>
      <p:sp>
        <p:nvSpPr>
          <p:cNvPr id="11" name="Shape 9"/>
          <p:cNvSpPr/>
          <p:nvPr/>
        </p:nvSpPr>
        <p:spPr>
          <a:xfrm>
            <a:off x="8077200" y="1463040"/>
            <a:ext cx="3444240" cy="4572000"/>
          </a:xfrm>
          <a:prstGeom prst="rect">
            <a:avLst/>
          </a:prstGeom>
          <a:solidFill>
            <a:srgbClr val="07344F"/>
          </a:solidFill>
          <a:ln w="12700">
            <a:solidFill>
              <a:srgbClr val="07344F"/>
            </a:solidFill>
            <a:prstDash val="solid"/>
          </a:ln>
        </p:spPr>
      </p:sp>
      <p:sp>
        <p:nvSpPr>
          <p:cNvPr id="12" name="Text 10"/>
          <p:cNvSpPr/>
          <p:nvPr/>
        </p:nvSpPr>
        <p:spPr>
          <a:xfrm>
            <a:off x="8351520" y="1737360"/>
            <a:ext cx="2895600" cy="457200"/>
          </a:xfrm>
          <a:prstGeom prst="rect">
            <a:avLst/>
          </a:prstGeom>
          <a:noFill/>
          <a:ln/>
        </p:spPr>
        <p:txBody>
          <a:bodyPr wrap="square" lIns="0" tIns="0" rIns="0" bIns="0" rtlCol="0" anchor="ctr"/>
          <a:lstStyle/>
          <a:p>
            <a:pPr indent="0" marL="0">
              <a:buNone/>
            </a:pPr>
            <a:r>
              <a:rPr lang="en-US" sz="2800" b="1" dirty="0">
                <a:solidFill>
                  <a:srgbClr val="2BCFCF"/>
                </a:solidFill>
                <a:latin typeface="Calibri" pitchFamily="34" charset="0"/>
                <a:ea typeface="Calibri" pitchFamily="34" charset="-122"/>
                <a:cs typeface="Calibri" pitchFamily="34" charset="-120"/>
              </a:rPr>
              <a:t>03</a:t>
            </a:r>
            <a:endParaRPr lang="en-US" sz="2800" dirty="0"/>
          </a:p>
        </p:txBody>
      </p:sp>
      <p:sp>
        <p:nvSpPr>
          <p:cNvPr id="13" name="Text 11"/>
          <p:cNvSpPr/>
          <p:nvPr/>
        </p:nvSpPr>
        <p:spPr>
          <a:xfrm>
            <a:off x="8351520" y="2240280"/>
            <a:ext cx="2895600" cy="914400"/>
          </a:xfrm>
          <a:prstGeom prst="rect">
            <a:avLst/>
          </a:prstGeom>
          <a:noFill/>
          <a:ln/>
        </p:spPr>
        <p:txBody>
          <a:bodyPr wrap="square" lIns="0" tIns="0" rIns="0" bIns="0" rtlCol="0" anchor="t"/>
          <a:lstStyle/>
          <a:p>
            <a:pPr indent="0" marL="0">
              <a:buNone/>
            </a:pPr>
            <a:r>
              <a:rPr lang="en-US" sz="1500" b="1" dirty="0">
                <a:solidFill>
                  <a:srgbClr val="F1F0EE"/>
                </a:solidFill>
                <a:latin typeface="Calibri" pitchFamily="34" charset="0"/>
                <a:ea typeface="Calibri" pitchFamily="34" charset="-122"/>
                <a:cs typeface="Calibri" pitchFamily="34" charset="-120"/>
              </a:rPr>
              <a:t>The skills gap, not the technology, is the constraint.</a:t>
            </a:r>
            <a:endParaRPr lang="en-US" sz="1500" dirty="0"/>
          </a:p>
        </p:txBody>
      </p:sp>
      <p:sp>
        <p:nvSpPr>
          <p:cNvPr id="14" name="Text 12"/>
          <p:cNvSpPr/>
          <p:nvPr/>
        </p:nvSpPr>
        <p:spPr>
          <a:xfrm>
            <a:off x="8351520" y="3291840"/>
            <a:ext cx="2895600" cy="2560320"/>
          </a:xfrm>
          <a:prstGeom prst="rect">
            <a:avLst/>
          </a:prstGeom>
          <a:noFill/>
          <a:ln/>
        </p:spPr>
        <p:txBody>
          <a:bodyPr wrap="square" lIns="0" tIns="0" rIns="0" bIns="0" rtlCol="0" anchor="t"/>
          <a:lstStyle/>
          <a:p>
            <a:pPr indent="0" marL="0">
              <a:buNone/>
            </a:pPr>
            <a:r>
              <a:rPr lang="en-US" sz="1200" dirty="0">
                <a:solidFill>
                  <a:srgbClr val="F1F0EE"/>
                </a:solidFill>
                <a:latin typeface="Calibri" pitchFamily="34" charset="0"/>
                <a:ea typeface="Calibri" pitchFamily="34" charset="-122"/>
                <a:cs typeface="Calibri" pitchFamily="34" charset="-120"/>
              </a:rPr>
              <a:t>60% of AI projects without AI-ready data are abandoned. The biggest barrier to integration is workforce capability. Continuous education, not a one-off training programme, is the differentiator that separates the 20% capturing 74% of the value from everyone else.</a:t>
            </a:r>
            <a:endParaRPr lang="en-US" sz="1200" dirty="0"/>
          </a:p>
        </p:txBody>
      </p:sp>
      <p:sp>
        <p:nvSpPr>
          <p:cNvPr id="15" name="Text 13"/>
          <p:cNvSpPr/>
          <p:nvPr/>
        </p:nvSpPr>
        <p:spPr>
          <a:xfrm>
            <a:off x="640080" y="6217920"/>
            <a:ext cx="10881360" cy="365760"/>
          </a:xfrm>
          <a:prstGeom prst="rect">
            <a:avLst/>
          </a:prstGeom>
          <a:noFill/>
          <a:ln/>
        </p:spPr>
        <p:txBody>
          <a:bodyPr wrap="square" lIns="0" tIns="0" rIns="0" bIns="0" rtlCol="0" anchor="ctr"/>
          <a:lstStyle/>
          <a:p>
            <a:pPr algn="ctr" indent="0" marL="0">
              <a:buNone/>
            </a:pPr>
            <a:r>
              <a:rPr lang="en-US" sz="1400" i="1" dirty="0">
                <a:solidFill>
                  <a:srgbClr val="2BCFCF"/>
                </a:solidFill>
                <a:latin typeface="Calibri" pitchFamily="34" charset="0"/>
                <a:ea typeface="Calibri" pitchFamily="34" charset="-122"/>
                <a:cs typeface="Calibri" pitchFamily="34" charset="-120"/>
              </a:rPr>
              <a:t>The winners in 2026 are treating AI as organisational redesign, not an IT project.</a:t>
            </a:r>
            <a:endParaRPr lang="en-US" sz="1400" dirty="0"/>
          </a:p>
        </p:txBody>
      </p:sp>
      <p:sp>
        <p:nvSpPr>
          <p:cNvPr id="16" name="Text 14"/>
          <p:cNvSpPr/>
          <p:nvPr/>
        </p:nvSpPr>
        <p:spPr>
          <a:xfrm>
            <a:off x="457200" y="6446520"/>
            <a:ext cx="1097280" cy="274320"/>
          </a:xfrm>
          <a:prstGeom prst="rect">
            <a:avLst/>
          </a:prstGeom>
          <a:noFill/>
          <a:ln/>
        </p:spPr>
        <p:txBody>
          <a:bodyPr wrap="square" lIns="0" tIns="0" rIns="0" bIns="0" rtlCol="0" anchor="ctr"/>
          <a:lstStyle/>
          <a:p>
            <a:pPr indent="0" marL="0">
              <a:buNone/>
            </a:pPr>
            <a:r>
              <a:rPr lang="en-US" sz="1100" b="1" dirty="0">
                <a:solidFill>
                  <a:srgbClr val="F1F0EE"/>
                </a:solidFill>
                <a:latin typeface="Calibri" pitchFamily="34" charset="0"/>
                <a:ea typeface="Calibri" pitchFamily="34" charset="-122"/>
                <a:cs typeface="Calibri" pitchFamily="34" charset="-120"/>
              </a:rPr>
              <a:t>WeDo</a:t>
            </a:r>
            <a:pPr indent="0" marL="0">
              <a:buNone/>
            </a:pPr>
            <a:r>
              <a:rPr lang="en-US" sz="1100" b="1" dirty="0">
                <a:solidFill>
                  <a:srgbClr val="2BCFCF"/>
                </a:solidFill>
                <a:latin typeface="Calibri" pitchFamily="34" charset="0"/>
                <a:ea typeface="Calibri" pitchFamily="34" charset="-122"/>
                <a:cs typeface="Calibri" pitchFamily="34" charset="-120"/>
              </a:rPr>
              <a:t>AI</a:t>
            </a:r>
            <a:endParaRPr lang="en-US" sz="1100" dirty="0"/>
          </a:p>
        </p:txBody>
      </p:sp>
      <p:sp>
        <p:nvSpPr>
          <p:cNvPr id="17" name="Text 15"/>
          <p:cNvSpPr/>
          <p:nvPr/>
        </p:nvSpPr>
        <p:spPr>
          <a:xfrm>
            <a:off x="11064240" y="6446520"/>
            <a:ext cx="640080" cy="274320"/>
          </a:xfrm>
          <a:prstGeom prst="rect">
            <a:avLst/>
          </a:prstGeom>
          <a:noFill/>
          <a:ln/>
        </p:spPr>
        <p:txBody>
          <a:bodyPr wrap="square" lIns="0" tIns="0" rIns="0" bIns="0" rtlCol="0" anchor="ctr"/>
          <a:lstStyle/>
          <a:p>
            <a:pPr algn="r" indent="0" marL="0">
              <a:buNone/>
            </a:pPr>
            <a:r>
              <a:rPr lang="en-US" sz="1000" dirty="0">
                <a:solidFill>
                  <a:srgbClr val="A8B5C2"/>
                </a:solidFill>
                <a:latin typeface="Calibri" pitchFamily="34" charset="0"/>
                <a:ea typeface="Calibri" pitchFamily="34" charset="-122"/>
                <a:cs typeface="Calibri" pitchFamily="34" charset="-120"/>
              </a:rPr>
              <a:t>21 / 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2A45"/>
        </a:solidFill>
      </p:bgPr>
    </p:bg>
    <p:spTree>
      <p:nvGrpSpPr>
        <p:cNvPr id="1" name=""/>
        <p:cNvGrpSpPr/>
        <p:nvPr/>
      </p:nvGrpSpPr>
      <p:grpSpPr>
        <a:xfrm>
          <a:off x="0" y="0"/>
          <a:ext cx="0" cy="0"/>
          <a:chOff x="0" y="0"/>
          <a:chExt cx="0" cy="0"/>
        </a:xfrm>
      </p:grpSpPr>
      <p:sp>
        <p:nvSpPr>
          <p:cNvPr id="2" name="Text 0"/>
          <p:cNvSpPr/>
          <p:nvPr/>
        </p:nvSpPr>
        <p:spPr>
          <a:xfrm>
            <a:off x="0" y="2194560"/>
            <a:ext cx="12161520" cy="1097280"/>
          </a:xfrm>
          <a:prstGeom prst="rect">
            <a:avLst/>
          </a:prstGeom>
          <a:noFill/>
          <a:ln/>
        </p:spPr>
        <p:txBody>
          <a:bodyPr wrap="square" lIns="0" tIns="0" rIns="0" bIns="0" rtlCol="0" anchor="ctr"/>
          <a:lstStyle/>
          <a:p>
            <a:pPr algn="ctr" indent="0" marL="0">
              <a:buNone/>
            </a:pPr>
            <a:r>
              <a:rPr lang="en-US" sz="8800" b="1" dirty="0">
                <a:solidFill>
                  <a:srgbClr val="F1F0EE"/>
                </a:solidFill>
                <a:latin typeface="Calibri" pitchFamily="34" charset="0"/>
                <a:ea typeface="Calibri" pitchFamily="34" charset="-122"/>
                <a:cs typeface="Calibri" pitchFamily="34" charset="-120"/>
              </a:rPr>
              <a:t>WeDo</a:t>
            </a:r>
            <a:pPr algn="ctr" indent="0" marL="0">
              <a:buNone/>
            </a:pPr>
            <a:r>
              <a:rPr lang="en-US" sz="8800" b="1" dirty="0">
                <a:solidFill>
                  <a:srgbClr val="2BCFCF"/>
                </a:solidFill>
                <a:latin typeface="Calibri" pitchFamily="34" charset="0"/>
                <a:ea typeface="Calibri" pitchFamily="34" charset="-122"/>
                <a:cs typeface="Calibri" pitchFamily="34" charset="-120"/>
              </a:rPr>
              <a:t>AI</a:t>
            </a:r>
            <a:endParaRPr lang="en-US" sz="8800" dirty="0"/>
          </a:p>
        </p:txBody>
      </p:sp>
      <p:sp>
        <p:nvSpPr>
          <p:cNvPr id="3" name="Text 1"/>
          <p:cNvSpPr/>
          <p:nvPr/>
        </p:nvSpPr>
        <p:spPr>
          <a:xfrm>
            <a:off x="0" y="3566160"/>
            <a:ext cx="12161520" cy="548640"/>
          </a:xfrm>
          <a:prstGeom prst="rect">
            <a:avLst/>
          </a:prstGeom>
          <a:noFill/>
          <a:ln/>
        </p:spPr>
        <p:txBody>
          <a:bodyPr wrap="square" lIns="0" tIns="0" rIns="0" bIns="0" rtlCol="0" anchor="ctr"/>
          <a:lstStyle/>
          <a:p>
            <a:pPr algn="ctr" indent="0" marL="0">
              <a:buNone/>
            </a:pPr>
            <a:r>
              <a:rPr lang="en-US" sz="2800" b="1" dirty="0">
                <a:solidFill>
                  <a:srgbClr val="F1F0EE"/>
                </a:solidFill>
                <a:latin typeface="Calibri" pitchFamily="34" charset="0"/>
                <a:ea typeface="Calibri" pitchFamily="34" charset="-122"/>
                <a:cs typeface="Calibri" pitchFamily="34" charset="-120"/>
              </a:rPr>
              <a:t>Tim Barnes</a:t>
            </a:r>
            <a:endParaRPr lang="en-US" sz="2800" dirty="0"/>
          </a:p>
        </p:txBody>
      </p:sp>
      <p:sp>
        <p:nvSpPr>
          <p:cNvPr id="4" name="Text 2"/>
          <p:cNvSpPr/>
          <p:nvPr/>
        </p:nvSpPr>
        <p:spPr>
          <a:xfrm>
            <a:off x="0" y="4114800"/>
            <a:ext cx="12161520" cy="457200"/>
          </a:xfrm>
          <a:prstGeom prst="rect">
            <a:avLst/>
          </a:prstGeom>
          <a:noFill/>
          <a:ln/>
        </p:spPr>
        <p:txBody>
          <a:bodyPr wrap="square" lIns="0" tIns="0" rIns="0" bIns="0" rtlCol="0" anchor="ctr"/>
          <a:lstStyle/>
          <a:p>
            <a:pPr algn="ctr" indent="0" marL="0">
              <a:buNone/>
            </a:pPr>
            <a:r>
              <a:rPr lang="en-US" sz="1800" dirty="0">
                <a:solidFill>
                  <a:srgbClr val="A8B5C2"/>
                </a:solidFill>
                <a:latin typeface="Calibri" pitchFamily="34" charset="0"/>
                <a:ea typeface="Calibri" pitchFamily="34" charset="-122"/>
                <a:cs typeface="Calibri" pitchFamily="34" charset="-120"/>
              </a:rPr>
              <a:t>AI and Automation Expert</a:t>
            </a:r>
            <a:endParaRPr lang="en-US" sz="1800" dirty="0"/>
          </a:p>
        </p:txBody>
      </p:sp>
      <p:sp>
        <p:nvSpPr>
          <p:cNvPr id="5" name="Text 3"/>
          <p:cNvSpPr/>
          <p:nvPr/>
        </p:nvSpPr>
        <p:spPr>
          <a:xfrm>
            <a:off x="0" y="4754880"/>
            <a:ext cx="12161520" cy="365760"/>
          </a:xfrm>
          <a:prstGeom prst="rect">
            <a:avLst/>
          </a:prstGeom>
          <a:noFill/>
          <a:ln/>
        </p:spPr>
        <p:txBody>
          <a:bodyPr wrap="square" lIns="0" tIns="0" rIns="0" bIns="0" rtlCol="0" anchor="ctr"/>
          <a:lstStyle/>
          <a:p>
            <a:pPr algn="ctr" indent="0" marL="0">
              <a:buNone/>
            </a:pPr>
            <a:r>
              <a:rPr lang="en-US" sz="1600" dirty="0">
                <a:solidFill>
                  <a:srgbClr val="2BCFCF"/>
                </a:solidFill>
                <a:latin typeface="Calibri" pitchFamily="34" charset="0"/>
                <a:ea typeface="Calibri" pitchFamily="34" charset="-122"/>
                <a:cs typeface="Calibri" pitchFamily="34" charset="-120"/>
              </a:rPr>
              <a:t>wedoai.com.au</a:t>
            </a:r>
            <a:endParaRPr lang="en-US" sz="1600" dirty="0"/>
          </a:p>
        </p:txBody>
      </p:sp>
      <p:sp>
        <p:nvSpPr>
          <p:cNvPr id="6" name="Text 4"/>
          <p:cNvSpPr/>
          <p:nvPr/>
        </p:nvSpPr>
        <p:spPr>
          <a:xfrm>
            <a:off x="0" y="5669280"/>
            <a:ext cx="12161520" cy="457200"/>
          </a:xfrm>
          <a:prstGeom prst="rect">
            <a:avLst/>
          </a:prstGeom>
          <a:noFill/>
          <a:ln/>
        </p:spPr>
        <p:txBody>
          <a:bodyPr wrap="square" lIns="0" tIns="0" rIns="0" bIns="0" rtlCol="0" anchor="ctr"/>
          <a:lstStyle/>
          <a:p>
            <a:pPr algn="ctr" indent="0" marL="0">
              <a:buNone/>
            </a:pPr>
            <a:r>
              <a:rPr lang="en-US" sz="2200" i="1" dirty="0">
                <a:solidFill>
                  <a:srgbClr val="F1F0EE"/>
                </a:solidFill>
                <a:latin typeface="Calibri" pitchFamily="34" charset="0"/>
                <a:ea typeface="Calibri" pitchFamily="34" charset="-122"/>
                <a:cs typeface="Calibri" pitchFamily="34" charset="-120"/>
              </a:rPr>
              <a:t>Questions.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March of AI</dc:title>
  <dc:subject>PptxGenJS Presentation</dc:subject>
  <dc:creator>Tim Barnes</dc:creator>
  <cp:lastModifiedBy>Tim Barnes</cp:lastModifiedBy>
  <cp:revision>1</cp:revision>
  <dcterms:created xsi:type="dcterms:W3CDTF">2026-05-05T06:36:30Z</dcterms:created>
  <dcterms:modified xsi:type="dcterms:W3CDTF">2026-05-05T06:36:30Z</dcterms:modified>
</cp:coreProperties>
</file>